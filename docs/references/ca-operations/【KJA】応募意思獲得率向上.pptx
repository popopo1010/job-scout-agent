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3" r:id="rId1"/>
  </p:sldMasterIdLst>
  <p:notesMasterIdLst>
    <p:notesMasterId r:id="rId7"/>
  </p:notesMasterIdLst>
  <p:sldIdLst>
    <p:sldId id="549" r:id="rId2"/>
    <p:sldId id="757" r:id="rId3"/>
    <p:sldId id="758" r:id="rId4"/>
    <p:sldId id="771" r:id="rId5"/>
    <p:sldId id="770" r:id="rId6"/>
  </p:sldIdLst>
  <p:sldSz cx="9144000" cy="6858000" type="screen4x3"/>
  <p:notesSz cx="6735763" cy="9866313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2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FABE00"/>
    <a:srgbClr val="FFC000"/>
    <a:srgbClr val="FFCDCD"/>
    <a:srgbClr val="0099FF"/>
    <a:srgbClr val="FFEBD6"/>
    <a:srgbClr val="FFB3B3"/>
    <a:srgbClr val="FF0066"/>
    <a:srgbClr val="FFFFCC"/>
    <a:srgbClr val="66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84E427A-3D55-4303-BF80-6455036E1DE7}" styleName="テーマ スタイル 1 - アクセント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テーマ スタイル 1 - アクセント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テーマ スタイル 1 - アクセント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テーマ スタイル 1 - アクセント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淡色スタイル 2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44" autoAdjust="0"/>
    <p:restoredTop sz="84874" autoAdjust="0"/>
  </p:normalViewPr>
  <p:slideViewPr>
    <p:cSldViewPr>
      <p:cViewPr varScale="1">
        <p:scale>
          <a:sx n="63" d="100"/>
          <a:sy n="63" d="100"/>
        </p:scale>
        <p:origin x="1554" y="66"/>
      </p:cViewPr>
      <p:guideLst>
        <p:guide orient="horz" pos="392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154"/>
          </a:xfrm>
          <a:prstGeom prst="rect">
            <a:avLst/>
          </a:prstGeom>
        </p:spPr>
        <p:txBody>
          <a:bodyPr vert="horz" lIns="94531" tIns="47266" rIns="94531" bIns="47266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154"/>
          </a:xfrm>
          <a:prstGeom prst="rect">
            <a:avLst/>
          </a:prstGeom>
        </p:spPr>
        <p:txBody>
          <a:bodyPr vert="horz" lIns="94531" tIns="47266" rIns="94531" bIns="47266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123856F-B87F-4B7F-94CA-0650F0B127AF}" type="datetimeFigureOut">
              <a:rPr lang="ja-JP" altLang="en-US"/>
              <a:pPr>
                <a:defRPr/>
              </a:pPr>
              <a:t>2016/12/1</a:t>
            </a:fld>
            <a:endParaRPr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531" tIns="47266" rIns="94531" bIns="47266" rtlCol="0" anchor="ctr"/>
          <a:lstStyle/>
          <a:p>
            <a:pPr lvl="0"/>
            <a:endParaRPr lang="ja-JP" altLang="en-US" noProof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73577" y="4685771"/>
            <a:ext cx="5388610" cy="4440003"/>
          </a:xfrm>
          <a:prstGeom prst="rect">
            <a:avLst/>
          </a:prstGeom>
        </p:spPr>
        <p:txBody>
          <a:bodyPr vert="horz" wrap="square" lIns="94531" tIns="47266" rIns="94531" bIns="47266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ja-JP" altLang="en-US" noProof="0" smtClean="0"/>
              <a:t>マスタ テキストの書式設定</a:t>
            </a:r>
          </a:p>
          <a:p>
            <a:pPr lvl="1"/>
            <a:r>
              <a:rPr lang="ja-JP" altLang="en-US" noProof="0" smtClean="0"/>
              <a:t>第 </a:t>
            </a:r>
            <a:r>
              <a:rPr lang="en-US" altLang="ja-JP" noProof="0" smtClean="0"/>
              <a:t>2 </a:t>
            </a:r>
            <a:r>
              <a:rPr lang="ja-JP" altLang="en-US" noProof="0" smtClean="0"/>
              <a:t>レベル</a:t>
            </a:r>
          </a:p>
          <a:p>
            <a:pPr lvl="2"/>
            <a:r>
              <a:rPr lang="ja-JP" altLang="en-US" noProof="0" smtClean="0"/>
              <a:t>第 </a:t>
            </a:r>
            <a:r>
              <a:rPr lang="en-US" altLang="ja-JP" noProof="0" smtClean="0"/>
              <a:t>3 </a:t>
            </a:r>
            <a:r>
              <a:rPr lang="ja-JP" altLang="en-US" noProof="0" smtClean="0"/>
              <a:t>レベル</a:t>
            </a:r>
          </a:p>
          <a:p>
            <a:pPr lvl="3"/>
            <a:r>
              <a:rPr lang="ja-JP" altLang="en-US" noProof="0" smtClean="0"/>
              <a:t>第 </a:t>
            </a:r>
            <a:r>
              <a:rPr lang="en-US" altLang="ja-JP" noProof="0" smtClean="0"/>
              <a:t>4 </a:t>
            </a:r>
            <a:r>
              <a:rPr lang="ja-JP" altLang="en-US" noProof="0" smtClean="0"/>
              <a:t>レベル</a:t>
            </a:r>
          </a:p>
          <a:p>
            <a:pPr lvl="4"/>
            <a:r>
              <a:rPr lang="ja-JP" altLang="en-US" noProof="0" smtClean="0"/>
              <a:t>第 </a:t>
            </a:r>
            <a:r>
              <a:rPr lang="en-US" altLang="ja-JP" noProof="0" smtClean="0"/>
              <a:t>5 </a:t>
            </a:r>
            <a:r>
              <a:rPr lang="ja-JP" altLang="en-US" noProof="0" smtClean="0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371542"/>
            <a:ext cx="2918831" cy="493154"/>
          </a:xfrm>
          <a:prstGeom prst="rect">
            <a:avLst/>
          </a:prstGeom>
        </p:spPr>
        <p:txBody>
          <a:bodyPr vert="horz" lIns="94531" tIns="47266" rIns="94531" bIns="47266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15373" y="9371542"/>
            <a:ext cx="2918831" cy="493154"/>
          </a:xfrm>
          <a:prstGeom prst="rect">
            <a:avLst/>
          </a:prstGeom>
        </p:spPr>
        <p:txBody>
          <a:bodyPr vert="horz" lIns="94531" tIns="47266" rIns="94531" bIns="47266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FD9718D7-26C2-46CA-AE4B-B3D3EFF5AEF0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8556830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ＭＳ Ｐ明朝" pitchFamily="18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ＭＳ Ｐ明朝" pitchFamily="1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ＭＳ Ｐ明朝" pitchFamily="1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ＭＳ Ｐ明朝" pitchFamily="1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ＭＳ Ｐ明朝" pitchFamily="18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9718D7-26C2-46CA-AE4B-B3D3EFF5AEF0}" type="slidenum">
              <a:rPr lang="ja-JP" altLang="en-US" smtClean="0"/>
              <a:pPr>
                <a:defRPr/>
              </a:pPr>
              <a:t>0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8625362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9718D7-26C2-46CA-AE4B-B3D3EFF5AEF0}" type="slidenum">
              <a:rPr lang="ja-JP" altLang="en-US" smtClean="0"/>
              <a:pPr>
                <a:defRPr/>
              </a:pPr>
              <a:t>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43467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9"/>
          <p:cNvSpPr txBox="1">
            <a:spLocks noChangeArrowheads="1"/>
          </p:cNvSpPr>
          <p:nvPr userDrawn="1"/>
        </p:nvSpPr>
        <p:spPr bwMode="auto">
          <a:xfrm>
            <a:off x="-7938" y="6613525"/>
            <a:ext cx="1555751" cy="228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ja-JP" sz="900" b="1">
                <a:solidFill>
                  <a:schemeClr val="bg1"/>
                </a:solidFill>
                <a:latin typeface="Times New Roman" pitchFamily="18" charset="0"/>
                <a:ea typeface="MS UI Gothic" pitchFamily="50" charset="-128"/>
              </a:rPr>
              <a:t>© Copyright SMS CO.,LTD</a:t>
            </a:r>
          </a:p>
        </p:txBody>
      </p:sp>
      <p:sp>
        <p:nvSpPr>
          <p:cNvPr id="5" name="AutoShape 11"/>
          <p:cNvSpPr>
            <a:spLocks noChangeArrowheads="1"/>
          </p:cNvSpPr>
          <p:nvPr userDrawn="1"/>
        </p:nvSpPr>
        <p:spPr bwMode="auto">
          <a:xfrm>
            <a:off x="1090613" y="3630613"/>
            <a:ext cx="6962775" cy="69850"/>
          </a:xfrm>
          <a:prstGeom prst="parallelogram">
            <a:avLst>
              <a:gd name="adj" fmla="val 16429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>
              <a:defRPr/>
            </a:pPr>
            <a:endParaRPr lang="ja-JP" altLang="en-US" b="1">
              <a:latin typeface="Times New Roman" pitchFamily="18" charset="0"/>
              <a:ea typeface="MS UI Gothic" pitchFamily="50" charset="-128"/>
            </a:endParaRPr>
          </a:p>
        </p:txBody>
      </p:sp>
      <p:pic>
        <p:nvPicPr>
          <p:cNvPr id="6" name="Picture 1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32588" y="5940425"/>
            <a:ext cx="2232025" cy="8016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4301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smtClean="0"/>
            </a:lvl1pPr>
          </a:lstStyle>
          <a:p>
            <a:r>
              <a:rPr lang="ja-JP" altLang="en-US" smtClean="0"/>
              <a:t>マスタ タイトルの書式設定</a:t>
            </a:r>
          </a:p>
        </p:txBody>
      </p:sp>
      <p:sp>
        <p:nvSpPr>
          <p:cNvPr id="4301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ja-JP" altLang="en-US" smtClean="0"/>
              <a:t>マスタ サブタイトルの書式設定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fld id="{7ADA7B59-92B8-4087-9365-FFDE209DB7DB}" type="datetime1">
              <a:rPr lang="ja-JP" altLang="en-US" smtClean="0"/>
              <a:t>2016/12/1</a:t>
            </a:fld>
            <a:endParaRPr lang="en-US" altLang="ja-JP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 algn="r">
              <a:defRPr sz="1400" b="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fld id="{5F0906A8-25A9-49A6-B6D6-5DD62359DB4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358D3E-06FC-4271-AB54-CFC43BECB77A}" type="datetime1">
              <a:rPr lang="ja-JP" altLang="en-US" smtClean="0"/>
              <a:t>2016/12/1</a:t>
            </a:fld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B43332-2B92-4FB4-A4DB-0FC787D21F88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E903BA-153D-4855-982E-3BF43060DBE7}" type="datetime1">
              <a:rPr lang="ja-JP" altLang="en-US" smtClean="0"/>
              <a:t>2016/12/1</a:t>
            </a:fld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A528D0-116A-4348-B36B-D43247FE08CA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44C740-3C18-4129-A7C8-68C151110D99}" type="datetime1">
              <a:rPr lang="ja-JP" altLang="en-US" smtClean="0"/>
              <a:t>2016/12/1</a:t>
            </a:fld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C03BE2-C3E7-48CC-8DB8-F4CBD0843D68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250825" y="692150"/>
            <a:ext cx="4027488" cy="865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430713" y="692150"/>
            <a:ext cx="4027487" cy="865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185B49-5129-43AB-9348-67CF0E3E25F6}" type="datetime1">
              <a:rPr lang="ja-JP" altLang="en-US" smtClean="0"/>
              <a:t>2016/12/1</a:t>
            </a:fld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DEEFA5-E805-4FE3-9BEB-0B6662D20084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2658C3-65F9-4C66-83BC-5F60E2F84B07}" type="datetime1">
              <a:rPr lang="ja-JP" altLang="en-US" smtClean="0"/>
              <a:t>2016/12/1</a:t>
            </a:fld>
            <a:endParaRPr lang="en-US" altLang="ja-JP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EF0B98-7A25-4DD1-A673-EA288ED40F51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E863FD-CF0E-4765-8E88-186F1A535F9F}" type="datetime1">
              <a:rPr lang="ja-JP" altLang="en-US" smtClean="0"/>
              <a:t>2016/12/1</a:t>
            </a:fld>
            <a:endParaRPr lang="en-US" altLang="ja-JP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668F57-BF7C-4E69-A195-D158E5AD99B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5D14E3-F436-4FE3-8AAE-8DFABF15231F}" type="datetime1">
              <a:rPr lang="ja-JP" altLang="en-US" smtClean="0"/>
              <a:t>2016/12/1</a:t>
            </a:fld>
            <a:endParaRPr lang="en-US" altLang="ja-JP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4FF9E1-DB3F-4879-AF29-C8F1ED8C070A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8A3680-B736-4741-99C5-6C9010B9E290}" type="datetime1">
              <a:rPr lang="ja-JP" altLang="en-US" smtClean="0"/>
              <a:t>2016/12/1</a:t>
            </a:fld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D2CCC9-0A80-4CFE-94B7-204989344176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86FC6F-D2B5-4040-8995-39B8C30CBD94}" type="datetime1">
              <a:rPr lang="ja-JP" altLang="en-US" smtClean="0"/>
              <a:t>2016/12/1</a:t>
            </a:fld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A2C6AB-54AE-401B-8579-26E8E4DB8B4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EC223F-62CD-4248-BB65-5338339C60D2}" type="datetime1">
              <a:rPr lang="ja-JP" altLang="en-US" smtClean="0"/>
              <a:t>2016/12/1</a:t>
            </a:fld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FAB7B6-3857-46C2-B08F-06D5CC87949C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407150" y="122238"/>
            <a:ext cx="2051050" cy="1435100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250825" y="122238"/>
            <a:ext cx="6003925" cy="1435100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19A5E7-93AC-4344-A927-ACAEA0DCCA2B}" type="datetime1">
              <a:rPr lang="ja-JP" altLang="en-US" smtClean="0"/>
              <a:t>2016/12/1</a:t>
            </a:fld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BA5BB2-1529-4A12-909A-08E8CDFA8596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27378" y="188913"/>
            <a:ext cx="971550" cy="3476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5" name="Line 13"/>
          <p:cNvSpPr>
            <a:spLocks noChangeShapeType="1"/>
          </p:cNvSpPr>
          <p:nvPr userDrawn="1"/>
        </p:nvSpPr>
        <p:spPr bwMode="auto">
          <a:xfrm>
            <a:off x="0" y="642938"/>
            <a:ext cx="9144000" cy="0"/>
          </a:xfrm>
          <a:prstGeom prst="line">
            <a:avLst/>
          </a:prstGeom>
          <a:noFill/>
          <a:ln w="19050">
            <a:solidFill>
              <a:srgbClr val="FF9900"/>
            </a:solidFill>
            <a:round/>
            <a:headEnd/>
            <a:tailEnd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ja-JP" altLang="en-US" sz="1800" dirty="0">
              <a:latin typeface="+mn-lt"/>
              <a:ea typeface="+mn-ea"/>
            </a:endParaRPr>
          </a:p>
        </p:txBody>
      </p:sp>
      <p:sp>
        <p:nvSpPr>
          <p:cNvPr id="6" name="Rectangle 24"/>
          <p:cNvSpPr>
            <a:spLocks noChangeArrowheads="1"/>
          </p:cNvSpPr>
          <p:nvPr userDrawn="1"/>
        </p:nvSpPr>
        <p:spPr bwMode="auto">
          <a:xfrm>
            <a:off x="213947" y="704850"/>
            <a:ext cx="8644304" cy="7239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92043" tIns="46022" rIns="92043" bIns="46022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altLang="ja-JP" sz="1800" dirty="0">
              <a:solidFill>
                <a:srgbClr val="000000"/>
              </a:solidFill>
              <a:latin typeface="HGPｺﾞｼｯｸE" pitchFamily="50" charset="-128"/>
              <a:ea typeface="HGPｺﾞｼｯｸE" pitchFamily="50" charset="-128"/>
            </a:endParaRPr>
          </a:p>
        </p:txBody>
      </p:sp>
      <p:sp>
        <p:nvSpPr>
          <p:cNvPr id="26" name="コンテンツ プレースホルダ 2"/>
          <p:cNvSpPr>
            <a:spLocks noGrp="1"/>
          </p:cNvSpPr>
          <p:nvPr>
            <p:ph idx="1"/>
          </p:nvPr>
        </p:nvSpPr>
        <p:spPr>
          <a:xfrm>
            <a:off x="285721" y="785797"/>
            <a:ext cx="8501122" cy="5129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endParaRPr lang="ja-JP" altLang="en-US" dirty="0"/>
          </a:p>
        </p:txBody>
      </p:sp>
      <p:sp>
        <p:nvSpPr>
          <p:cNvPr id="27" name="コンテンツ プレースホルダ 2"/>
          <p:cNvSpPr>
            <a:spLocks noGrp="1"/>
          </p:cNvSpPr>
          <p:nvPr>
            <p:ph idx="11"/>
          </p:nvPr>
        </p:nvSpPr>
        <p:spPr>
          <a:xfrm>
            <a:off x="285720" y="214290"/>
            <a:ext cx="7686700" cy="428628"/>
          </a:xfrm>
          <a:prstGeom prst="rect">
            <a:avLst/>
          </a:prstGeom>
        </p:spPr>
        <p:txBody>
          <a:bodyPr/>
          <a:lstStyle>
            <a:lvl1pPr>
              <a:buNone/>
              <a:defRPr sz="1600" b="1"/>
            </a:lvl1pPr>
          </a:lstStyle>
          <a:p>
            <a:pPr lvl="0"/>
            <a:endParaRPr lang="ja-JP" altLang="en-US" dirty="0"/>
          </a:p>
        </p:txBody>
      </p:sp>
      <p:sp>
        <p:nvSpPr>
          <p:cNvPr id="7" name="スライド番号プレースホルダ 9"/>
          <p:cNvSpPr>
            <a:spLocks noGrp="1"/>
          </p:cNvSpPr>
          <p:nvPr>
            <p:ph type="sldNum" sz="quarter" idx="12"/>
          </p:nvPr>
        </p:nvSpPr>
        <p:spPr>
          <a:xfrm>
            <a:off x="8430359" y="6434139"/>
            <a:ext cx="700454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C858DB-6EDD-43F4-A7F5-85AD9C7E8578}" type="slidenum">
              <a:rPr lang="ja-JP" altLang="en-US"/>
              <a:pPr>
                <a:defRPr/>
              </a:pPr>
              <a:t>‹#›</a:t>
            </a:fld>
            <a:endParaRPr lang="ja-JP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6597650"/>
            <a:ext cx="9144000" cy="2603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>
              <a:defRPr/>
            </a:pPr>
            <a:endParaRPr lang="ja-JP" altLang="en-US" b="1">
              <a:latin typeface="Times New Roman" pitchFamily="18" charset="0"/>
              <a:ea typeface="MS UI Gothic" pitchFamily="50" charset="-128"/>
            </a:endParaRP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0825" y="122238"/>
            <a:ext cx="77724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0825" y="692150"/>
            <a:ext cx="8207375" cy="865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1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fld id="{D7D43E53-31A2-458E-AD7F-D6D5F009FB2E}" type="datetime1">
              <a:rPr lang="ja-JP" altLang="en-US" smtClean="0"/>
              <a:t>2016/12/1</a:t>
            </a:fld>
            <a:endParaRPr lang="en-US" altLang="ja-JP"/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81750"/>
            <a:ext cx="28956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65938" y="6418263"/>
            <a:ext cx="2133600" cy="43973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fld id="{522E0D87-52AF-44CF-832E-8E99B69B4BA2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  <p:pic>
        <p:nvPicPr>
          <p:cNvPr id="1032" name="Picture 11"/>
          <p:cNvPicPr>
            <a:picLocks noChangeAspect="1" noChangeArrowheads="1"/>
          </p:cNvPicPr>
          <p:nvPr userDrawn="1"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8027988" y="188913"/>
            <a:ext cx="971550" cy="3476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1037" name="Line 13"/>
          <p:cNvSpPr>
            <a:spLocks noChangeShapeType="1"/>
          </p:cNvSpPr>
          <p:nvPr userDrawn="1"/>
        </p:nvSpPr>
        <p:spPr bwMode="auto">
          <a:xfrm>
            <a:off x="0" y="642938"/>
            <a:ext cx="9144000" cy="0"/>
          </a:xfrm>
          <a:prstGeom prst="line">
            <a:avLst/>
          </a:prstGeom>
          <a:noFill/>
          <a:ln w="19050">
            <a:solidFill>
              <a:srgbClr val="FF99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ja-JP" altLang="en-US" sz="2400" b="1">
              <a:latin typeface="Times New Roman" pitchFamily="18" charset="0"/>
              <a:ea typeface="MS UI Gothic" pitchFamily="50" charset="-128"/>
            </a:endParaRPr>
          </a:p>
        </p:txBody>
      </p:sp>
      <p:sp>
        <p:nvSpPr>
          <p:cNvPr id="1033" name="Text Box 9"/>
          <p:cNvSpPr txBox="1">
            <a:spLocks noChangeArrowheads="1"/>
          </p:cNvSpPr>
          <p:nvPr userDrawn="1"/>
        </p:nvSpPr>
        <p:spPr bwMode="auto">
          <a:xfrm>
            <a:off x="-7938" y="6613525"/>
            <a:ext cx="1555751" cy="228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ja-JP" sz="900" b="1">
                <a:solidFill>
                  <a:schemeClr val="bg1"/>
                </a:solidFill>
                <a:latin typeface="Times New Roman" pitchFamily="18" charset="0"/>
                <a:ea typeface="MS UI Gothic" pitchFamily="50" charset="-128"/>
              </a:rPr>
              <a:t>© Copyright SMS CO.,LTD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5" r:id="rId2"/>
    <p:sldLayoutId id="2147483674" r:id="rId3"/>
    <p:sldLayoutId id="2147483673" r:id="rId4"/>
    <p:sldLayoutId id="2147483672" r:id="rId5"/>
    <p:sldLayoutId id="2147483671" r:id="rId6"/>
    <p:sldLayoutId id="2147483670" r:id="rId7"/>
    <p:sldLayoutId id="2147483669" r:id="rId8"/>
    <p:sldLayoutId id="2147483668" r:id="rId9"/>
    <p:sldLayoutId id="2147483667" r:id="rId10"/>
    <p:sldLayoutId id="2147483666" r:id="rId11"/>
    <p:sldLayoutId id="2147483665" r:id="rId12"/>
    <p:sldLayoutId id="2147483677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ＭＳ Ｐゴシック" charset="-128"/>
          <a:ea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ＭＳ Ｐゴシック" charset="-128"/>
          <a:ea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ＭＳ Ｐゴシック" charset="-128"/>
          <a:ea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ＭＳ Ｐゴシック" charset="-128"/>
          <a:ea typeface="ＭＳ Ｐゴシック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ＭＳ Ｐゴシック" charset="-128"/>
          <a:ea typeface="ＭＳ Ｐゴシック" charset="-128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ＭＳ Ｐゴシック" charset="-128"/>
          <a:ea typeface="ＭＳ Ｐゴシック" charset="-128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ＭＳ Ｐゴシック" charset="-128"/>
          <a:ea typeface="ＭＳ Ｐゴシック" charset="-128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chemeClr val="bg2"/>
          </a:solidFill>
          <a:latin typeface="ＭＳ Ｐゴシック" charset="-128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ü"/>
        <a:defRPr kumimoji="1" sz="20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>
          <a:solidFill>
            <a:schemeClr val="bg2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bg2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1400">
          <a:solidFill>
            <a:schemeClr val="bg2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bg2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bg2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bg2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bg2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ctrTitle"/>
          </p:nvPr>
        </p:nvSpPr>
        <p:spPr>
          <a:xfrm>
            <a:off x="0" y="1484784"/>
            <a:ext cx="9144000" cy="1470025"/>
          </a:xfrm>
        </p:spPr>
        <p:txBody>
          <a:bodyPr/>
          <a:lstStyle/>
          <a:p>
            <a:pPr algn="ctr"/>
            <a:r>
              <a:rPr kumimoji="1" lang="ja-JP" altLang="en-US" sz="4000" dirty="0" smtClean="0">
                <a:solidFill>
                  <a:schemeClr val="tx1"/>
                </a:solidFill>
                <a:latin typeface="+mn-lt"/>
                <a:ea typeface="Meiryo UI" panose="020B0604030504040204" pitchFamily="50" charset="-128"/>
                <a:cs typeface="Meiryo UI" panose="020B0604030504040204" pitchFamily="50" charset="-128"/>
              </a:rPr>
              <a:t>応募意志獲得率向上推進</a:t>
            </a:r>
            <a:endParaRPr kumimoji="1" lang="ja-JP" altLang="en-US" sz="4000" dirty="0">
              <a:solidFill>
                <a:schemeClr val="tx1"/>
              </a:solidFill>
              <a:latin typeface="+mn-lt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3" name="タイトル 4"/>
          <p:cNvSpPr txBox="1">
            <a:spLocks/>
          </p:cNvSpPr>
          <p:nvPr/>
        </p:nvSpPr>
        <p:spPr bwMode="auto">
          <a:xfrm>
            <a:off x="0" y="2954809"/>
            <a:ext cx="9144000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 smtClean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ＭＳ Ｐゴシック" charset="-128"/>
                <a:ea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ＭＳ Ｐゴシック" charset="-128"/>
                <a:ea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ＭＳ Ｐゴシック" charset="-128"/>
                <a:ea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ＭＳ Ｐゴシック" charset="-128"/>
                <a:ea typeface="ＭＳ Ｐゴシック" charset="-128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ＭＳ Ｐゴシック" charset="-128"/>
                <a:ea typeface="ＭＳ Ｐゴシック" charset="-128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ＭＳ Ｐゴシック" charset="-128"/>
                <a:ea typeface="ＭＳ Ｐゴシック" charset="-128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ＭＳ Ｐゴシック" charset="-128"/>
                <a:ea typeface="ＭＳ Ｐゴシック" charset="-128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2"/>
                </a:solidFill>
                <a:latin typeface="ＭＳ Ｐゴシック" charset="-128"/>
                <a:ea typeface="ＭＳ Ｐゴシック" charset="-128"/>
              </a:defRPr>
            </a:lvl9pPr>
          </a:lstStyle>
          <a:p>
            <a:pPr algn="ctr"/>
            <a:r>
              <a:rPr lang="ja-JP" altLang="en-US" sz="2000" kern="0" dirty="0" smtClean="0">
                <a:solidFill>
                  <a:schemeClr val="tx1"/>
                </a:solidFill>
                <a:latin typeface="+mn-lt"/>
                <a:ea typeface="Meiryo UI" panose="020B0604030504040204" pitchFamily="50" charset="-128"/>
                <a:cs typeface="Meiryo UI" panose="020B0604030504040204" pitchFamily="50" charset="-128"/>
              </a:rPr>
              <a:t>尾崎のもがき編</a:t>
            </a:r>
            <a:endParaRPr lang="ja-JP" altLang="en-US" sz="2000" kern="0" dirty="0">
              <a:solidFill>
                <a:schemeClr val="tx1"/>
              </a:solidFill>
              <a:latin typeface="+mn-lt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6"/>
    </mc:Choice>
    <mc:Fallback xmlns="">
      <p:transition spd="slow" advTm="746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C858DB-6EDD-43F4-A7F5-85AD9C7E8578}" type="slidenum">
              <a:rPr lang="ja-JP" altLang="en-US" smtClean="0"/>
              <a:pPr>
                <a:defRPr/>
              </a:pPr>
              <a:t>1</a:t>
            </a:fld>
            <a:endParaRPr lang="ja-JP" altLang="en-US" dirty="0"/>
          </a:p>
        </p:txBody>
      </p:sp>
      <p:sp>
        <p:nvSpPr>
          <p:cNvPr id="7" name="タイトル 1"/>
          <p:cNvSpPr txBox="1">
            <a:spLocks noGrp="1"/>
          </p:cNvSpPr>
          <p:nvPr>
            <p:ph idx="11"/>
          </p:nvPr>
        </p:nvSpPr>
        <p:spPr>
          <a:xfrm>
            <a:off x="251520" y="116632"/>
            <a:ext cx="7686700" cy="428628"/>
          </a:xfrm>
          <a:prstGeom prst="rect">
            <a:avLst/>
          </a:prstGeom>
        </p:spPr>
        <p:txBody>
          <a:bodyPr/>
          <a:lstStyle/>
          <a:p>
            <a:pPr marL="0" lvl="0" indent="0">
              <a:spcBef>
                <a:spcPct val="0"/>
              </a:spcBef>
              <a:defRPr/>
            </a:pPr>
            <a:r>
              <a:rPr lang="ja-JP" altLang="en-US" sz="28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応募意思</a:t>
            </a:r>
            <a:r>
              <a:rPr lang="ja-JP" altLang="en-US" sz="28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獲得率向上における大事なこと</a:t>
            </a:r>
            <a:endParaRPr kumimoji="1" lang="ja-JP" altLang="en-US" sz="28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2" name="コンテンツ プレースホルダー 2"/>
          <p:cNvSpPr txBox="1">
            <a:spLocks/>
          </p:cNvSpPr>
          <p:nvPr/>
        </p:nvSpPr>
        <p:spPr bwMode="auto">
          <a:xfrm>
            <a:off x="509023" y="764704"/>
            <a:ext cx="7890807" cy="55974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kumimoji="1" sz="18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>
                <a:solidFill>
                  <a:schemeClr val="bg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600">
                <a:solidFill>
                  <a:schemeClr val="bg2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1400">
                <a:solidFill>
                  <a:schemeClr val="bg2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2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2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2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2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2"/>
                </a:solidFill>
                <a:latin typeface="+mn-lt"/>
                <a:ea typeface="+mn-ea"/>
              </a:defRPr>
            </a:lvl9pPr>
          </a:lstStyle>
          <a:p>
            <a:r>
              <a:rPr lang="en-US" altLang="ja-JP" sz="2000" b="1" kern="0" dirty="0" smtClean="0">
                <a:solidFill>
                  <a:schemeClr val="tx1"/>
                </a:solidFill>
              </a:rPr>
              <a:t>【</a:t>
            </a:r>
            <a:r>
              <a:rPr lang="ja-JP" altLang="en-US" sz="2000" b="1" kern="0" dirty="0" smtClean="0">
                <a:solidFill>
                  <a:schemeClr val="tx1"/>
                </a:solidFill>
              </a:rPr>
              <a:t>★大事なこと★</a:t>
            </a:r>
            <a:r>
              <a:rPr lang="en-US" altLang="ja-JP" sz="2000" b="1" kern="0" dirty="0" smtClean="0">
                <a:solidFill>
                  <a:schemeClr val="tx1"/>
                </a:solidFill>
              </a:rPr>
              <a:t>】</a:t>
            </a:r>
            <a:endParaRPr lang="en-US" altLang="ja-JP" sz="2000" b="1" kern="0" dirty="0">
              <a:solidFill>
                <a:schemeClr val="tx1"/>
              </a:solidFill>
            </a:endParaRPr>
          </a:p>
          <a:p>
            <a:r>
              <a:rPr lang="ja-JP" altLang="en-US" sz="1600" b="1" kern="0" dirty="0" smtClean="0">
                <a:solidFill>
                  <a:schemeClr val="tx1"/>
                </a:solidFill>
              </a:rPr>
              <a:t>　①</a:t>
            </a:r>
            <a:r>
              <a:rPr lang="ja-JP" altLang="en-US" sz="1600" b="1" kern="0" dirty="0" smtClean="0">
                <a:solidFill>
                  <a:srgbClr val="FF0000"/>
                </a:solidFill>
              </a:rPr>
              <a:t>前提をきちんと伝える</a:t>
            </a:r>
            <a:r>
              <a:rPr lang="ja-JP" altLang="en-US" sz="1600" b="1" kern="0" dirty="0" smtClean="0">
                <a:solidFill>
                  <a:schemeClr val="tx1"/>
                </a:solidFill>
              </a:rPr>
              <a:t>。</a:t>
            </a:r>
            <a:endParaRPr lang="en-US" altLang="ja-JP" sz="1600" b="1" kern="0" dirty="0">
              <a:solidFill>
                <a:schemeClr val="tx1"/>
              </a:solidFill>
            </a:endParaRPr>
          </a:p>
          <a:p>
            <a:r>
              <a:rPr lang="ja-JP" altLang="en-US" sz="1600" b="1" kern="0" dirty="0" smtClean="0">
                <a:solidFill>
                  <a:schemeClr val="tx1"/>
                </a:solidFill>
              </a:rPr>
              <a:t>　②応募意思を獲得した後、次に求職者に連絡するときは、「面接日が○月○日の○時～</a:t>
            </a:r>
            <a:endParaRPr lang="en-US" altLang="ja-JP" sz="1600" b="1" kern="0" dirty="0" smtClean="0">
              <a:solidFill>
                <a:schemeClr val="tx1"/>
              </a:solidFill>
            </a:endParaRPr>
          </a:p>
          <a:p>
            <a:r>
              <a:rPr lang="ja-JP" altLang="en-US" sz="1600" b="1" kern="0" dirty="0">
                <a:solidFill>
                  <a:schemeClr val="tx1"/>
                </a:solidFill>
              </a:rPr>
              <a:t>　</a:t>
            </a:r>
            <a:r>
              <a:rPr lang="ja-JP" altLang="en-US" sz="1600" b="1" kern="0" dirty="0" smtClean="0">
                <a:solidFill>
                  <a:schemeClr val="tx1"/>
                </a:solidFill>
              </a:rPr>
              <a:t>　になりましたので、よろしく！」となるところまで話を進める。</a:t>
            </a:r>
            <a:endParaRPr lang="en-US" altLang="ja-JP" sz="1600" b="1" kern="0" dirty="0" smtClean="0">
              <a:solidFill>
                <a:schemeClr val="tx1"/>
              </a:solidFill>
            </a:endParaRPr>
          </a:p>
          <a:p>
            <a:r>
              <a:rPr lang="ja-JP" altLang="en-US" sz="1600" b="1" kern="0" dirty="0">
                <a:solidFill>
                  <a:schemeClr val="tx1"/>
                </a:solidFill>
              </a:rPr>
              <a:t>　</a:t>
            </a:r>
            <a:r>
              <a:rPr lang="ja-JP" altLang="en-US" sz="1600" b="1" kern="0" dirty="0" smtClean="0">
                <a:solidFill>
                  <a:schemeClr val="tx1"/>
                </a:solidFill>
              </a:rPr>
              <a:t>③全てにおいて理由を説明する。</a:t>
            </a:r>
            <a:endParaRPr lang="en-US" altLang="ja-JP" sz="1600" b="1" kern="0" dirty="0" smtClean="0">
              <a:solidFill>
                <a:schemeClr val="tx1"/>
              </a:solidFill>
            </a:endParaRPr>
          </a:p>
          <a:p>
            <a:r>
              <a:rPr lang="ja-JP" altLang="en-US" sz="1600" b="1" kern="0" dirty="0">
                <a:solidFill>
                  <a:schemeClr val="tx1"/>
                </a:solidFill>
              </a:rPr>
              <a:t>　</a:t>
            </a:r>
            <a:r>
              <a:rPr lang="ja-JP" altLang="en-US" sz="1600" b="1" kern="0" dirty="0" smtClean="0">
                <a:solidFill>
                  <a:schemeClr val="tx1"/>
                </a:solidFill>
              </a:rPr>
              <a:t>④クロージングで疑問系は使わない！</a:t>
            </a:r>
            <a:endParaRPr lang="en-US" altLang="ja-JP" sz="1600" b="1" kern="0" dirty="0" smtClean="0">
              <a:solidFill>
                <a:schemeClr val="tx1"/>
              </a:solidFill>
            </a:endParaRPr>
          </a:p>
          <a:p>
            <a:r>
              <a:rPr lang="ja-JP" altLang="en-US" sz="1600" b="1" kern="0" dirty="0">
                <a:solidFill>
                  <a:schemeClr val="tx1"/>
                </a:solidFill>
              </a:rPr>
              <a:t>　</a:t>
            </a:r>
            <a:r>
              <a:rPr lang="ja-JP" altLang="en-US" sz="1600" b="1" kern="0" dirty="0" smtClean="0">
                <a:solidFill>
                  <a:schemeClr val="tx1"/>
                </a:solidFill>
              </a:rPr>
              <a:t>⑤</a:t>
            </a:r>
            <a:r>
              <a:rPr lang="ja-JP" altLang="en-US" sz="1600" b="1" kern="0" dirty="0" smtClean="0">
                <a:solidFill>
                  <a:srgbClr val="FF0000"/>
                </a:solidFill>
              </a:rPr>
              <a:t>情報</a:t>
            </a:r>
            <a:r>
              <a:rPr lang="ja-JP" altLang="en-US" sz="1600" b="1" kern="0" dirty="0">
                <a:solidFill>
                  <a:srgbClr val="FF0000"/>
                </a:solidFill>
              </a:rPr>
              <a:t>を与え過ぎない</a:t>
            </a:r>
            <a:r>
              <a:rPr lang="ja-JP" altLang="en-US" sz="1600" b="1" kern="0" dirty="0" smtClean="0">
                <a:solidFill>
                  <a:schemeClr val="tx1"/>
                </a:solidFill>
              </a:rPr>
              <a:t>（与え過ぎると、求職者が内定</a:t>
            </a:r>
            <a:r>
              <a:rPr lang="ja-JP" altLang="en-US" sz="1600" b="1" kern="0" dirty="0">
                <a:solidFill>
                  <a:schemeClr val="tx1"/>
                </a:solidFill>
              </a:rPr>
              <a:t>をもらった気に</a:t>
            </a:r>
            <a:r>
              <a:rPr lang="ja-JP" altLang="en-US" sz="1600" b="1" kern="0" dirty="0" smtClean="0">
                <a:solidFill>
                  <a:schemeClr val="tx1"/>
                </a:solidFill>
              </a:rPr>
              <a:t>なる）</a:t>
            </a:r>
            <a:endParaRPr lang="en-US" altLang="ja-JP" sz="1600" b="1" kern="0" dirty="0" smtClean="0">
              <a:solidFill>
                <a:schemeClr val="tx1"/>
              </a:solidFill>
            </a:endParaRPr>
          </a:p>
          <a:p>
            <a:r>
              <a:rPr lang="ja-JP" altLang="en-US" sz="1600" b="1" kern="0" dirty="0">
                <a:solidFill>
                  <a:schemeClr val="tx1"/>
                </a:solidFill>
              </a:rPr>
              <a:t>　</a:t>
            </a:r>
            <a:r>
              <a:rPr lang="ja-JP" altLang="en-US" sz="1600" b="1" kern="0" dirty="0" smtClean="0">
                <a:solidFill>
                  <a:schemeClr val="tx1"/>
                </a:solidFill>
              </a:rPr>
              <a:t>⑥当日</a:t>
            </a:r>
            <a:r>
              <a:rPr lang="en-US" altLang="ja-JP" sz="1600" b="1" kern="0" dirty="0" smtClean="0">
                <a:solidFill>
                  <a:schemeClr val="tx1"/>
                </a:solidFill>
              </a:rPr>
              <a:t>or</a:t>
            </a:r>
            <a:r>
              <a:rPr lang="ja-JP" altLang="en-US" sz="1600" b="1" kern="0" dirty="0" smtClean="0">
                <a:solidFill>
                  <a:schemeClr val="tx1"/>
                </a:solidFill>
              </a:rPr>
              <a:t>翌日提案</a:t>
            </a:r>
            <a:endParaRPr lang="en-US" altLang="ja-JP" sz="1600" b="1" kern="0" dirty="0" smtClean="0">
              <a:solidFill>
                <a:schemeClr val="tx1"/>
              </a:solidFill>
            </a:endParaRPr>
          </a:p>
          <a:p>
            <a:endParaRPr lang="en-US" altLang="ja-JP" sz="1600" b="1" kern="0" dirty="0" smtClean="0">
              <a:solidFill>
                <a:schemeClr val="tx1"/>
              </a:solidFill>
            </a:endParaRPr>
          </a:p>
          <a:p>
            <a:r>
              <a:rPr lang="en-US" altLang="ja-JP" sz="2000" b="1" kern="0" dirty="0" smtClean="0">
                <a:solidFill>
                  <a:schemeClr val="tx1"/>
                </a:solidFill>
              </a:rPr>
              <a:t>【</a:t>
            </a:r>
            <a:r>
              <a:rPr lang="ja-JP" altLang="en-US" sz="2000" b="1" kern="0" dirty="0" smtClean="0">
                <a:solidFill>
                  <a:schemeClr val="tx1"/>
                </a:solidFill>
              </a:rPr>
              <a:t>テクニック集</a:t>
            </a:r>
            <a:r>
              <a:rPr lang="en-US" altLang="ja-JP" sz="2000" b="1" kern="0" dirty="0" smtClean="0">
                <a:solidFill>
                  <a:schemeClr val="tx1"/>
                </a:solidFill>
              </a:rPr>
              <a:t>】</a:t>
            </a:r>
          </a:p>
          <a:p>
            <a:r>
              <a:rPr lang="ja-JP" altLang="en-US" sz="2000" b="1" kern="0" dirty="0">
                <a:solidFill>
                  <a:schemeClr val="tx1"/>
                </a:solidFill>
              </a:rPr>
              <a:t>　</a:t>
            </a:r>
            <a:r>
              <a:rPr lang="ja-JP" altLang="en-US" sz="2000" b="1" kern="0" dirty="0" smtClean="0">
                <a:solidFill>
                  <a:srgbClr val="FF0000"/>
                </a:solidFill>
              </a:rPr>
              <a:t>大前提：求職者のために！</a:t>
            </a:r>
            <a:endParaRPr lang="en-US" altLang="ja-JP" sz="2000" b="1" kern="0" dirty="0" smtClean="0">
              <a:solidFill>
                <a:srgbClr val="FF0000"/>
              </a:solidFill>
            </a:endParaRPr>
          </a:p>
          <a:p>
            <a:r>
              <a:rPr lang="ja-JP" altLang="en-US" sz="1600" b="1" kern="0" dirty="0" smtClean="0">
                <a:solidFill>
                  <a:schemeClr val="tx1"/>
                </a:solidFill>
              </a:rPr>
              <a:t>　・前提の張り替え</a:t>
            </a:r>
            <a:endParaRPr lang="en-US" altLang="ja-JP" sz="1600" b="1" kern="0" dirty="0" smtClean="0">
              <a:solidFill>
                <a:schemeClr val="tx1"/>
              </a:solidFill>
            </a:endParaRPr>
          </a:p>
          <a:p>
            <a:r>
              <a:rPr lang="ja-JP" altLang="en-US" sz="1600" b="1" kern="0" dirty="0" smtClean="0">
                <a:solidFill>
                  <a:schemeClr val="tx1"/>
                </a:solidFill>
              </a:rPr>
              <a:t>　　⇒「面接に行</a:t>
            </a:r>
            <a:r>
              <a:rPr lang="ja-JP" altLang="en-US" sz="1600" b="1" kern="0" dirty="0">
                <a:solidFill>
                  <a:schemeClr val="tx1"/>
                </a:solidFill>
              </a:rPr>
              <a:t>く</a:t>
            </a:r>
            <a:r>
              <a:rPr lang="ja-JP" altLang="en-US" sz="1600" b="1" kern="0" dirty="0" smtClean="0">
                <a:solidFill>
                  <a:schemeClr val="tx1"/>
                </a:solidFill>
              </a:rPr>
              <a:t>」という前提を創る。</a:t>
            </a:r>
            <a:endParaRPr lang="en-US" altLang="ja-JP" sz="1600" b="1" kern="0" dirty="0">
              <a:solidFill>
                <a:schemeClr val="tx1"/>
              </a:solidFill>
            </a:endParaRPr>
          </a:p>
          <a:p>
            <a:r>
              <a:rPr lang="ja-JP" altLang="en-US" sz="1600" b="1" kern="0" dirty="0" smtClean="0">
                <a:solidFill>
                  <a:schemeClr val="tx1"/>
                </a:solidFill>
              </a:rPr>
              <a:t>　・イエスセット（小さなイエスを最低３回とって、大きなイエスを獲る！）</a:t>
            </a:r>
            <a:endParaRPr lang="en-US" altLang="ja-JP" sz="1600" b="1" kern="0" dirty="0" smtClean="0">
              <a:solidFill>
                <a:schemeClr val="tx1"/>
              </a:solidFill>
            </a:endParaRPr>
          </a:p>
          <a:p>
            <a:r>
              <a:rPr lang="ja-JP" altLang="en-US" sz="1600" b="1" kern="0" dirty="0" smtClean="0">
                <a:solidFill>
                  <a:schemeClr val="tx1"/>
                </a:solidFill>
              </a:rPr>
              <a:t>　　⇒「面接に行きます！」という大きなイエスを獲るために、小さなイエスを積み重ねる。</a:t>
            </a:r>
            <a:endParaRPr lang="en-US" altLang="ja-JP" sz="1600" b="1" kern="0" dirty="0" smtClean="0">
              <a:solidFill>
                <a:schemeClr val="tx1"/>
              </a:solidFill>
            </a:endParaRPr>
          </a:p>
          <a:p>
            <a:r>
              <a:rPr lang="ja-JP" altLang="en-US" sz="1600" b="1" kern="0" dirty="0" smtClean="0">
                <a:solidFill>
                  <a:schemeClr val="tx1"/>
                </a:solidFill>
              </a:rPr>
              <a:t>　・お伺いを立てない</a:t>
            </a:r>
            <a:endParaRPr lang="en-US" altLang="ja-JP" sz="1600" b="1" kern="0" dirty="0" smtClean="0">
              <a:solidFill>
                <a:schemeClr val="tx1"/>
              </a:solidFill>
            </a:endParaRPr>
          </a:p>
          <a:p>
            <a:r>
              <a:rPr lang="ja-JP" altLang="en-US" sz="1600" b="1" kern="0" dirty="0" smtClean="0">
                <a:solidFill>
                  <a:schemeClr val="tx1"/>
                </a:solidFill>
              </a:rPr>
              <a:t>　</a:t>
            </a:r>
            <a:r>
              <a:rPr lang="ja-JP" altLang="en-US" sz="1600" b="1" kern="0" dirty="0">
                <a:solidFill>
                  <a:schemeClr val="tx1"/>
                </a:solidFill>
              </a:rPr>
              <a:t>　</a:t>
            </a:r>
            <a:r>
              <a:rPr lang="ja-JP" altLang="en-US" sz="1600" b="1" kern="0" dirty="0" smtClean="0">
                <a:solidFill>
                  <a:schemeClr val="tx1"/>
                </a:solidFill>
              </a:rPr>
              <a:t>⇒求人提案時は、疑問系は０！全てこちらが先導します。</a:t>
            </a:r>
            <a:endParaRPr lang="en-US" altLang="ja-JP" sz="1600" b="1" kern="0" dirty="0" smtClean="0">
              <a:solidFill>
                <a:schemeClr val="tx1"/>
              </a:solidFill>
            </a:endParaRPr>
          </a:p>
          <a:p>
            <a:r>
              <a:rPr lang="ja-JP" altLang="en-US" sz="1600" b="1" kern="0" dirty="0">
                <a:solidFill>
                  <a:schemeClr val="tx1"/>
                </a:solidFill>
              </a:rPr>
              <a:t>　</a:t>
            </a:r>
            <a:r>
              <a:rPr lang="ja-JP" altLang="en-US" sz="1600" b="1" kern="0" dirty="0" smtClean="0">
                <a:solidFill>
                  <a:schemeClr val="tx1"/>
                </a:solidFill>
              </a:rPr>
              <a:t>　　　（自分で判断できる人が多いわけではない）</a:t>
            </a:r>
            <a:endParaRPr lang="en-US" altLang="ja-JP" sz="1600" b="1" kern="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6741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C858DB-6EDD-43F4-A7F5-85AD9C7E8578}" type="slidenum">
              <a:rPr lang="ja-JP" altLang="en-US" smtClean="0"/>
              <a:pPr>
                <a:defRPr/>
              </a:pPr>
              <a:t>2</a:t>
            </a:fld>
            <a:endParaRPr lang="ja-JP" altLang="en-US" dirty="0"/>
          </a:p>
        </p:txBody>
      </p:sp>
      <p:sp>
        <p:nvSpPr>
          <p:cNvPr id="7" name="タイトル 1"/>
          <p:cNvSpPr txBox="1">
            <a:spLocks noGrp="1"/>
          </p:cNvSpPr>
          <p:nvPr>
            <p:ph idx="11"/>
          </p:nvPr>
        </p:nvSpPr>
        <p:spPr>
          <a:xfrm>
            <a:off x="251520" y="116632"/>
            <a:ext cx="7686700" cy="428628"/>
          </a:xfrm>
          <a:prstGeom prst="rect">
            <a:avLst/>
          </a:prstGeom>
        </p:spPr>
        <p:txBody>
          <a:bodyPr/>
          <a:lstStyle/>
          <a:p>
            <a:pPr marL="0" lvl="0" indent="0">
              <a:spcBef>
                <a:spcPct val="0"/>
              </a:spcBef>
              <a:defRPr/>
            </a:pPr>
            <a:r>
              <a:rPr lang="ja-JP" altLang="en-US" sz="28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応募意思</a:t>
            </a:r>
            <a:r>
              <a:rPr lang="ja-JP" altLang="en-US" sz="28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獲得率向上スクリプト①</a:t>
            </a:r>
            <a:endParaRPr kumimoji="1" lang="ja-JP" altLang="en-US" sz="28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2" name="コンテンツ プレースホルダー 2"/>
          <p:cNvSpPr txBox="1">
            <a:spLocks/>
          </p:cNvSpPr>
          <p:nvPr/>
        </p:nvSpPr>
        <p:spPr bwMode="auto">
          <a:xfrm>
            <a:off x="509023" y="764704"/>
            <a:ext cx="8455465" cy="55974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kumimoji="1" sz="18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>
                <a:solidFill>
                  <a:schemeClr val="bg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600">
                <a:solidFill>
                  <a:schemeClr val="bg2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1400">
                <a:solidFill>
                  <a:schemeClr val="bg2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2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2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2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2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2"/>
                </a:solidFill>
                <a:latin typeface="+mn-lt"/>
                <a:ea typeface="+mn-ea"/>
              </a:defRPr>
            </a:lvl9pPr>
          </a:lstStyle>
          <a:p>
            <a:r>
              <a:rPr lang="en-US" altLang="ja-JP" sz="1600" b="1" kern="0" dirty="0">
                <a:solidFill>
                  <a:schemeClr val="tx1"/>
                </a:solidFill>
              </a:rPr>
              <a:t>【</a:t>
            </a:r>
            <a:r>
              <a:rPr lang="ja-JP" altLang="en-US" sz="1600" b="1" kern="0" dirty="0">
                <a:solidFill>
                  <a:schemeClr val="tx1"/>
                </a:solidFill>
              </a:rPr>
              <a:t>スクリプト</a:t>
            </a:r>
            <a:r>
              <a:rPr lang="en-US" altLang="ja-JP" sz="1600" b="1" kern="0" dirty="0">
                <a:solidFill>
                  <a:schemeClr val="tx1"/>
                </a:solidFill>
              </a:rPr>
              <a:t>】</a:t>
            </a:r>
          </a:p>
          <a:p>
            <a:r>
              <a:rPr lang="ja-JP" altLang="en-US" sz="1600" b="1" kern="0" dirty="0" smtClean="0">
                <a:solidFill>
                  <a:schemeClr val="tx1"/>
                </a:solidFill>
              </a:rPr>
              <a:t>求人探しましたのでご連絡しました。</a:t>
            </a:r>
            <a:endParaRPr lang="en-US" altLang="ja-JP" sz="1600" b="1" kern="0" dirty="0" smtClean="0">
              <a:solidFill>
                <a:schemeClr val="tx1"/>
              </a:solidFill>
            </a:endParaRPr>
          </a:p>
          <a:p>
            <a:r>
              <a:rPr lang="ja-JP" altLang="en-US" sz="1600" b="1" kern="0" dirty="0" smtClean="0">
                <a:solidFill>
                  <a:schemeClr val="tx1"/>
                </a:solidFill>
              </a:rPr>
              <a:t>お電話大丈夫でしょうか。</a:t>
            </a:r>
            <a:endParaRPr lang="en-US" altLang="ja-JP" sz="1600" b="1" kern="0" dirty="0" smtClean="0">
              <a:solidFill>
                <a:schemeClr val="tx1"/>
              </a:solidFill>
            </a:endParaRPr>
          </a:p>
          <a:p>
            <a:r>
              <a:rPr lang="ja-JP" altLang="en-US" sz="1600" b="1" kern="0" dirty="0" smtClean="0">
                <a:solidFill>
                  <a:schemeClr val="tx1"/>
                </a:solidFill>
              </a:rPr>
              <a:t>はい！ありがとうございます。</a:t>
            </a:r>
            <a:endParaRPr lang="en-US" altLang="ja-JP" sz="1600" b="1" kern="0" dirty="0" smtClean="0">
              <a:solidFill>
                <a:schemeClr val="tx1"/>
              </a:solidFill>
            </a:endParaRPr>
          </a:p>
          <a:p>
            <a:endParaRPr lang="en-US" altLang="ja-JP" sz="1600" b="1" kern="0" dirty="0" smtClean="0">
              <a:solidFill>
                <a:schemeClr val="tx1"/>
              </a:solidFill>
            </a:endParaRPr>
          </a:p>
          <a:p>
            <a:r>
              <a:rPr lang="ja-JP" altLang="en-US" sz="1600" b="1" kern="0" dirty="0" smtClean="0">
                <a:solidFill>
                  <a:schemeClr val="tx1"/>
                </a:solidFill>
              </a:rPr>
              <a:t>＜前提①＞</a:t>
            </a:r>
            <a:endParaRPr lang="en-US" altLang="ja-JP" sz="1600" b="1" kern="0" dirty="0" smtClean="0">
              <a:solidFill>
                <a:schemeClr val="tx1"/>
              </a:solidFill>
            </a:endParaRPr>
          </a:p>
          <a:p>
            <a:r>
              <a:rPr lang="ja-JP" altLang="en-US" sz="1600" b="1" kern="0" dirty="0" smtClean="0">
                <a:solidFill>
                  <a:schemeClr val="tx1"/>
                </a:solidFill>
              </a:rPr>
              <a:t>　</a:t>
            </a:r>
            <a:r>
              <a:rPr lang="ja-JP" altLang="en-US" sz="1600" b="1" kern="0" dirty="0">
                <a:solidFill>
                  <a:schemeClr val="tx1"/>
                </a:solidFill>
              </a:rPr>
              <a:t>これから３つ提案させていただこうかと思うんですが</a:t>
            </a:r>
            <a:r>
              <a:rPr lang="ja-JP" altLang="en-US" sz="1600" b="1" kern="0" dirty="0" smtClean="0">
                <a:solidFill>
                  <a:schemeClr val="tx1"/>
                </a:solidFill>
              </a:rPr>
              <a:t>、</a:t>
            </a:r>
            <a:endParaRPr lang="en-US" altLang="ja-JP" sz="1600" b="1" kern="0" dirty="0" smtClean="0">
              <a:solidFill>
                <a:schemeClr val="tx1"/>
              </a:solidFill>
            </a:endParaRPr>
          </a:p>
          <a:p>
            <a:r>
              <a:rPr lang="ja-JP" altLang="en-US" sz="1600" b="1" kern="0" dirty="0" smtClean="0">
                <a:solidFill>
                  <a:schemeClr val="tx1"/>
                </a:solidFill>
              </a:rPr>
              <a:t>　これから</a:t>
            </a:r>
            <a:r>
              <a:rPr lang="ja-JP" altLang="en-US" sz="1600" b="1" kern="0" dirty="0">
                <a:solidFill>
                  <a:schemeClr val="tx1"/>
                </a:solidFill>
              </a:rPr>
              <a:t>提案する３つの事業所ですが、もちろんカイゴジョブエージェントとしてオススメの</a:t>
            </a:r>
            <a:r>
              <a:rPr lang="ja-JP" altLang="en-US" sz="1600" b="1" kern="0" dirty="0" smtClean="0">
                <a:solidFill>
                  <a:schemeClr val="tx1"/>
                </a:solidFill>
              </a:rPr>
              <a:t>事業</a:t>
            </a:r>
            <a:endParaRPr lang="en-US" altLang="ja-JP" sz="1600" b="1" kern="0" dirty="0" smtClean="0">
              <a:solidFill>
                <a:schemeClr val="tx1"/>
              </a:solidFill>
            </a:endParaRPr>
          </a:p>
          <a:p>
            <a:r>
              <a:rPr lang="ja-JP" altLang="en-US" sz="1600" b="1" kern="0" dirty="0">
                <a:solidFill>
                  <a:schemeClr val="tx1"/>
                </a:solidFill>
              </a:rPr>
              <a:t>　</a:t>
            </a:r>
            <a:r>
              <a:rPr lang="ja-JP" altLang="en-US" sz="1600" b="1" kern="0" dirty="0" smtClean="0">
                <a:solidFill>
                  <a:schemeClr val="tx1"/>
                </a:solidFill>
              </a:rPr>
              <a:t>所</a:t>
            </a:r>
            <a:r>
              <a:rPr lang="ja-JP" altLang="en-US" sz="1600" b="1" kern="0" dirty="0">
                <a:solidFill>
                  <a:schemeClr val="tx1"/>
                </a:solidFill>
              </a:rPr>
              <a:t>です</a:t>
            </a:r>
            <a:r>
              <a:rPr lang="ja-JP" altLang="en-US" sz="1600" b="1" kern="0" dirty="0" smtClean="0">
                <a:solidFill>
                  <a:schemeClr val="tx1"/>
                </a:solidFill>
              </a:rPr>
              <a:t>。</a:t>
            </a:r>
            <a:endParaRPr lang="en-US" altLang="ja-JP" sz="1600" b="1" kern="0" dirty="0" smtClean="0">
              <a:solidFill>
                <a:schemeClr val="tx1"/>
              </a:solidFill>
            </a:endParaRPr>
          </a:p>
          <a:p>
            <a:r>
              <a:rPr lang="ja-JP" altLang="en-US" sz="1600" b="1" kern="0" dirty="0" smtClean="0">
                <a:solidFill>
                  <a:schemeClr val="tx1"/>
                </a:solidFill>
              </a:rPr>
              <a:t>　ただ、どういった雰囲気かとかどういった方々が働かれているかは、行ってみて確認していた</a:t>
            </a:r>
            <a:r>
              <a:rPr lang="ja-JP" altLang="en-US" sz="1600" b="1" kern="0" dirty="0" err="1" smtClean="0">
                <a:solidFill>
                  <a:schemeClr val="tx1"/>
                </a:solidFill>
              </a:rPr>
              <a:t>だ</a:t>
            </a:r>
            <a:endParaRPr lang="en-US" altLang="ja-JP" sz="1600" b="1" kern="0" dirty="0" smtClean="0">
              <a:solidFill>
                <a:schemeClr val="tx1"/>
              </a:solidFill>
            </a:endParaRPr>
          </a:p>
          <a:p>
            <a:r>
              <a:rPr lang="ja-JP" altLang="en-US" sz="1600" b="1" kern="0" dirty="0">
                <a:solidFill>
                  <a:schemeClr val="tx1"/>
                </a:solidFill>
              </a:rPr>
              <a:t>　</a:t>
            </a:r>
            <a:r>
              <a:rPr lang="ja-JP" altLang="en-US" sz="1600" b="1" kern="0" dirty="0" smtClean="0">
                <a:solidFill>
                  <a:schemeClr val="tx1"/>
                </a:solidFill>
              </a:rPr>
              <a:t>きたいと思います。</a:t>
            </a:r>
            <a:endParaRPr lang="en-US" altLang="ja-JP" sz="1600" b="1" kern="0" dirty="0" smtClean="0">
              <a:solidFill>
                <a:schemeClr val="tx1"/>
              </a:solidFill>
            </a:endParaRPr>
          </a:p>
          <a:p>
            <a:r>
              <a:rPr lang="ja-JP" altLang="en-US" sz="1600" b="1" kern="0" dirty="0" smtClean="0">
                <a:solidFill>
                  <a:schemeClr val="tx1"/>
                </a:solidFill>
              </a:rPr>
              <a:t>　というのも、私が良いと感じるものと○○さんが良いと感じるものって違うこともあるかと思いま</a:t>
            </a:r>
            <a:endParaRPr lang="en-US" altLang="ja-JP" sz="1600" b="1" kern="0" dirty="0" smtClean="0">
              <a:solidFill>
                <a:schemeClr val="tx1"/>
              </a:solidFill>
            </a:endParaRPr>
          </a:p>
          <a:p>
            <a:r>
              <a:rPr lang="ja-JP" altLang="en-US" sz="1600" b="1" kern="0" dirty="0">
                <a:solidFill>
                  <a:schemeClr val="tx1"/>
                </a:solidFill>
              </a:rPr>
              <a:t>　</a:t>
            </a:r>
            <a:r>
              <a:rPr lang="ja-JP" altLang="en-US" sz="1600" b="1" kern="0" dirty="0" smtClean="0">
                <a:solidFill>
                  <a:schemeClr val="tx1"/>
                </a:solidFill>
              </a:rPr>
              <a:t>す。人</a:t>
            </a:r>
            <a:r>
              <a:rPr lang="ja-JP" altLang="en-US" sz="1600" b="1" kern="0" dirty="0">
                <a:solidFill>
                  <a:schemeClr val="tx1"/>
                </a:solidFill>
              </a:rPr>
              <a:t>によって価値観が違ったりしますので</a:t>
            </a:r>
            <a:r>
              <a:rPr lang="ja-JP" altLang="en-US" sz="1600" b="1" kern="0" dirty="0" err="1" smtClean="0">
                <a:solidFill>
                  <a:schemeClr val="tx1"/>
                </a:solidFill>
              </a:rPr>
              <a:t>、、、</a:t>
            </a:r>
            <a:r>
              <a:rPr lang="ja-JP" altLang="en-US" sz="1600" b="1" kern="0" dirty="0" smtClean="0">
                <a:solidFill>
                  <a:schemeClr val="tx1"/>
                </a:solidFill>
              </a:rPr>
              <a:t>（</a:t>
            </a:r>
            <a:r>
              <a:rPr lang="ja-JP" altLang="en-US" sz="1600" b="1" kern="0" dirty="0">
                <a:solidFill>
                  <a:schemeClr val="tx1"/>
                </a:solidFill>
              </a:rPr>
              <a:t>イエス①）</a:t>
            </a:r>
            <a:endParaRPr lang="en-US" altLang="ja-JP" sz="1600" b="1" kern="0" dirty="0">
              <a:solidFill>
                <a:schemeClr val="tx1"/>
              </a:solidFill>
            </a:endParaRPr>
          </a:p>
          <a:p>
            <a:r>
              <a:rPr lang="ja-JP" altLang="en-US" sz="1600" b="1" kern="0" dirty="0">
                <a:solidFill>
                  <a:schemeClr val="tx1"/>
                </a:solidFill>
              </a:rPr>
              <a:t>　</a:t>
            </a:r>
            <a:r>
              <a:rPr lang="ja-JP" altLang="en-US" sz="1600" b="1" kern="0" dirty="0" smtClean="0">
                <a:solidFill>
                  <a:schemeClr val="tx1"/>
                </a:solidFill>
              </a:rPr>
              <a:t>ですの</a:t>
            </a:r>
            <a:r>
              <a:rPr lang="ja-JP" altLang="en-US" sz="1600" b="1" kern="0" dirty="0">
                <a:solidFill>
                  <a:schemeClr val="tx1"/>
                </a:solidFill>
              </a:rPr>
              <a:t>で</a:t>
            </a:r>
            <a:r>
              <a:rPr lang="ja-JP" altLang="en-US" sz="1600" b="1" kern="0" dirty="0" smtClean="0">
                <a:solidFill>
                  <a:schemeClr val="tx1"/>
                </a:solidFill>
              </a:rPr>
              <a:t>、○○さんが</a:t>
            </a:r>
            <a:r>
              <a:rPr lang="ja-JP" altLang="en-US" sz="1600" b="1" kern="0" dirty="0" smtClean="0">
                <a:solidFill>
                  <a:srgbClr val="FF0000"/>
                </a:solidFill>
              </a:rPr>
              <a:t>実際に行って確認</a:t>
            </a:r>
            <a:r>
              <a:rPr lang="ja-JP" altLang="en-US" sz="1600" b="1" kern="0" dirty="0">
                <a:solidFill>
                  <a:srgbClr val="FF0000"/>
                </a:solidFill>
              </a:rPr>
              <a:t>していただけたら</a:t>
            </a:r>
            <a:r>
              <a:rPr lang="ja-JP" altLang="en-US" sz="1600" b="1" kern="0" dirty="0">
                <a:solidFill>
                  <a:schemeClr val="tx1"/>
                </a:solidFill>
              </a:rPr>
              <a:t>と思います。（</a:t>
            </a:r>
            <a:r>
              <a:rPr lang="ja-JP" altLang="en-US" sz="1600" b="1" kern="0" dirty="0" smtClean="0">
                <a:solidFill>
                  <a:schemeClr val="tx1"/>
                </a:solidFill>
              </a:rPr>
              <a:t>イエス②）</a:t>
            </a:r>
            <a:endParaRPr lang="en-US" altLang="ja-JP" sz="1600" b="1" kern="0" dirty="0">
              <a:solidFill>
                <a:schemeClr val="tx1"/>
              </a:solidFill>
            </a:endParaRPr>
          </a:p>
          <a:p>
            <a:endParaRPr lang="en-US" altLang="ja-JP" sz="1600" b="1" kern="0" dirty="0" smtClean="0">
              <a:solidFill>
                <a:schemeClr val="tx1"/>
              </a:solidFill>
            </a:endParaRPr>
          </a:p>
          <a:p>
            <a:r>
              <a:rPr lang="ja-JP" altLang="en-US" sz="1600" b="1" kern="0" dirty="0" smtClean="0">
                <a:solidFill>
                  <a:schemeClr val="tx1"/>
                </a:solidFill>
              </a:rPr>
              <a:t>＜前提②＞</a:t>
            </a:r>
            <a:endParaRPr lang="en-US" altLang="ja-JP" sz="1600" b="1" kern="0" dirty="0">
              <a:solidFill>
                <a:schemeClr val="tx1"/>
              </a:solidFill>
            </a:endParaRPr>
          </a:p>
          <a:p>
            <a:r>
              <a:rPr lang="ja-JP" altLang="en-US" sz="1600" b="1" kern="0" dirty="0" smtClean="0">
                <a:solidFill>
                  <a:schemeClr val="tx1"/>
                </a:solidFill>
              </a:rPr>
              <a:t>　あと</a:t>
            </a:r>
            <a:r>
              <a:rPr lang="ja-JP" altLang="en-US" sz="1600" b="1" kern="0" dirty="0">
                <a:solidFill>
                  <a:schemeClr val="tx1"/>
                </a:solidFill>
              </a:rPr>
              <a:t>、ご条件面ですが、</a:t>
            </a:r>
            <a:r>
              <a:rPr lang="ja-JP" altLang="en-US" sz="1600" b="1" kern="0" dirty="0" smtClean="0">
                <a:solidFill>
                  <a:schemeClr val="tx1"/>
                </a:solidFill>
              </a:rPr>
              <a:t>給料とかですね。</a:t>
            </a:r>
            <a:endParaRPr lang="en-US" altLang="ja-JP" sz="1600" b="1" kern="0" dirty="0" smtClean="0">
              <a:solidFill>
                <a:schemeClr val="tx1"/>
              </a:solidFill>
            </a:endParaRPr>
          </a:p>
          <a:p>
            <a:r>
              <a:rPr lang="ja-JP" altLang="en-US" sz="1600" b="1" kern="0" dirty="0">
                <a:solidFill>
                  <a:schemeClr val="tx1"/>
                </a:solidFill>
              </a:rPr>
              <a:t>　</a:t>
            </a:r>
            <a:r>
              <a:rPr lang="ja-JP" altLang="en-US" sz="1600" b="1" kern="0" dirty="0" smtClean="0">
                <a:solidFill>
                  <a:schemeClr val="tx1"/>
                </a:solidFill>
              </a:rPr>
              <a:t>どうしても面接後</a:t>
            </a:r>
            <a:r>
              <a:rPr lang="ja-JP" altLang="en-US" sz="1600" b="1" kern="0" dirty="0">
                <a:solidFill>
                  <a:schemeClr val="tx1"/>
                </a:solidFill>
              </a:rPr>
              <a:t>に決まって</a:t>
            </a:r>
            <a:r>
              <a:rPr lang="ja-JP" altLang="en-US" sz="1600" b="1" kern="0" dirty="0" smtClean="0">
                <a:solidFill>
                  <a:schemeClr val="tx1"/>
                </a:solidFill>
              </a:rPr>
              <a:t>くる</a:t>
            </a:r>
            <a:r>
              <a:rPr lang="ja-JP" altLang="en-US" sz="1600" b="1" kern="0" dirty="0" err="1" smtClean="0">
                <a:solidFill>
                  <a:schemeClr val="tx1"/>
                </a:solidFill>
              </a:rPr>
              <a:t>っ</a:t>
            </a:r>
            <a:r>
              <a:rPr lang="ja-JP" altLang="en-US" sz="1600" b="1" kern="0" dirty="0" smtClean="0">
                <a:solidFill>
                  <a:schemeClr val="tx1"/>
                </a:solidFill>
              </a:rPr>
              <a:t>というのがあるので、</a:t>
            </a:r>
            <a:r>
              <a:rPr lang="ja-JP" altLang="en-US" sz="1600" b="1" kern="0" dirty="0" smtClean="0">
                <a:solidFill>
                  <a:srgbClr val="FF0000"/>
                </a:solidFill>
              </a:rPr>
              <a:t>面接してからご判断いただきたい</a:t>
            </a:r>
            <a:r>
              <a:rPr lang="ja-JP" altLang="en-US" sz="1600" b="1" kern="0" dirty="0" smtClean="0">
                <a:solidFill>
                  <a:schemeClr val="tx1"/>
                </a:solidFill>
              </a:rPr>
              <a:t>です。</a:t>
            </a:r>
            <a:endParaRPr lang="en-US" altLang="ja-JP" sz="1600" b="1" kern="0" dirty="0" smtClean="0">
              <a:solidFill>
                <a:schemeClr val="tx1"/>
              </a:solidFill>
            </a:endParaRPr>
          </a:p>
          <a:p>
            <a:r>
              <a:rPr lang="ja-JP" altLang="en-US" sz="1600" b="1" kern="0" dirty="0">
                <a:solidFill>
                  <a:schemeClr val="tx1"/>
                </a:solidFill>
              </a:rPr>
              <a:t>　</a:t>
            </a:r>
            <a:r>
              <a:rPr lang="ja-JP" altLang="en-US" sz="1600" b="1" kern="0" dirty="0" smtClean="0">
                <a:solidFill>
                  <a:schemeClr val="tx1"/>
                </a:solidFill>
              </a:rPr>
              <a:t>また</a:t>
            </a:r>
            <a:r>
              <a:rPr lang="ja-JP" altLang="en-US" sz="1600" b="1" kern="0" dirty="0">
                <a:solidFill>
                  <a:schemeClr val="tx1"/>
                </a:solidFill>
              </a:rPr>
              <a:t>、</a:t>
            </a:r>
            <a:r>
              <a:rPr lang="ja-JP" altLang="en-US" sz="1600" b="1" kern="0" dirty="0" smtClean="0">
                <a:solidFill>
                  <a:schemeClr val="tx1"/>
                </a:solidFill>
              </a:rPr>
              <a:t>面接後</a:t>
            </a:r>
            <a:r>
              <a:rPr lang="ja-JP" altLang="en-US" sz="1600" b="1" kern="0" dirty="0">
                <a:solidFill>
                  <a:schemeClr val="tx1"/>
                </a:solidFill>
              </a:rPr>
              <a:t>に私の方で</a:t>
            </a:r>
            <a:r>
              <a:rPr lang="ja-JP" altLang="en-US" sz="1600" b="1" kern="0" dirty="0" smtClean="0">
                <a:solidFill>
                  <a:schemeClr val="tx1"/>
                </a:solidFill>
              </a:rPr>
              <a:t>交渉もできますので、それを以ってご判断いただきたいと思います。</a:t>
            </a:r>
            <a:endParaRPr lang="en-US" altLang="ja-JP" sz="1600" b="1" kern="0" dirty="0" smtClean="0">
              <a:solidFill>
                <a:schemeClr val="tx1"/>
              </a:solidFill>
            </a:endParaRPr>
          </a:p>
          <a:p>
            <a:r>
              <a:rPr lang="ja-JP" altLang="en-US" sz="1600" b="1" kern="0" dirty="0">
                <a:solidFill>
                  <a:schemeClr val="tx1"/>
                </a:solidFill>
              </a:rPr>
              <a:t>　</a:t>
            </a:r>
            <a:r>
              <a:rPr lang="ja-JP" altLang="en-US" sz="1600" b="1" kern="0" dirty="0" smtClean="0">
                <a:solidFill>
                  <a:schemeClr val="tx1"/>
                </a:solidFill>
              </a:rPr>
              <a:t>（イエス③）　</a:t>
            </a:r>
            <a:endParaRPr lang="en-US" altLang="ja-JP" sz="1600" b="1" kern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5664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C858DB-6EDD-43F4-A7F5-85AD9C7E8578}" type="slidenum">
              <a:rPr lang="ja-JP" altLang="en-US" smtClean="0"/>
              <a:pPr>
                <a:defRPr/>
              </a:pPr>
              <a:t>3</a:t>
            </a:fld>
            <a:endParaRPr lang="ja-JP" altLang="en-US" dirty="0"/>
          </a:p>
        </p:txBody>
      </p:sp>
      <p:sp>
        <p:nvSpPr>
          <p:cNvPr id="7" name="タイトル 1"/>
          <p:cNvSpPr txBox="1">
            <a:spLocks noGrp="1"/>
          </p:cNvSpPr>
          <p:nvPr>
            <p:ph idx="11"/>
          </p:nvPr>
        </p:nvSpPr>
        <p:spPr>
          <a:xfrm>
            <a:off x="251520" y="116632"/>
            <a:ext cx="7686700" cy="428628"/>
          </a:xfrm>
          <a:prstGeom prst="rect">
            <a:avLst/>
          </a:prstGeom>
        </p:spPr>
        <p:txBody>
          <a:bodyPr/>
          <a:lstStyle/>
          <a:p>
            <a:pPr marL="0" lvl="0" indent="0">
              <a:spcBef>
                <a:spcPct val="0"/>
              </a:spcBef>
              <a:defRPr/>
            </a:pPr>
            <a:r>
              <a:rPr lang="ja-JP" altLang="en-US" sz="28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応募意思</a:t>
            </a:r>
            <a:r>
              <a:rPr lang="ja-JP" altLang="en-US" sz="28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獲得率向上スクリプト②</a:t>
            </a:r>
            <a:endParaRPr kumimoji="1" lang="ja-JP" altLang="en-US" sz="28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2" name="コンテンツ プレースホルダー 2"/>
          <p:cNvSpPr txBox="1">
            <a:spLocks/>
          </p:cNvSpPr>
          <p:nvPr/>
        </p:nvSpPr>
        <p:spPr bwMode="auto">
          <a:xfrm>
            <a:off x="509023" y="764704"/>
            <a:ext cx="8455465" cy="55974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kumimoji="1" sz="18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>
                <a:solidFill>
                  <a:schemeClr val="bg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600">
                <a:solidFill>
                  <a:schemeClr val="bg2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1400">
                <a:solidFill>
                  <a:schemeClr val="bg2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2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2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2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2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2"/>
                </a:solidFill>
                <a:latin typeface="+mn-lt"/>
                <a:ea typeface="+mn-ea"/>
              </a:defRPr>
            </a:lvl9pPr>
          </a:lstStyle>
          <a:p>
            <a:r>
              <a:rPr lang="en-US" altLang="ja-JP" sz="1600" b="1" kern="0" dirty="0">
                <a:solidFill>
                  <a:schemeClr val="tx1"/>
                </a:solidFill>
              </a:rPr>
              <a:t>【</a:t>
            </a:r>
            <a:r>
              <a:rPr lang="ja-JP" altLang="en-US" sz="1600" b="1" kern="0" dirty="0">
                <a:solidFill>
                  <a:schemeClr val="tx1"/>
                </a:solidFill>
              </a:rPr>
              <a:t>スクリプト</a:t>
            </a:r>
            <a:r>
              <a:rPr lang="en-US" altLang="ja-JP" sz="1600" b="1" kern="0" dirty="0" smtClean="0">
                <a:solidFill>
                  <a:schemeClr val="tx1"/>
                </a:solidFill>
              </a:rPr>
              <a:t>】</a:t>
            </a:r>
          </a:p>
          <a:p>
            <a:r>
              <a:rPr lang="ja-JP" altLang="en-US" sz="1600" b="1" kern="0" dirty="0" smtClean="0">
                <a:solidFill>
                  <a:schemeClr val="tx1"/>
                </a:solidFill>
              </a:rPr>
              <a:t>では</a:t>
            </a:r>
            <a:r>
              <a:rPr lang="ja-JP" altLang="en-US" sz="1600" b="1" kern="0" dirty="0">
                <a:solidFill>
                  <a:schemeClr val="tx1"/>
                </a:solidFill>
              </a:rPr>
              <a:t>、</a:t>
            </a:r>
            <a:r>
              <a:rPr lang="ja-JP" altLang="en-US" sz="1600" b="1" kern="0" dirty="0" smtClean="0">
                <a:solidFill>
                  <a:schemeClr val="tx1"/>
                </a:solidFill>
              </a:rPr>
              <a:t>提案する３つの事業所ですが、通勤時間は全て３０分以内になります。</a:t>
            </a:r>
            <a:endParaRPr lang="en-US" altLang="ja-JP" sz="1600" b="1" kern="0" dirty="0" smtClean="0">
              <a:solidFill>
                <a:schemeClr val="tx1"/>
              </a:solidFill>
            </a:endParaRPr>
          </a:p>
          <a:p>
            <a:r>
              <a:rPr lang="ja-JP" altLang="en-US" sz="1600" b="1" kern="0" dirty="0" smtClean="0">
                <a:solidFill>
                  <a:schemeClr val="tx1"/>
                </a:solidFill>
              </a:rPr>
              <a:t>１つ目の事業所が○○○○というところで、運営している法人が社会福祉法人○○というところです。サービスは特別養護老人ホームで</a:t>
            </a:r>
            <a:r>
              <a:rPr lang="ja-JP" altLang="en-US" sz="1600" b="1" kern="0" dirty="0">
                <a:solidFill>
                  <a:schemeClr val="tx1"/>
                </a:solidFill>
              </a:rPr>
              <a:t>、</a:t>
            </a:r>
            <a:r>
              <a:rPr lang="ja-JP" altLang="en-US" sz="1600" b="1" kern="0" dirty="0" smtClean="0">
                <a:solidFill>
                  <a:schemeClr val="tx1"/>
                </a:solidFill>
              </a:rPr>
              <a:t>場所は○○市○○で、近くに○○や○○があるところです。なので、だいたい２０分～２５分ぐらいってところですかね。</a:t>
            </a:r>
            <a:endParaRPr lang="en-US" altLang="ja-JP" sz="1600" b="1" kern="0" dirty="0" smtClean="0">
              <a:solidFill>
                <a:schemeClr val="tx1"/>
              </a:solidFill>
            </a:endParaRPr>
          </a:p>
          <a:p>
            <a:r>
              <a:rPr lang="ja-JP" altLang="en-US" sz="1600" b="1" kern="0" dirty="0" smtClean="0">
                <a:solidFill>
                  <a:schemeClr val="tx1"/>
                </a:solidFill>
              </a:rPr>
              <a:t>２つ目が・・・</a:t>
            </a:r>
            <a:endParaRPr lang="en-US" altLang="ja-JP" sz="1600" b="1" kern="0" dirty="0">
              <a:solidFill>
                <a:schemeClr val="tx1"/>
              </a:solidFill>
            </a:endParaRPr>
          </a:p>
          <a:p>
            <a:r>
              <a:rPr lang="ja-JP" altLang="en-US" sz="1600" b="1" kern="0" dirty="0" smtClean="0">
                <a:solidFill>
                  <a:schemeClr val="tx1"/>
                </a:solidFill>
              </a:rPr>
              <a:t>３つ目が・・・</a:t>
            </a:r>
            <a:endParaRPr lang="en-US" altLang="ja-JP" sz="1600" b="1" kern="0" dirty="0" smtClean="0">
              <a:solidFill>
                <a:schemeClr val="tx1"/>
              </a:solidFill>
            </a:endParaRPr>
          </a:p>
          <a:p>
            <a:endParaRPr lang="en-US" altLang="ja-JP" sz="1600" b="1" kern="0" dirty="0" smtClean="0">
              <a:solidFill>
                <a:schemeClr val="tx1"/>
              </a:solidFill>
            </a:endParaRPr>
          </a:p>
          <a:p>
            <a:r>
              <a:rPr lang="ja-JP" altLang="en-US" sz="1600" b="1" kern="0" dirty="0" smtClean="0">
                <a:solidFill>
                  <a:schemeClr val="tx1"/>
                </a:solidFill>
              </a:rPr>
              <a:t>で、これらの事業所ですが、</a:t>
            </a:r>
            <a:r>
              <a:rPr lang="ja-JP" altLang="en-US" sz="1600" b="1" kern="0" dirty="0" smtClean="0">
                <a:solidFill>
                  <a:srgbClr val="FF0000"/>
                </a:solidFill>
              </a:rPr>
              <a:t>私の方で事業所に直接電話して、現在求人を</a:t>
            </a:r>
            <a:r>
              <a:rPr lang="ja-JP" altLang="en-US" sz="1600" b="1" kern="0" dirty="0">
                <a:solidFill>
                  <a:srgbClr val="FF0000"/>
                </a:solidFill>
              </a:rPr>
              <a:t>募集</a:t>
            </a:r>
            <a:r>
              <a:rPr lang="ja-JP" altLang="en-US" sz="1600" b="1" kern="0" dirty="0" smtClean="0">
                <a:solidFill>
                  <a:srgbClr val="FF0000"/>
                </a:solidFill>
              </a:rPr>
              <a:t>しているか確認する必要があるんですね</a:t>
            </a:r>
            <a:r>
              <a:rPr lang="ja-JP" altLang="en-US" sz="1600" b="1" kern="0" dirty="0" smtClean="0">
                <a:solidFill>
                  <a:schemeClr val="tx1"/>
                </a:solidFill>
              </a:rPr>
              <a:t>。</a:t>
            </a:r>
            <a:endParaRPr lang="en-US" altLang="ja-JP" sz="1600" b="1" kern="0" dirty="0" smtClean="0">
              <a:solidFill>
                <a:schemeClr val="tx1"/>
              </a:solidFill>
            </a:endParaRPr>
          </a:p>
          <a:p>
            <a:r>
              <a:rPr lang="ja-JP" altLang="en-US" sz="1600" b="1" kern="0" dirty="0" smtClean="0">
                <a:solidFill>
                  <a:schemeClr val="tx1"/>
                </a:solidFill>
              </a:rPr>
              <a:t>求人って水物ですので</a:t>
            </a:r>
            <a:r>
              <a:rPr lang="ja-JP" altLang="en-US" sz="1600" b="1" kern="0" dirty="0" err="1" smtClean="0">
                <a:solidFill>
                  <a:schemeClr val="tx1"/>
                </a:solidFill>
              </a:rPr>
              <a:t>、、、</a:t>
            </a:r>
            <a:r>
              <a:rPr lang="ja-JP" altLang="en-US" sz="1600" b="1" kern="0" dirty="0" smtClean="0">
                <a:solidFill>
                  <a:schemeClr val="tx1"/>
                </a:solidFill>
              </a:rPr>
              <a:t>（イエス④）</a:t>
            </a:r>
            <a:endParaRPr lang="en-US" altLang="ja-JP" sz="1600" b="1" kern="0" dirty="0" smtClean="0">
              <a:solidFill>
                <a:schemeClr val="tx1"/>
              </a:solidFill>
            </a:endParaRPr>
          </a:p>
          <a:p>
            <a:r>
              <a:rPr lang="ja-JP" altLang="en-US" sz="1600" b="1" kern="0" dirty="0" smtClean="0">
                <a:solidFill>
                  <a:schemeClr val="tx1"/>
                </a:solidFill>
              </a:rPr>
              <a:t>なので、私の方から事業所に求人を募集してるか確認します</a:t>
            </a:r>
            <a:r>
              <a:rPr lang="ja-JP" altLang="en-US" sz="1600" b="1" u="sng" kern="0" dirty="0" smtClean="0">
                <a:solidFill>
                  <a:srgbClr val="FF0000"/>
                </a:solidFill>
              </a:rPr>
              <a:t>ね</a:t>
            </a:r>
            <a:r>
              <a:rPr lang="ja-JP" altLang="en-US" sz="1600" b="1" kern="0" dirty="0" smtClean="0">
                <a:solidFill>
                  <a:schemeClr val="tx1"/>
                </a:solidFill>
              </a:rPr>
              <a:t>！（</a:t>
            </a:r>
            <a:r>
              <a:rPr lang="ja-JP" altLang="en-US" sz="1600" b="1" kern="0" dirty="0" smtClean="0">
                <a:solidFill>
                  <a:srgbClr val="FF0000"/>
                </a:solidFill>
              </a:rPr>
              <a:t>クロージングは必ず断定！</a:t>
            </a:r>
            <a:r>
              <a:rPr lang="ja-JP" altLang="en-US" sz="1600" b="1" kern="0" dirty="0" smtClean="0">
                <a:solidFill>
                  <a:schemeClr val="tx1"/>
                </a:solidFill>
              </a:rPr>
              <a:t>）</a:t>
            </a:r>
            <a:endParaRPr lang="en-US" altLang="ja-JP" sz="1600" b="1" kern="0" dirty="0" smtClean="0">
              <a:solidFill>
                <a:schemeClr val="tx1"/>
              </a:solidFill>
            </a:endParaRPr>
          </a:p>
          <a:p>
            <a:r>
              <a:rPr lang="ja-JP" altLang="en-US" sz="1600" b="1" kern="0" dirty="0" smtClean="0">
                <a:solidFill>
                  <a:schemeClr val="tx1"/>
                </a:solidFill>
              </a:rPr>
              <a:t>　（はい、お願いします　</a:t>
            </a:r>
            <a:r>
              <a:rPr lang="en-US" altLang="ja-JP" sz="1600" b="1" kern="0" dirty="0" smtClean="0">
                <a:solidFill>
                  <a:schemeClr val="tx1"/>
                </a:solidFill>
              </a:rPr>
              <a:t>※</a:t>
            </a:r>
            <a:r>
              <a:rPr lang="ja-JP" altLang="en-US" sz="1600" b="1" kern="0" dirty="0" smtClean="0">
                <a:solidFill>
                  <a:schemeClr val="tx1"/>
                </a:solidFill>
              </a:rPr>
              <a:t>大きなイエース！！）</a:t>
            </a:r>
            <a:endParaRPr lang="en-US" altLang="ja-JP" sz="1600" b="1" kern="0" dirty="0">
              <a:solidFill>
                <a:schemeClr val="tx1"/>
              </a:solidFill>
            </a:endParaRPr>
          </a:p>
          <a:p>
            <a:endParaRPr lang="en-US" altLang="ja-JP" sz="1600" b="1" kern="0" dirty="0" smtClean="0">
              <a:solidFill>
                <a:schemeClr val="tx1"/>
              </a:solidFill>
            </a:endParaRPr>
          </a:p>
          <a:p>
            <a:r>
              <a:rPr lang="ja-JP" altLang="en-US" sz="1600" b="1" kern="0" dirty="0" smtClean="0">
                <a:solidFill>
                  <a:schemeClr val="tx1"/>
                </a:solidFill>
              </a:rPr>
              <a:t>で、そのときに、「では、面接しましょう」ってなることがあるんですが、そのときにスムーズにご案内したいと思いますので、例えば、今週と来週でご都合の良い日ってありますか？</a:t>
            </a:r>
            <a:endParaRPr lang="en-US" altLang="ja-JP" sz="1600" b="1" kern="0" dirty="0" smtClean="0">
              <a:solidFill>
                <a:schemeClr val="tx1"/>
              </a:solidFill>
            </a:endParaRPr>
          </a:p>
          <a:p>
            <a:endParaRPr lang="en-US" altLang="ja-JP" sz="1600" b="1" kern="0" dirty="0">
              <a:solidFill>
                <a:schemeClr val="tx1"/>
              </a:solidFill>
            </a:endParaRPr>
          </a:p>
          <a:p>
            <a:r>
              <a:rPr lang="ja-JP" altLang="en-US" sz="1600" b="1" kern="0" dirty="0" smtClean="0">
                <a:solidFill>
                  <a:schemeClr val="tx1"/>
                </a:solidFill>
              </a:rPr>
              <a:t>ありがとうございます。</a:t>
            </a:r>
            <a:endParaRPr lang="en-US" altLang="ja-JP" sz="1600" b="1" kern="0" dirty="0" smtClean="0">
              <a:solidFill>
                <a:schemeClr val="tx1"/>
              </a:solidFill>
            </a:endParaRPr>
          </a:p>
          <a:p>
            <a:r>
              <a:rPr lang="ja-JP" altLang="en-US" sz="1600" b="1" kern="0" dirty="0" smtClean="0">
                <a:solidFill>
                  <a:schemeClr val="tx1"/>
                </a:solidFill>
              </a:rPr>
              <a:t>では、事業所に確認しまして、またご連絡いたします！</a:t>
            </a:r>
            <a:endParaRPr lang="en-US" altLang="ja-JP" sz="1600" b="1" kern="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5240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C858DB-6EDD-43F4-A7F5-85AD9C7E8578}" type="slidenum">
              <a:rPr lang="ja-JP" altLang="en-US" smtClean="0"/>
              <a:pPr>
                <a:defRPr/>
              </a:pPr>
              <a:t>4</a:t>
            </a:fld>
            <a:endParaRPr lang="ja-JP" altLang="en-US" dirty="0"/>
          </a:p>
        </p:txBody>
      </p:sp>
      <p:sp>
        <p:nvSpPr>
          <p:cNvPr id="7" name="タイトル 1"/>
          <p:cNvSpPr txBox="1">
            <a:spLocks noGrp="1"/>
          </p:cNvSpPr>
          <p:nvPr>
            <p:ph idx="11"/>
          </p:nvPr>
        </p:nvSpPr>
        <p:spPr>
          <a:xfrm>
            <a:off x="251520" y="116632"/>
            <a:ext cx="7686700" cy="428628"/>
          </a:xfrm>
          <a:prstGeom prst="rect">
            <a:avLst/>
          </a:prstGeom>
        </p:spPr>
        <p:txBody>
          <a:bodyPr/>
          <a:lstStyle/>
          <a:p>
            <a:pPr marL="0" lvl="0" indent="0">
              <a:spcBef>
                <a:spcPct val="0"/>
              </a:spcBef>
              <a:defRPr/>
            </a:pPr>
            <a:r>
              <a:rPr lang="ja-JP" altLang="en-US" sz="28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応募意思獲得率</a:t>
            </a:r>
            <a:r>
              <a:rPr kumimoji="1" lang="ja-JP" altLang="en-US" sz="28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を高めるポイント</a:t>
            </a:r>
            <a:endParaRPr kumimoji="1" lang="ja-JP" altLang="en-US" sz="28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2" name="コンテンツ プレースホルダー 2"/>
          <p:cNvSpPr txBox="1">
            <a:spLocks/>
          </p:cNvSpPr>
          <p:nvPr/>
        </p:nvSpPr>
        <p:spPr bwMode="auto">
          <a:xfrm>
            <a:off x="467544" y="836712"/>
            <a:ext cx="7890807" cy="55974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kumimoji="1" sz="18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>
                <a:solidFill>
                  <a:schemeClr val="bg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1600">
                <a:solidFill>
                  <a:schemeClr val="bg2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1400">
                <a:solidFill>
                  <a:schemeClr val="bg2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2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2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2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2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bg2"/>
                </a:solidFill>
                <a:latin typeface="+mn-lt"/>
                <a:ea typeface="+mn-ea"/>
              </a:defRPr>
            </a:lvl9pPr>
          </a:lstStyle>
          <a:p>
            <a:r>
              <a:rPr lang="ja-JP" altLang="en-US" sz="1600" b="1" kern="0" dirty="0">
                <a:solidFill>
                  <a:schemeClr val="tx1"/>
                </a:solidFill>
              </a:rPr>
              <a:t>◆実際に事業所を提案する際に伝えること</a:t>
            </a:r>
            <a:endParaRPr lang="en-US" altLang="ja-JP" sz="1600" b="1" kern="0" dirty="0">
              <a:solidFill>
                <a:schemeClr val="tx1"/>
              </a:solidFill>
            </a:endParaRPr>
          </a:p>
          <a:p>
            <a:r>
              <a:rPr lang="ja-JP" altLang="en-US" sz="1600" b="1" kern="0" dirty="0">
                <a:solidFill>
                  <a:schemeClr val="tx1"/>
                </a:solidFill>
              </a:rPr>
              <a:t>　①事業所名　</a:t>
            </a:r>
            <a:endParaRPr lang="en-US" altLang="ja-JP" sz="1600" b="1" kern="0" dirty="0">
              <a:solidFill>
                <a:schemeClr val="tx1"/>
              </a:solidFill>
            </a:endParaRPr>
          </a:p>
          <a:p>
            <a:r>
              <a:rPr lang="ja-JP" altLang="en-US" sz="1600" b="1" kern="0" dirty="0">
                <a:solidFill>
                  <a:schemeClr val="tx1"/>
                </a:solidFill>
              </a:rPr>
              <a:t>　②会社名</a:t>
            </a:r>
            <a:endParaRPr lang="en-US" altLang="ja-JP" sz="1600" b="1" kern="0" dirty="0">
              <a:solidFill>
                <a:schemeClr val="tx1"/>
              </a:solidFill>
            </a:endParaRPr>
          </a:p>
          <a:p>
            <a:r>
              <a:rPr lang="ja-JP" altLang="en-US" sz="1600" b="1" kern="0" dirty="0">
                <a:solidFill>
                  <a:schemeClr val="tx1"/>
                </a:solidFill>
              </a:rPr>
              <a:t>　③サービス</a:t>
            </a:r>
            <a:endParaRPr lang="en-US" altLang="ja-JP" sz="1600" b="1" kern="0" dirty="0">
              <a:solidFill>
                <a:schemeClr val="tx1"/>
              </a:solidFill>
            </a:endParaRPr>
          </a:p>
          <a:p>
            <a:r>
              <a:rPr lang="ja-JP" altLang="en-US" sz="1600" b="1" kern="0" dirty="0">
                <a:solidFill>
                  <a:schemeClr val="tx1"/>
                </a:solidFill>
              </a:rPr>
              <a:t>　④場所・通勤時間</a:t>
            </a:r>
            <a:endParaRPr lang="en-US" altLang="ja-JP" sz="1600" b="1" kern="0" dirty="0">
              <a:solidFill>
                <a:schemeClr val="tx1"/>
              </a:solidFill>
            </a:endParaRPr>
          </a:p>
          <a:p>
            <a:r>
              <a:rPr lang="ja-JP" altLang="en-US" sz="1600" b="1" kern="0" dirty="0">
                <a:solidFill>
                  <a:schemeClr val="tx1"/>
                </a:solidFill>
              </a:rPr>
              <a:t>　⑤上記の他に条件で組み込まれたもの（就業時間や休日など</a:t>
            </a:r>
            <a:r>
              <a:rPr lang="ja-JP" altLang="en-US" sz="1600" b="1" kern="0" dirty="0" smtClean="0">
                <a:solidFill>
                  <a:schemeClr val="tx1"/>
                </a:solidFill>
              </a:rPr>
              <a:t>）</a:t>
            </a:r>
            <a:endParaRPr lang="en-US" altLang="ja-JP" sz="1600" b="1" kern="0" dirty="0" smtClean="0">
              <a:solidFill>
                <a:schemeClr val="tx1"/>
              </a:solidFill>
            </a:endParaRPr>
          </a:p>
          <a:p>
            <a:endParaRPr lang="en-US" altLang="ja-JP" sz="1600" b="1" kern="0" dirty="0" smtClean="0">
              <a:solidFill>
                <a:schemeClr val="tx1"/>
              </a:solidFill>
            </a:endParaRPr>
          </a:p>
          <a:p>
            <a:r>
              <a:rPr lang="ja-JP" altLang="en-US" sz="1600" b="1" kern="0" dirty="0">
                <a:solidFill>
                  <a:schemeClr val="tx1"/>
                </a:solidFill>
              </a:rPr>
              <a:t>　</a:t>
            </a:r>
            <a:r>
              <a:rPr lang="en-US" altLang="ja-JP" sz="1600" b="1" kern="0" dirty="0" smtClean="0">
                <a:solidFill>
                  <a:schemeClr val="tx1"/>
                </a:solidFill>
              </a:rPr>
              <a:t>※</a:t>
            </a:r>
            <a:r>
              <a:rPr lang="ja-JP" altLang="en-US" sz="1600" b="1" kern="0" dirty="0" smtClean="0">
                <a:solidFill>
                  <a:schemeClr val="tx1"/>
                </a:solidFill>
              </a:rPr>
              <a:t>給料はほぼ１００％伝えない。</a:t>
            </a:r>
            <a:endParaRPr lang="en-US" altLang="ja-JP" sz="1600" b="1" kern="0" dirty="0">
              <a:solidFill>
                <a:schemeClr val="tx1"/>
              </a:solidFill>
            </a:endParaRPr>
          </a:p>
          <a:p>
            <a:r>
              <a:rPr lang="ja-JP" altLang="en-US" sz="1600" b="1" kern="0" dirty="0" smtClean="0">
                <a:solidFill>
                  <a:schemeClr val="tx1"/>
                </a:solidFill>
              </a:rPr>
              <a:t>　</a:t>
            </a:r>
            <a:endParaRPr lang="en-US" altLang="ja-JP" sz="1600" b="1" kern="0" dirty="0" smtClean="0">
              <a:solidFill>
                <a:schemeClr val="tx1"/>
              </a:solidFill>
            </a:endParaRPr>
          </a:p>
          <a:p>
            <a:r>
              <a:rPr lang="ja-JP" altLang="en-US" sz="1600" b="1" kern="0" dirty="0" smtClean="0">
                <a:solidFill>
                  <a:schemeClr val="tx1"/>
                </a:solidFill>
              </a:rPr>
              <a:t>　＜小技＞</a:t>
            </a:r>
            <a:endParaRPr lang="en-US" altLang="ja-JP" sz="1600" b="1" kern="0" dirty="0">
              <a:solidFill>
                <a:schemeClr val="tx1"/>
              </a:solidFill>
            </a:endParaRPr>
          </a:p>
          <a:p>
            <a:r>
              <a:rPr lang="ja-JP" altLang="en-US" sz="1600" b="1" kern="0" dirty="0" smtClean="0">
                <a:solidFill>
                  <a:schemeClr val="tx1"/>
                </a:solidFill>
              </a:rPr>
              <a:t>　　①紹介実績がある場合は、</a:t>
            </a:r>
            <a:endParaRPr lang="en-US" altLang="ja-JP" sz="1600" b="1" kern="0" dirty="0" smtClean="0">
              <a:solidFill>
                <a:schemeClr val="tx1"/>
              </a:solidFill>
            </a:endParaRPr>
          </a:p>
          <a:p>
            <a:r>
              <a:rPr lang="ja-JP" altLang="en-US" sz="1600" b="1" kern="0" dirty="0">
                <a:solidFill>
                  <a:schemeClr val="tx1"/>
                </a:solidFill>
              </a:rPr>
              <a:t>　</a:t>
            </a:r>
            <a:r>
              <a:rPr lang="ja-JP" altLang="en-US" sz="1600" b="1" kern="0" dirty="0" smtClean="0">
                <a:solidFill>
                  <a:schemeClr val="tx1"/>
                </a:solidFill>
              </a:rPr>
              <a:t>　　以前私がご紹介させていただいた方も働かれており、その方は「働きやすくてすごく良</a:t>
            </a:r>
            <a:endParaRPr lang="en-US" altLang="ja-JP" sz="1600" b="1" kern="0" dirty="0" smtClean="0">
              <a:solidFill>
                <a:schemeClr val="tx1"/>
              </a:solidFill>
            </a:endParaRPr>
          </a:p>
          <a:p>
            <a:r>
              <a:rPr lang="ja-JP" altLang="en-US" sz="1600" b="1" kern="0" dirty="0">
                <a:solidFill>
                  <a:schemeClr val="tx1"/>
                </a:solidFill>
              </a:rPr>
              <a:t>　</a:t>
            </a:r>
            <a:r>
              <a:rPr lang="ja-JP" altLang="en-US" sz="1600" b="1" kern="0" dirty="0" smtClean="0">
                <a:solidFill>
                  <a:schemeClr val="tx1"/>
                </a:solidFill>
              </a:rPr>
              <a:t>　　い」って言ってます。</a:t>
            </a:r>
            <a:endParaRPr lang="en-US" altLang="ja-JP" sz="1600" b="1" kern="0" dirty="0" smtClean="0">
              <a:solidFill>
                <a:schemeClr val="tx1"/>
              </a:solidFill>
            </a:endParaRPr>
          </a:p>
          <a:p>
            <a:r>
              <a:rPr lang="ja-JP" altLang="en-US" sz="1600" b="1" kern="0" dirty="0">
                <a:solidFill>
                  <a:schemeClr val="tx1"/>
                </a:solidFill>
              </a:rPr>
              <a:t>　</a:t>
            </a:r>
            <a:r>
              <a:rPr lang="ja-JP" altLang="en-US" sz="1600" b="1" kern="0" dirty="0" smtClean="0">
                <a:solidFill>
                  <a:schemeClr val="tx1"/>
                </a:solidFill>
              </a:rPr>
              <a:t>　②転職理由と求人票の共通点を探して、そこを突く！</a:t>
            </a:r>
            <a:endParaRPr lang="en-US" altLang="ja-JP" sz="1600" b="1" kern="0" dirty="0" smtClean="0">
              <a:solidFill>
                <a:schemeClr val="tx1"/>
              </a:solidFill>
            </a:endParaRPr>
          </a:p>
          <a:p>
            <a:r>
              <a:rPr lang="ja-JP" altLang="en-US" sz="1600" b="1" kern="0" dirty="0">
                <a:solidFill>
                  <a:schemeClr val="tx1"/>
                </a:solidFill>
              </a:rPr>
              <a:t>　</a:t>
            </a:r>
            <a:r>
              <a:rPr lang="ja-JP" altLang="en-US" sz="1600" b="1" kern="0" dirty="0" smtClean="0">
                <a:solidFill>
                  <a:schemeClr val="tx1"/>
                </a:solidFill>
              </a:rPr>
              <a:t>　　　</a:t>
            </a:r>
            <a:r>
              <a:rPr lang="en-US" altLang="ja-JP" sz="1600" b="1" kern="0" dirty="0" smtClean="0">
                <a:solidFill>
                  <a:schemeClr val="tx1"/>
                </a:solidFill>
              </a:rPr>
              <a:t>Ex.</a:t>
            </a:r>
            <a:r>
              <a:rPr lang="ja-JP" altLang="en-US" sz="1600" b="1" kern="0" dirty="0" smtClean="0">
                <a:solidFill>
                  <a:schemeClr val="tx1"/>
                </a:solidFill>
              </a:rPr>
              <a:t>）女性が働きやすい、従業員を大事に、利用者の笑顔を、などなど</a:t>
            </a:r>
            <a:endParaRPr lang="en-US" altLang="ja-JP" sz="1600" b="1" kern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0320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標準デザイン標準">
  <a:themeElements>
    <a:clrScheme name="1_標準デザイン標準 8">
      <a:dk1>
        <a:srgbClr val="333333"/>
      </a:dk1>
      <a:lt1>
        <a:srgbClr val="FFFFFF"/>
      </a:lt1>
      <a:dk2>
        <a:srgbClr val="000000"/>
      </a:dk2>
      <a:lt2>
        <a:srgbClr val="808080"/>
      </a:lt2>
      <a:accent1>
        <a:srgbClr val="FFCC66"/>
      </a:accent1>
      <a:accent2>
        <a:srgbClr val="FF9933"/>
      </a:accent2>
      <a:accent3>
        <a:srgbClr val="FFFFFF"/>
      </a:accent3>
      <a:accent4>
        <a:srgbClr val="2A2A2A"/>
      </a:accent4>
      <a:accent5>
        <a:srgbClr val="FFE2B8"/>
      </a:accent5>
      <a:accent6>
        <a:srgbClr val="E78A2D"/>
      </a:accent6>
      <a:hlink>
        <a:srgbClr val="FF6600"/>
      </a:hlink>
      <a:folHlink>
        <a:srgbClr val="FF3300"/>
      </a:folHlink>
    </a:clrScheme>
    <a:fontScheme name="1_標準デザイン標準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 dirty="0" err="1" smtClean="0">
            <a:latin typeface="Meiryo UI" panose="020B0604030504040204" pitchFamily="50" charset="-128"/>
            <a:ea typeface="Meiryo UI" panose="020B0604030504040204" pitchFamily="50" charset="-128"/>
            <a:cs typeface="Meiryo UI" panose="020B0604030504040204" pitchFamily="50" charset="-128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tIns="36000" rIns="36000" bIns="36000" rtlCol="0">
        <a:noAutofit/>
      </a:bodyPr>
      <a:lstStyle>
        <a:defPPr marL="185738" indent="-185738">
          <a:buFont typeface="Arial" panose="020B0604020202020204" pitchFamily="34" charset="0"/>
          <a:buChar char="•"/>
          <a:defRPr kumimoji="1" sz="1600" dirty="0" smtClean="0">
            <a:latin typeface="Meiryo UI" panose="020B0604030504040204" pitchFamily="50" charset="-128"/>
            <a:ea typeface="Meiryo UI" panose="020B0604030504040204" pitchFamily="50" charset="-128"/>
            <a:cs typeface="Meiryo UI" panose="020B0604030504040204" pitchFamily="50" charset="-128"/>
          </a:defRPr>
        </a:defPPr>
      </a:lstStyle>
    </a:txDef>
  </a:objectDefaults>
  <a:extraClrSchemeLst>
    <a:extraClrScheme>
      <a:clrScheme name="1_標準デザイン標準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標準デザイン標準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標準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標準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標準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標準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標準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標準 8">
        <a:dk1>
          <a:srgbClr val="333333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FF9933"/>
        </a:accent2>
        <a:accent3>
          <a:srgbClr val="FFFFFF"/>
        </a:accent3>
        <a:accent4>
          <a:srgbClr val="2A2A2A"/>
        </a:accent4>
        <a:accent5>
          <a:srgbClr val="FFE2B8"/>
        </a:accent5>
        <a:accent6>
          <a:srgbClr val="E78A2D"/>
        </a:accent6>
        <a:hlink>
          <a:srgbClr val="FF6600"/>
        </a:hlink>
        <a:folHlink>
          <a:srgbClr val="FF33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Blank.potx" id="{B2BE7FE5-621F-4E71-96E0-51AA2C26828D}" vid="{03A46EE1-152B-4F5F-971D-DA866F90BAB9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89568</TotalTime>
  <Words>245</Words>
  <Application>Microsoft Office PowerPoint</Application>
  <PresentationFormat>画面に合わせる (4:3)</PresentationFormat>
  <Paragraphs>80</Paragraphs>
  <Slides>5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9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5" baseType="lpstr">
      <vt:lpstr>HGPｺﾞｼｯｸE</vt:lpstr>
      <vt:lpstr>Meiryo UI</vt:lpstr>
      <vt:lpstr>ＭＳ Ｐゴシック</vt:lpstr>
      <vt:lpstr>ＭＳ Ｐ明朝</vt:lpstr>
      <vt:lpstr>MS UI Gothic</vt:lpstr>
      <vt:lpstr>Arial</vt:lpstr>
      <vt:lpstr>Calibri</vt:lpstr>
      <vt:lpstr>Times New Roman</vt:lpstr>
      <vt:lpstr>Wingdings</vt:lpstr>
      <vt:lpstr>1_標準デザイン標準</vt:lpstr>
      <vt:lpstr>応募意志獲得率向上推進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購買業務 ToBe業務フロー定義（案）</dc:title>
  <dc:creator>金児 将平</dc:creator>
  <cp:lastModifiedBy>遠藤達成</cp:lastModifiedBy>
  <cp:revision>2980</cp:revision>
  <cp:lastPrinted>2016-09-29T09:58:28Z</cp:lastPrinted>
  <dcterms:modified xsi:type="dcterms:W3CDTF">2016-12-01T01:20:28Z</dcterms:modified>
</cp:coreProperties>
</file>