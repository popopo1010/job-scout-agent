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370" r:id="rId2"/>
    <p:sldId id="371" r:id="rId3"/>
    <p:sldId id="372" r:id="rId4"/>
    <p:sldId id="389" r:id="rId5"/>
    <p:sldId id="390" r:id="rId6"/>
    <p:sldId id="391" r:id="rId7"/>
    <p:sldId id="392" r:id="rId8"/>
    <p:sldId id="377" r:id="rId9"/>
    <p:sldId id="378" r:id="rId10"/>
    <p:sldId id="379" r:id="rId11"/>
    <p:sldId id="383" r:id="rId12"/>
  </p:sldIdLst>
  <p:sldSz cx="9906000" cy="6858000" type="A4"/>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6600"/>
    <a:srgbClr val="FFFF99"/>
    <a:srgbClr val="FFCC99"/>
    <a:srgbClr val="FFCC00"/>
    <a:srgbClr val="FF8D3F"/>
    <a:srgbClr val="000000"/>
    <a:srgbClr val="FF9933"/>
    <a:srgbClr val="FF3300"/>
    <a:srgbClr val="FF8F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8556" autoAdjust="0"/>
    <p:restoredTop sz="99477" autoAdjust="0"/>
  </p:normalViewPr>
  <p:slideViewPr>
    <p:cSldViewPr>
      <p:cViewPr>
        <p:scale>
          <a:sx n="75" d="100"/>
          <a:sy n="75" d="100"/>
        </p:scale>
        <p:origin x="-426" y="648"/>
      </p:cViewPr>
      <p:guideLst>
        <p:guide orient="horz" pos="2160"/>
        <p:guide pos="31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6C32A9-695E-461D-AC07-2E2E303E04B0}" type="datetimeFigureOut">
              <a:rPr kumimoji="1" lang="ja-JP" altLang="en-US" smtClean="0"/>
              <a:pPr/>
              <a:t>2013/12/6</a:t>
            </a:fld>
            <a:endParaRPr kumimoji="1" lang="ja-JP" altLang="en-US"/>
          </a:p>
        </p:txBody>
      </p:sp>
      <p:sp>
        <p:nvSpPr>
          <p:cNvPr id="4" name="スライド イメージ プレースホルダ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D28F37-0C9E-4C97-A71B-C9A25C7DE99E}" type="slidenum">
              <a:rPr kumimoji="1" lang="ja-JP" altLang="en-US" smtClean="0"/>
              <a:pPr/>
              <a:t>‹#›</a:t>
            </a:fld>
            <a:endParaRPr kumimoji="1" lang="ja-JP" altLang="en-US"/>
          </a:p>
        </p:txBody>
      </p:sp>
    </p:spTree>
    <p:extLst>
      <p:ext uri="{BB962C8B-B14F-4D97-AF65-F5344CB8AC3E}">
        <p14:creationId xmlns:p14="http://schemas.microsoft.com/office/powerpoint/2010/main" val="140332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スライド イメージ プレースホルダ 1"/>
          <p:cNvSpPr>
            <a:spLocks noGrp="1" noRot="1" noChangeAspect="1" noTextEdit="1"/>
          </p:cNvSpPr>
          <p:nvPr>
            <p:ph type="sldImg"/>
          </p:nvPr>
        </p:nvSpPr>
        <p:spPr bwMode="auto">
          <a:noFill/>
          <a:ln>
            <a:solidFill>
              <a:srgbClr val="000000"/>
            </a:solidFill>
            <a:miter lim="800000"/>
            <a:headEnd/>
            <a:tailEnd/>
          </a:ln>
        </p:spPr>
      </p:sp>
      <p:sp>
        <p:nvSpPr>
          <p:cNvPr id="15363" name="ノート プレースホルダ 2"/>
          <p:cNvSpPr>
            <a:spLocks noGrp="1"/>
          </p:cNvSpPr>
          <p:nvPr>
            <p:ph type="body" idx="1"/>
          </p:nvPr>
        </p:nvSpPr>
        <p:spPr bwMode="auto">
          <a:noFill/>
        </p:spPr>
        <p:txBody>
          <a:bodyPr wrap="square" numCol="1" anchor="t" anchorCtr="0" compatLnSpc="1">
            <a:prstTxWarp prst="textNoShape">
              <a:avLst/>
            </a:prstTxWarp>
          </a:bodyPr>
          <a:lstStyle/>
          <a:p>
            <a:endParaRPr lang="ja-JP" altLang="en-US" smtClean="0"/>
          </a:p>
        </p:txBody>
      </p:sp>
      <p:sp>
        <p:nvSpPr>
          <p:cNvPr id="4" name="スライド番号プレースホルダ 3"/>
          <p:cNvSpPr>
            <a:spLocks noGrp="1"/>
          </p:cNvSpPr>
          <p:nvPr>
            <p:ph type="sldNum" sz="quarter" idx="5"/>
          </p:nvPr>
        </p:nvSpPr>
        <p:spPr/>
        <p:txBody>
          <a:bodyPr/>
          <a:lstStyle/>
          <a:p>
            <a:pPr>
              <a:defRPr/>
            </a:pPr>
            <a:fld id="{4245ED41-04EC-42FE-82B3-982AAE756A7C}" type="slidenum">
              <a:rPr lang="ja-JP" altLang="en-US" smtClean="0"/>
              <a:pPr>
                <a:defRPr/>
              </a:pPr>
              <a:t>1</a:t>
            </a:fld>
            <a:endParaRPr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FBD28F37-0C9E-4C97-A71B-C9A25C7DE99E}" type="slidenum">
              <a:rPr kumimoji="1" lang="ja-JP" altLang="en-US" smtClean="0"/>
              <a:pPr/>
              <a:t>2</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FBD28F37-0C9E-4C97-A71B-C9A25C7DE99E}" type="slidenum">
              <a:rPr kumimoji="1" lang="ja-JP" altLang="en-US" smtClean="0"/>
              <a:pPr/>
              <a:t>3</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FBD28F37-0C9E-4C97-A71B-C9A25C7DE99E}" type="slidenum">
              <a:rPr kumimoji="1" lang="ja-JP" altLang="en-US" smtClean="0"/>
              <a:pPr/>
              <a:t>4</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FBD28F37-0C9E-4C97-A71B-C9A25C7DE99E}" type="slidenum">
              <a:rPr kumimoji="1" lang="ja-JP" altLang="en-US" smtClean="0"/>
              <a:pPr/>
              <a:t>5</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FBD28F37-0C9E-4C97-A71B-C9A25C7DE99E}" type="slidenum">
              <a:rPr kumimoji="1" lang="ja-JP" altLang="en-US" smtClean="0"/>
              <a:pPr/>
              <a:t>6</a:t>
            </a:fld>
            <a:endParaRPr kumimoji="1" lang="ja-JP"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スライド イメージ プレースホルダ 1"/>
          <p:cNvSpPr>
            <a:spLocks noGrp="1" noRot="1" noChangeAspect="1" noTextEdit="1"/>
          </p:cNvSpPr>
          <p:nvPr>
            <p:ph type="sldImg"/>
          </p:nvPr>
        </p:nvSpPr>
        <p:spPr bwMode="auto">
          <a:noFill/>
          <a:ln>
            <a:solidFill>
              <a:srgbClr val="000000"/>
            </a:solidFill>
            <a:miter lim="800000"/>
            <a:headEnd/>
            <a:tailEnd/>
          </a:ln>
        </p:spPr>
      </p:sp>
      <p:sp>
        <p:nvSpPr>
          <p:cNvPr id="54275" name="ノート プレースホルダ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ja-JP" altLang="en-US" smtClean="0"/>
          </a:p>
        </p:txBody>
      </p:sp>
      <p:sp>
        <p:nvSpPr>
          <p:cNvPr id="59396" name="スライド番号プレースホルダ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E3F4BF0-BC96-4DAE-83F5-5BC5C0859574}" type="slidenum">
              <a:rPr lang="ja-JP" altLang="en-US" smtClean="0"/>
              <a:pPr fontAlgn="base">
                <a:spcBef>
                  <a:spcPct val="0"/>
                </a:spcBef>
                <a:spcAft>
                  <a:spcPct val="0"/>
                </a:spcAft>
                <a:defRPr/>
              </a:pPr>
              <a:t>7</a:t>
            </a:fld>
            <a:endParaRPr lang="ja-JP"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FBD28F37-0C9E-4C97-A71B-C9A25C7DE99E}" type="slidenum">
              <a:rPr kumimoji="1" lang="ja-JP" altLang="en-US" smtClean="0"/>
              <a:pPr/>
              <a:t>8</a:t>
            </a:fld>
            <a:endParaRPr kumimoji="1" lang="ja-JP"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FBD28F37-0C9E-4C97-A71B-C9A25C7DE99E}" type="slidenum">
              <a:rPr kumimoji="1" lang="ja-JP" altLang="en-US" smtClean="0"/>
              <a:pPr/>
              <a:t>9</a:t>
            </a:fld>
            <a:endParaRPr kumimoji="1"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FBD28F37-0C9E-4C97-A71B-C9A25C7DE99E}" type="slidenum">
              <a:rPr kumimoji="1" lang="ja-JP" altLang="en-US" smtClean="0"/>
              <a:pPr/>
              <a:t>10</a:t>
            </a:fld>
            <a:endParaRPr kumimoji="1" lang="ja-JP"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スライド番号プレースホルダ 3"/>
          <p:cNvSpPr>
            <a:spLocks noGrp="1"/>
          </p:cNvSpPr>
          <p:nvPr>
            <p:ph type="sldNum" sz="quarter" idx="10"/>
          </p:nvPr>
        </p:nvSpPr>
        <p:spPr/>
        <p:txBody>
          <a:bodyPr/>
          <a:lstStyle/>
          <a:p>
            <a:fld id="{FBD28F37-0C9E-4C97-A71B-C9A25C7DE99E}" type="slidenum">
              <a:rPr kumimoji="1" lang="ja-JP" altLang="en-US" smtClean="0"/>
              <a:pPr/>
              <a:t>11</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189500" y="2643183"/>
            <a:ext cx="7527000" cy="720000"/>
          </a:xfrm>
          <a:noFill/>
          <a:ln>
            <a:noFill/>
          </a:ln>
        </p:spPr>
        <p:txBody>
          <a:bodyPr>
            <a:normAutofit/>
          </a:bodyPr>
          <a:lstStyle>
            <a:lvl1pPr algn="ctr">
              <a:defRPr sz="2400" b="0" baseline="0">
                <a:solidFill>
                  <a:sysClr val="windowText" lastClr="000000"/>
                </a:solidFill>
                <a:latin typeface="+mn-lt"/>
                <a:ea typeface="+mn-ea"/>
              </a:defRPr>
            </a:lvl1pPr>
          </a:lstStyle>
          <a:p>
            <a:r>
              <a:rPr kumimoji="1" lang="ja-JP" altLang="en-US" dirty="0" smtClean="0"/>
              <a:t>タイトル</a:t>
            </a:r>
            <a:endParaRPr kumimoji="1" lang="ja-JP" altLang="en-US" dirty="0"/>
          </a:p>
        </p:txBody>
      </p:sp>
      <p:sp>
        <p:nvSpPr>
          <p:cNvPr id="7" name="角丸四角形 6"/>
          <p:cNvSpPr/>
          <p:nvPr/>
        </p:nvSpPr>
        <p:spPr>
          <a:xfrm>
            <a:off x="1189500" y="3402000"/>
            <a:ext cx="7527000" cy="54000"/>
          </a:xfrm>
          <a:prstGeom prst="roundRect">
            <a:avLst>
              <a:gd name="adj" fmla="val 49230"/>
            </a:avLst>
          </a:prstGeom>
          <a:solidFill>
            <a:srgbClr val="FF6600"/>
          </a:solidFill>
          <a:ln w="12700">
            <a:solidFill>
              <a:srgbClr val="FF66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8D3F"/>
              </a:solidFill>
            </a:endParaRPr>
          </a:p>
        </p:txBody>
      </p:sp>
      <p:sp>
        <p:nvSpPr>
          <p:cNvPr id="3" name="サブタイトル 2"/>
          <p:cNvSpPr>
            <a:spLocks noGrp="1"/>
          </p:cNvSpPr>
          <p:nvPr>
            <p:ph type="subTitle" idx="1" hasCustomPrompt="1"/>
          </p:nvPr>
        </p:nvSpPr>
        <p:spPr>
          <a:xfrm>
            <a:off x="1189500" y="3571876"/>
            <a:ext cx="7527000" cy="1512000"/>
          </a:xfrm>
          <a:noFill/>
          <a:ln>
            <a:noFill/>
          </a:ln>
        </p:spPr>
        <p:txBody>
          <a:bodyPr anchor="t">
            <a:noAutofit/>
          </a:bodyPr>
          <a:lstStyle>
            <a:lvl1pPr marL="0" indent="0" algn="ctr" eaLnBrk="1" hangingPunct="1">
              <a:buNone/>
              <a:defRPr sz="2000" b="0">
                <a:solidFill>
                  <a:schemeClr val="tx1"/>
                </a:solidFill>
                <a:latin typeface="+mn-lt"/>
                <a:ea typeface="+mj-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eaLnBrk="1" hangingPunct="1"/>
            <a:r>
              <a:rPr lang="en-US" altLang="ja-JP" dirty="0" smtClean="0"/>
              <a:t>×× ××</a:t>
            </a:r>
            <a:r>
              <a:rPr lang="ja-JP" altLang="en-US" dirty="0" smtClean="0"/>
              <a:t>年</a:t>
            </a:r>
            <a:r>
              <a:rPr lang="en-US" altLang="ja-JP" dirty="0" smtClean="0"/>
              <a:t>××</a:t>
            </a:r>
            <a:r>
              <a:rPr lang="ja-JP" altLang="en-US" dirty="0" smtClean="0"/>
              <a:t>月</a:t>
            </a:r>
            <a:r>
              <a:rPr lang="en-US" altLang="ja-JP" dirty="0" smtClean="0"/>
              <a:t>××</a:t>
            </a:r>
            <a:r>
              <a:rPr lang="ja-JP" altLang="en-US" dirty="0" smtClean="0"/>
              <a:t>日</a:t>
            </a:r>
          </a:p>
          <a:p>
            <a:pPr eaLnBrk="1" hangingPunct="1"/>
            <a:r>
              <a:rPr lang="ja-JP" altLang="en-US" dirty="0" smtClean="0"/>
              <a:t>株式会社エス・エム・エス</a:t>
            </a:r>
            <a:endParaRPr lang="en-US" altLang="ja-JP" dirty="0" smtClean="0"/>
          </a:p>
          <a:p>
            <a:pPr eaLnBrk="1" hangingPunct="1"/>
            <a:r>
              <a:rPr lang="ja-JP" altLang="en-US" dirty="0" smtClean="0"/>
              <a:t>役職</a:t>
            </a:r>
          </a:p>
          <a:p>
            <a:pPr eaLnBrk="1" hangingPunct="1"/>
            <a:r>
              <a:rPr lang="ja-JP" altLang="en-US" dirty="0" smtClean="0"/>
              <a:t>氏名</a:t>
            </a:r>
          </a:p>
        </p:txBody>
      </p:sp>
      <p:pic>
        <p:nvPicPr>
          <p:cNvPr id="10" name="Picture 11"/>
          <p:cNvPicPr>
            <a:picLocks noChangeAspect="1" noChangeArrowheads="1"/>
          </p:cNvPicPr>
          <p:nvPr/>
        </p:nvPicPr>
        <p:blipFill>
          <a:blip r:embed="rId2" cstate="print"/>
          <a:srcRect/>
          <a:stretch>
            <a:fillRect/>
          </a:stretch>
        </p:blipFill>
        <p:spPr bwMode="auto">
          <a:xfrm>
            <a:off x="6242120" y="5229200"/>
            <a:ext cx="3204000" cy="1061722"/>
          </a:xfrm>
          <a:prstGeom prst="rect">
            <a:avLst/>
          </a:prstGeom>
          <a:noFill/>
          <a:ln w="9525" algn="ctr">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90663" y="140225"/>
            <a:ext cx="8463000" cy="432000"/>
          </a:xfrm>
          <a:noFill/>
          <a:ln>
            <a:noFill/>
          </a:ln>
        </p:spPr>
        <p:txBody>
          <a:bodyPr>
            <a:noAutofit/>
          </a:bodyPr>
          <a:lstStyle>
            <a:lvl1pPr algn="l">
              <a:defRPr sz="1800" b="1">
                <a:solidFill>
                  <a:sysClr val="windowText" lastClr="000000"/>
                </a:solidFill>
                <a:latin typeface="+mn-lt"/>
                <a:ea typeface="+mn-ea"/>
              </a:defRPr>
            </a:lvl1pPr>
          </a:lstStyle>
          <a:p>
            <a:r>
              <a:rPr kumimoji="1" lang="ja-JP" altLang="en-US" smtClean="0"/>
              <a:t>マスタ タイトルの書式設定</a:t>
            </a:r>
            <a:endParaRPr kumimoji="1" lang="ja-JP" altLang="en-US" dirty="0"/>
          </a:p>
        </p:txBody>
      </p:sp>
      <p:cxnSp>
        <p:nvCxnSpPr>
          <p:cNvPr id="8" name="直線コネクタ 7"/>
          <p:cNvCxnSpPr/>
          <p:nvPr/>
        </p:nvCxnSpPr>
        <p:spPr>
          <a:xfrm>
            <a:off x="0" y="605341"/>
            <a:ext cx="9906000" cy="1588"/>
          </a:xfrm>
          <a:prstGeom prst="line">
            <a:avLst/>
          </a:prstGeom>
          <a:ln w="28575">
            <a:solidFill>
              <a:srgbClr val="FF6600"/>
            </a:solidFill>
            <a:prstDash val="solid"/>
          </a:ln>
          <a:effectLst/>
        </p:spPr>
        <p:style>
          <a:lnRef idx="1">
            <a:schemeClr val="accent1"/>
          </a:lnRef>
          <a:fillRef idx="0">
            <a:schemeClr val="accent1"/>
          </a:fillRef>
          <a:effectRef idx="0">
            <a:schemeClr val="accent1"/>
          </a:effectRef>
          <a:fontRef idx="minor">
            <a:schemeClr val="tx1"/>
          </a:fontRef>
        </p:style>
      </p:cxnSp>
      <p:sp>
        <p:nvSpPr>
          <p:cNvPr id="9" name="正方形/長方形 8"/>
          <p:cNvSpPr/>
          <p:nvPr/>
        </p:nvSpPr>
        <p:spPr>
          <a:xfrm>
            <a:off x="0" y="6714000"/>
            <a:ext cx="9906000" cy="14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ja-JP" sz="1000" b="1" dirty="0" smtClean="0">
                <a:solidFill>
                  <a:srgbClr val="FF8D3F"/>
                </a:solidFill>
              </a:rPr>
              <a:t>@Copyright</a:t>
            </a:r>
            <a:r>
              <a:rPr lang="en-US" altLang="ja-JP" sz="1000" b="1" baseline="0" dirty="0" smtClean="0">
                <a:solidFill>
                  <a:srgbClr val="FF8D3F"/>
                </a:solidFill>
              </a:rPr>
              <a:t> SMS </a:t>
            </a:r>
            <a:r>
              <a:rPr lang="en-US" altLang="ja-JP" sz="1000" b="1" baseline="0" dirty="0" err="1" smtClean="0">
                <a:solidFill>
                  <a:srgbClr val="FF8D3F"/>
                </a:solidFill>
              </a:rPr>
              <a:t>Co.,Ltd</a:t>
            </a:r>
            <a:r>
              <a:rPr lang="en-US" altLang="ja-JP" sz="1000" b="1" baseline="0" dirty="0" smtClean="0">
                <a:solidFill>
                  <a:srgbClr val="FF8D3F"/>
                </a:solidFill>
              </a:rPr>
              <a:t>.</a:t>
            </a:r>
            <a:endParaRPr lang="ja-JP" altLang="en-US" sz="1000" b="1" dirty="0" smtClean="0">
              <a:solidFill>
                <a:srgbClr val="FF8D3F"/>
              </a:solidFill>
            </a:endParaRPr>
          </a:p>
        </p:txBody>
      </p:sp>
      <p:sp>
        <p:nvSpPr>
          <p:cNvPr id="6" name="スライド番号プレースホルダ 5"/>
          <p:cNvSpPr>
            <a:spLocks noGrp="1"/>
          </p:cNvSpPr>
          <p:nvPr>
            <p:ph type="sldNum" sz="quarter" idx="4"/>
          </p:nvPr>
        </p:nvSpPr>
        <p:spPr>
          <a:xfrm>
            <a:off x="9321001" y="6714000"/>
            <a:ext cx="585000" cy="144000"/>
          </a:xfrm>
          <a:prstGeom prst="rect">
            <a:avLst/>
          </a:prstGeom>
        </p:spPr>
        <p:txBody>
          <a:bodyPr vert="horz" lIns="91440" tIns="45720" rIns="91440" bIns="45720" rtlCol="0" anchor="ctr"/>
          <a:lstStyle>
            <a:lvl1pPr algn="r">
              <a:defRPr sz="1000" b="1">
                <a:solidFill>
                  <a:schemeClr val="bg1">
                    <a:lumMod val="50000"/>
                  </a:schemeClr>
                </a:solidFill>
              </a:defRPr>
            </a:lvl1pPr>
          </a:lstStyle>
          <a:p>
            <a:fld id="{740D7FD4-7822-4578-8B62-36F67199AFDC}" type="slidenum">
              <a:rPr kumimoji="1" lang="ja-JP" altLang="en-US" smtClean="0"/>
              <a:pPr/>
              <a:t>‹#›</a:t>
            </a:fld>
            <a:endParaRPr kumimoji="1" lang="ja-JP" altLang="en-US"/>
          </a:p>
        </p:txBody>
      </p:sp>
      <p:pic>
        <p:nvPicPr>
          <p:cNvPr id="10" name="Picture 11"/>
          <p:cNvPicPr>
            <a:picLocks noChangeAspect="1" noChangeArrowheads="1"/>
          </p:cNvPicPr>
          <p:nvPr/>
        </p:nvPicPr>
        <p:blipFill>
          <a:blip r:embed="rId2" cstate="print"/>
          <a:srcRect/>
          <a:stretch>
            <a:fillRect/>
          </a:stretch>
        </p:blipFill>
        <p:spPr bwMode="auto">
          <a:xfrm>
            <a:off x="8590391" y="158225"/>
            <a:ext cx="1195030" cy="396000"/>
          </a:xfrm>
          <a:prstGeom prst="rect">
            <a:avLst/>
          </a:prstGeom>
          <a:noFill/>
          <a:ln w="9525" algn="ctr">
            <a:noFill/>
            <a:miter lim="800000"/>
            <a:headEnd/>
            <a:tailEnd/>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506" y="4406908"/>
            <a:ext cx="84201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740D7FD4-7822-4578-8B62-36F67199AFD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5" y="273054"/>
            <a:ext cx="3259006" cy="1162051"/>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872972" y="273057"/>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95305" y="1435103"/>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740D7FD4-7822-4578-8B62-36F67199AFD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645" y="4800605"/>
            <a:ext cx="5943600" cy="566739"/>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smtClean="0"/>
              <a:t>アイコンをクリックして図を追加</a:t>
            </a:r>
            <a:endParaRPr kumimoji="1" lang="ja-JP" altLang="en-US"/>
          </a:p>
        </p:txBody>
      </p:sp>
      <p:sp>
        <p:nvSpPr>
          <p:cNvPr id="4" name="テキスト プレースホルダ 3"/>
          <p:cNvSpPr>
            <a:spLocks noGrp="1"/>
          </p:cNvSpPr>
          <p:nvPr>
            <p:ph type="body" sz="half" idx="2"/>
          </p:nvPr>
        </p:nvSpPr>
        <p:spPr>
          <a:xfrm>
            <a:off x="1941645" y="5367343"/>
            <a:ext cx="59436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740D7FD4-7822-4578-8B62-36F67199AFD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740D7FD4-7822-4578-8B62-36F67199AFD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181850" y="274643"/>
            <a:ext cx="222885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95300" y="274643"/>
            <a:ext cx="652145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740D7FD4-7822-4578-8B62-36F67199AFD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95300" y="274637"/>
            <a:ext cx="89154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95300" y="1600206"/>
            <a:ext cx="89154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95300" y="6356357"/>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ja-JP" altLang="en-US"/>
          </a:p>
        </p:txBody>
      </p:sp>
      <p:sp>
        <p:nvSpPr>
          <p:cNvPr id="5" name="フッター プレースホルダ 4"/>
          <p:cNvSpPr>
            <a:spLocks noGrp="1"/>
          </p:cNvSpPr>
          <p:nvPr>
            <p:ph type="ftr" sz="quarter" idx="3"/>
          </p:nvPr>
        </p:nvSpPr>
        <p:spPr>
          <a:xfrm>
            <a:off x="3384550" y="6356357"/>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7099300" y="6356357"/>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0D7FD4-7822-4578-8B62-36F67199AFD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mailto:Shizue-kudo@bm-sms.co.jp"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189038" y="2643188"/>
            <a:ext cx="7527925" cy="720725"/>
          </a:xfrm>
        </p:spPr>
        <p:txBody>
          <a:bodyPr rtlCol="0"/>
          <a:lstStyle/>
          <a:p>
            <a:pPr eaLnBrk="1" fontAlgn="auto" hangingPunct="1">
              <a:spcAft>
                <a:spcPts val="0"/>
              </a:spcAft>
              <a:defRPr/>
            </a:pPr>
            <a:r>
              <a:rPr lang="ja-JP" altLang="en-US" dirty="0" smtClean="0"/>
              <a:t>内定から入職までのご案内</a:t>
            </a:r>
            <a:endParaRPr lang="ja-JP" altLang="en-US" dirty="0"/>
          </a:p>
        </p:txBody>
      </p:sp>
      <p:sp>
        <p:nvSpPr>
          <p:cNvPr id="3" name="サブタイトル 2"/>
          <p:cNvSpPr>
            <a:spLocks noGrp="1"/>
          </p:cNvSpPr>
          <p:nvPr>
            <p:ph type="subTitle" idx="1"/>
          </p:nvPr>
        </p:nvSpPr>
        <p:spPr>
          <a:xfrm>
            <a:off x="1189038" y="3571875"/>
            <a:ext cx="7527925" cy="1152525"/>
          </a:xfrm>
        </p:spPr>
        <p:txBody>
          <a:bodyPr rtlCol="0"/>
          <a:lstStyle/>
          <a:p>
            <a:r>
              <a:rPr lang="ja-JP" altLang="en-US" dirty="0" smtClean="0"/>
              <a:t>株式会社エス･エム･エス</a:t>
            </a:r>
            <a:endParaRPr lang="en-US" altLang="ja-JP" dirty="0" smtClean="0"/>
          </a:p>
          <a:p>
            <a:r>
              <a:rPr lang="ja-JP" altLang="en-US" dirty="0" smtClean="0"/>
              <a:t>メディアセールス部</a:t>
            </a:r>
            <a:endParaRPr lang="en-US" altLang="ja-JP" dirty="0" smtClean="0"/>
          </a:p>
          <a:p>
            <a:r>
              <a:rPr lang="ja-JP" altLang="en-US" dirty="0" smtClean="0"/>
              <a:t>ナース人材グループ</a:t>
            </a:r>
            <a:endParaRPr lang="ja-JP" altLang="en-US" sz="1600" dirty="0"/>
          </a:p>
        </p:txBody>
      </p:sp>
      <p:pic>
        <p:nvPicPr>
          <p:cNvPr id="6" name="Picture 2" descr="C:\Documents and Settings\naoya-yamaguchi\My Documents\SMSロゴ\NJB\jpg\logo_njb.jpg"/>
          <p:cNvPicPr>
            <a:picLocks noChangeAspect="1" noChangeArrowheads="1"/>
          </p:cNvPicPr>
          <p:nvPr/>
        </p:nvPicPr>
        <p:blipFill>
          <a:blip r:embed="rId3" cstate="print"/>
          <a:srcRect/>
          <a:stretch>
            <a:fillRect/>
          </a:stretch>
        </p:blipFill>
        <p:spPr bwMode="auto">
          <a:xfrm>
            <a:off x="1136576" y="764707"/>
            <a:ext cx="3210884" cy="360037"/>
          </a:xfrm>
          <a:prstGeom prst="rect">
            <a:avLst/>
          </a:prstGeom>
          <a:noFill/>
        </p:spPr>
      </p:pic>
      <p:sp>
        <p:nvSpPr>
          <p:cNvPr id="7" name="正方形/長方形 6"/>
          <p:cNvSpPr/>
          <p:nvPr/>
        </p:nvSpPr>
        <p:spPr>
          <a:xfrm>
            <a:off x="1223013" y="1196752"/>
            <a:ext cx="3038011" cy="276999"/>
          </a:xfrm>
          <a:prstGeom prst="rect">
            <a:avLst/>
          </a:prstGeom>
        </p:spPr>
        <p:txBody>
          <a:bodyPr wrap="none">
            <a:spAutoFit/>
          </a:bodyPr>
          <a:lstStyle/>
          <a:p>
            <a:r>
              <a:rPr lang="ja-JP" altLang="en-US" sz="1200" dirty="0" smtClean="0"/>
              <a:t>（厚生労働大臣許可番号：</a:t>
            </a:r>
            <a:r>
              <a:rPr lang="en-US" altLang="ja-JP" sz="1200" dirty="0" smtClean="0"/>
              <a:t>13</a:t>
            </a:r>
            <a:r>
              <a:rPr lang="ja-JP" altLang="en-US" sz="1200" dirty="0" smtClean="0"/>
              <a:t>－ユ－</a:t>
            </a:r>
            <a:r>
              <a:rPr lang="en-US" altLang="ja-JP" sz="1200" dirty="0" smtClean="0"/>
              <a:t>190019</a:t>
            </a:r>
            <a:r>
              <a:rPr lang="ja-JP" altLang="en-US" sz="1200" dirty="0" smtClean="0"/>
              <a:t>）</a:t>
            </a:r>
            <a:endParaRPr lang="ja-JP" altLang="en-US" sz="1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0488" y="139700"/>
            <a:ext cx="8462962" cy="431800"/>
          </a:xfrm>
        </p:spPr>
        <p:txBody>
          <a:bodyPr rtlCol="0"/>
          <a:lstStyle/>
          <a:p>
            <a:pPr eaLnBrk="1" fontAlgn="auto" hangingPunct="1">
              <a:spcAft>
                <a:spcPts val="0"/>
              </a:spcAft>
              <a:defRPr/>
            </a:pPr>
            <a:r>
              <a:rPr lang="ja-JP" altLang="en-US" dirty="0" smtClean="0"/>
              <a:t>目次</a:t>
            </a:r>
            <a:endParaRPr lang="ja-JP" altLang="en-US" dirty="0"/>
          </a:p>
        </p:txBody>
      </p:sp>
      <p:sp>
        <p:nvSpPr>
          <p:cNvPr id="15" name="スライド番号プレースホルダ 14"/>
          <p:cNvSpPr>
            <a:spLocks noGrp="1"/>
          </p:cNvSpPr>
          <p:nvPr>
            <p:ph type="sldNum" sz="quarter" idx="4294967295"/>
          </p:nvPr>
        </p:nvSpPr>
        <p:spPr>
          <a:xfrm>
            <a:off x="9320213" y="6713538"/>
            <a:ext cx="585787" cy="144462"/>
          </a:xfrm>
          <a:prstGeom prst="rect">
            <a:avLst/>
          </a:prstGeom>
        </p:spPr>
        <p:txBody>
          <a:bodyPr/>
          <a:lstStyle/>
          <a:p>
            <a:pPr>
              <a:defRPr/>
            </a:pPr>
            <a:fld id="{B6783090-BD93-4168-9DFF-94E3E93D290D}" type="slidenum">
              <a:rPr lang="ja-JP" altLang="en-US" smtClean="0"/>
              <a:pPr>
                <a:defRPr/>
              </a:pPr>
              <a:t>2</a:t>
            </a:fld>
            <a:endParaRPr lang="ja-JP" altLang="en-US" dirty="0"/>
          </a:p>
        </p:txBody>
      </p:sp>
      <p:sp>
        <p:nvSpPr>
          <p:cNvPr id="16" name="テキスト ボックス 73"/>
          <p:cNvSpPr txBox="1">
            <a:spLocks noChangeArrowheads="1"/>
          </p:cNvSpPr>
          <p:nvPr/>
        </p:nvSpPr>
        <p:spPr bwMode="auto">
          <a:xfrm>
            <a:off x="272480" y="793735"/>
            <a:ext cx="8785225" cy="3693319"/>
          </a:xfrm>
          <a:prstGeom prst="rect">
            <a:avLst/>
          </a:prstGeom>
          <a:noFill/>
          <a:ln w="9525">
            <a:noFill/>
            <a:miter lim="800000"/>
            <a:headEnd/>
            <a:tailEnd/>
          </a:ln>
        </p:spPr>
        <p:txBody>
          <a:bodyPr>
            <a:spAutoFit/>
          </a:bodyPr>
          <a:lstStyle/>
          <a:p>
            <a:pPr marL="342900" indent="-342900">
              <a:buFont typeface="+mj-lt"/>
              <a:buAutoNum type="arabicPeriod"/>
            </a:pPr>
            <a:r>
              <a:rPr lang="ja-JP" altLang="en-US" dirty="0" smtClean="0"/>
              <a:t>はじめに</a:t>
            </a:r>
            <a:endParaRPr lang="en-US" altLang="ja-JP" dirty="0" smtClean="0"/>
          </a:p>
          <a:p>
            <a:pPr marL="342900" indent="-342900">
              <a:buFont typeface="+mj-lt"/>
              <a:buAutoNum type="arabicPeriod"/>
            </a:pPr>
            <a:endParaRPr lang="en-US" altLang="ja-JP" dirty="0" smtClean="0"/>
          </a:p>
          <a:p>
            <a:pPr marL="342900" indent="-342900">
              <a:buFont typeface="+mj-lt"/>
              <a:buAutoNum type="arabicPeriod"/>
            </a:pPr>
            <a:r>
              <a:rPr lang="ja-JP" altLang="en-US" dirty="0" smtClean="0"/>
              <a:t>内定から入職までの流れ</a:t>
            </a:r>
            <a:endParaRPr lang="en-US" altLang="ja-JP" dirty="0" smtClean="0"/>
          </a:p>
          <a:p>
            <a:pPr marL="342900" indent="-342900">
              <a:buFont typeface="+mj-lt"/>
              <a:buAutoNum type="arabicPeriod"/>
            </a:pPr>
            <a:endParaRPr lang="en-US" altLang="ja-JP" dirty="0" smtClean="0"/>
          </a:p>
          <a:p>
            <a:pPr marL="342900" indent="-342900">
              <a:buFont typeface="+mj-lt"/>
              <a:buAutoNum type="arabicPeriod"/>
            </a:pPr>
            <a:r>
              <a:rPr lang="ja-JP" altLang="en-US" dirty="0" smtClean="0"/>
              <a:t>各項目のチェックポイント</a:t>
            </a:r>
            <a:endParaRPr lang="en-US" altLang="ja-JP" dirty="0" smtClean="0"/>
          </a:p>
          <a:p>
            <a:pPr marL="342900" indent="-342900">
              <a:buFont typeface="+mj-lt"/>
              <a:buAutoNum type="arabicPeriod"/>
            </a:pPr>
            <a:endParaRPr lang="en-US" altLang="ja-JP" dirty="0" smtClean="0"/>
          </a:p>
          <a:p>
            <a:pPr marL="342900" indent="-342900">
              <a:buFont typeface="+mj-lt"/>
              <a:buAutoNum type="arabicPeriod"/>
            </a:pPr>
            <a:r>
              <a:rPr lang="ja-JP" altLang="en-US" dirty="0" smtClean="0"/>
              <a:t>退職手続き時のよくある事例</a:t>
            </a:r>
            <a:endParaRPr lang="en-US" altLang="ja-JP" dirty="0" smtClean="0"/>
          </a:p>
          <a:p>
            <a:pPr marL="342900" indent="-342900">
              <a:buFont typeface="+mj-lt"/>
              <a:buAutoNum type="arabicPeriod"/>
            </a:pPr>
            <a:endParaRPr lang="en-US" altLang="ja-JP" dirty="0" smtClean="0"/>
          </a:p>
          <a:p>
            <a:pPr marL="342900" indent="-342900">
              <a:buFont typeface="+mj-lt"/>
              <a:buAutoNum type="arabicPeriod"/>
            </a:pPr>
            <a:r>
              <a:rPr lang="ja-JP" altLang="en-US" dirty="0" smtClean="0"/>
              <a:t>退職届の書き方</a:t>
            </a:r>
            <a:endParaRPr lang="en-US" altLang="ja-JP" dirty="0" smtClean="0"/>
          </a:p>
          <a:p>
            <a:pPr marL="342900" indent="-342900">
              <a:buFont typeface="+mj-lt"/>
              <a:buAutoNum type="arabicPeriod"/>
            </a:pPr>
            <a:endParaRPr lang="en-US" altLang="ja-JP" dirty="0" smtClean="0"/>
          </a:p>
          <a:p>
            <a:pPr marL="342900" indent="-342900">
              <a:buFont typeface="+mj-lt"/>
              <a:buAutoNum type="arabicPeriod"/>
            </a:pPr>
            <a:r>
              <a:rPr lang="ja-JP" altLang="en-US" dirty="0" smtClean="0"/>
              <a:t>よくある質問</a:t>
            </a:r>
            <a:endParaRPr lang="en-US" altLang="ja-JP" dirty="0" smtClean="0"/>
          </a:p>
          <a:p>
            <a:pPr marL="342900" indent="-342900">
              <a:buFont typeface="+mj-lt"/>
              <a:buAutoNum type="arabicPeriod"/>
            </a:pPr>
            <a:endParaRPr lang="en-US" altLang="ja-JP" dirty="0" smtClean="0"/>
          </a:p>
          <a:p>
            <a:pPr marL="342900" indent="-342900">
              <a:buFont typeface="+mj-lt"/>
              <a:buAutoNum type="arabicPeriod"/>
            </a:pPr>
            <a:r>
              <a:rPr lang="ja-JP" altLang="en-US" dirty="0" smtClean="0"/>
              <a:t>困った時の連絡先</a:t>
            </a:r>
            <a:endParaRPr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0488" y="139700"/>
            <a:ext cx="8462962" cy="431800"/>
          </a:xfrm>
        </p:spPr>
        <p:txBody>
          <a:bodyPr rtlCol="0"/>
          <a:lstStyle/>
          <a:p>
            <a:pPr eaLnBrk="1" fontAlgn="auto" hangingPunct="1">
              <a:spcAft>
                <a:spcPts val="0"/>
              </a:spcAft>
              <a:defRPr/>
            </a:pPr>
            <a:r>
              <a:rPr lang="en-US" altLang="ja-JP" dirty="0" smtClean="0"/>
              <a:t>1.</a:t>
            </a:r>
            <a:r>
              <a:rPr lang="ja-JP" altLang="en-US" dirty="0" smtClean="0"/>
              <a:t> まずはじめに</a:t>
            </a:r>
            <a:endParaRPr lang="ja-JP" altLang="en-US" dirty="0"/>
          </a:p>
        </p:txBody>
      </p:sp>
      <p:sp>
        <p:nvSpPr>
          <p:cNvPr id="61" name="スライド番号プレースホルダ 60"/>
          <p:cNvSpPr>
            <a:spLocks noGrp="1"/>
          </p:cNvSpPr>
          <p:nvPr>
            <p:ph type="sldNum" sz="quarter" idx="4294967295"/>
          </p:nvPr>
        </p:nvSpPr>
        <p:spPr>
          <a:xfrm>
            <a:off x="9320213" y="6713538"/>
            <a:ext cx="585787" cy="144462"/>
          </a:xfrm>
          <a:prstGeom prst="rect">
            <a:avLst/>
          </a:prstGeom>
        </p:spPr>
        <p:txBody>
          <a:bodyPr/>
          <a:lstStyle/>
          <a:p>
            <a:pPr>
              <a:defRPr/>
            </a:pPr>
            <a:fld id="{8FCD17FF-02F3-4320-A764-D9F53919C7D9}" type="slidenum">
              <a:rPr lang="ja-JP" altLang="en-US" smtClean="0"/>
              <a:pPr>
                <a:defRPr/>
              </a:pPr>
              <a:t>3</a:t>
            </a:fld>
            <a:endParaRPr lang="ja-JP" altLang="en-US"/>
          </a:p>
        </p:txBody>
      </p:sp>
      <p:sp>
        <p:nvSpPr>
          <p:cNvPr id="7172" name="テキスト ボックス 61"/>
          <p:cNvSpPr txBox="1">
            <a:spLocks noChangeArrowheads="1"/>
          </p:cNvSpPr>
          <p:nvPr/>
        </p:nvSpPr>
        <p:spPr bwMode="auto">
          <a:xfrm>
            <a:off x="452438" y="1166843"/>
            <a:ext cx="9001125" cy="3785652"/>
          </a:xfrm>
          <a:prstGeom prst="rect">
            <a:avLst/>
          </a:prstGeom>
          <a:noFill/>
          <a:ln w="9525">
            <a:noFill/>
            <a:miter lim="800000"/>
            <a:headEnd/>
            <a:tailEnd/>
          </a:ln>
        </p:spPr>
        <p:txBody>
          <a:bodyPr>
            <a:spAutoFit/>
          </a:bodyPr>
          <a:lstStyle/>
          <a:p>
            <a:r>
              <a:rPr lang="ja-JP" altLang="en-US" sz="1600" dirty="0" smtClean="0"/>
              <a:t>ご内定</a:t>
            </a:r>
            <a:r>
              <a:rPr lang="ja-JP" altLang="en-US" sz="1600" dirty="0"/>
              <a:t>おめでとうございます</a:t>
            </a:r>
            <a:r>
              <a:rPr lang="ja-JP" altLang="en-US" sz="1600" dirty="0" smtClean="0"/>
              <a:t>！</a:t>
            </a:r>
            <a:endParaRPr lang="en-US" altLang="ja-JP" sz="1600" dirty="0" smtClean="0"/>
          </a:p>
          <a:p>
            <a:r>
              <a:rPr lang="ja-JP" altLang="en-US" sz="1600" dirty="0" smtClean="0"/>
              <a:t>この度、転職という大きな機会に、微力ではございますがお力になれたことを嬉しく思っております。</a:t>
            </a:r>
            <a:endParaRPr lang="ja-JP" altLang="en-US" sz="1600" dirty="0"/>
          </a:p>
          <a:p>
            <a:endParaRPr lang="en-US" altLang="ja-JP" sz="1600" dirty="0" smtClean="0"/>
          </a:p>
          <a:p>
            <a:r>
              <a:rPr lang="ja-JP" altLang="en-US" sz="1600" dirty="0" smtClean="0"/>
              <a:t>看護師のお仕事は、常に命に携わる現場で心身ともに非常に大変だと思います。</a:t>
            </a:r>
            <a:endParaRPr lang="en-US" altLang="ja-JP" sz="1600" dirty="0" smtClean="0"/>
          </a:p>
          <a:p>
            <a:r>
              <a:rPr lang="ja-JP" altLang="en-US" sz="1600" dirty="0" smtClean="0"/>
              <a:t>お身体にはくれぐれもお気をつけ下さい。</a:t>
            </a:r>
            <a:endParaRPr lang="en-US" altLang="ja-JP" sz="1600" dirty="0" smtClean="0"/>
          </a:p>
          <a:p>
            <a:r>
              <a:rPr lang="ja-JP" altLang="en-US" sz="1600" dirty="0" smtClean="0"/>
              <a:t>新しい職場でも更にご活躍されることを期待しております！</a:t>
            </a:r>
            <a:endParaRPr lang="en-US" altLang="ja-JP" sz="1600" dirty="0" smtClean="0"/>
          </a:p>
          <a:p>
            <a:endParaRPr lang="ja-JP" altLang="en-US" sz="1600" dirty="0"/>
          </a:p>
          <a:p>
            <a:r>
              <a:rPr lang="ja-JP" altLang="en-US" sz="1600" dirty="0"/>
              <a:t>さて、転職に</a:t>
            </a:r>
            <a:r>
              <a:rPr lang="ja-JP" altLang="en-US" sz="1600" dirty="0" smtClean="0"/>
              <a:t>おいて最後のステップが「退職手続き」となっております。</a:t>
            </a:r>
            <a:endParaRPr lang="en-US" altLang="ja-JP" sz="1600" dirty="0" smtClean="0"/>
          </a:p>
          <a:p>
            <a:r>
              <a:rPr lang="ja-JP" altLang="en-US" sz="1600" dirty="0" smtClean="0"/>
              <a:t>“内定から入職までの大まかな流れ”と“退職手続きにおけるチェックポイント”を記載しておりますので、ご参考にして頂ければ幸いです。</a:t>
            </a:r>
            <a:endParaRPr lang="en-US" altLang="ja-JP" sz="1600" dirty="0" smtClean="0"/>
          </a:p>
          <a:p>
            <a:endParaRPr lang="en-US" altLang="ja-JP" sz="1600" dirty="0" smtClean="0"/>
          </a:p>
          <a:p>
            <a:r>
              <a:rPr lang="ja-JP" altLang="en-US" sz="1600" dirty="0" smtClean="0"/>
              <a:t>但し、あくまでも記載内容は目安となっておりますので、記載の内容通りにいかなくても不安になる必要はございません。</a:t>
            </a:r>
            <a:endParaRPr lang="en-US" altLang="ja-JP" sz="1600" dirty="0" smtClean="0"/>
          </a:p>
          <a:p>
            <a:endParaRPr lang="en-US" altLang="ja-JP" sz="1600" dirty="0" smtClean="0"/>
          </a:p>
          <a:p>
            <a:r>
              <a:rPr lang="ja-JP" altLang="en-US" sz="1600" dirty="0" smtClean="0"/>
              <a:t>何か困ったときや不安などがあれば、いつでもお気軽にご相談下さい。</a:t>
            </a:r>
            <a:endParaRPr lang="en-US" altLang="ja-JP" sz="16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2.</a:t>
            </a:r>
            <a:r>
              <a:rPr lang="ja-JP" altLang="en-US" dirty="0" smtClean="0"/>
              <a:t> 内定から入職までの流れ</a:t>
            </a:r>
            <a:endParaRPr kumimoji="1" lang="ja-JP" altLang="en-US" dirty="0"/>
          </a:p>
        </p:txBody>
      </p:sp>
      <p:sp>
        <p:nvSpPr>
          <p:cNvPr id="3" name="スライド番号プレースホルダ 2"/>
          <p:cNvSpPr>
            <a:spLocks noGrp="1"/>
          </p:cNvSpPr>
          <p:nvPr>
            <p:ph type="sldNum" sz="quarter" idx="4"/>
          </p:nvPr>
        </p:nvSpPr>
        <p:spPr/>
        <p:txBody>
          <a:bodyPr/>
          <a:lstStyle/>
          <a:p>
            <a:fld id="{740D7FD4-7822-4578-8B62-36F67199AFDC}" type="slidenum">
              <a:rPr kumimoji="1" lang="ja-JP" altLang="en-US" smtClean="0"/>
              <a:pPr/>
              <a:t>4</a:t>
            </a:fld>
            <a:endParaRPr kumimoji="1" lang="ja-JP" altLang="en-US"/>
          </a:p>
        </p:txBody>
      </p:sp>
      <p:sp>
        <p:nvSpPr>
          <p:cNvPr id="4" name="正方形/長方形 3"/>
          <p:cNvSpPr/>
          <p:nvPr/>
        </p:nvSpPr>
        <p:spPr bwMode="auto">
          <a:xfrm>
            <a:off x="273000" y="736980"/>
            <a:ext cx="9360000" cy="684000"/>
          </a:xfrm>
          <a:prstGeom prst="rect">
            <a:avLst/>
          </a:prstGeom>
          <a:solidFill>
            <a:schemeClr val="bg1"/>
          </a:solidFill>
          <a:ln w="9525" cap="flat" cmpd="sng" algn="ctr">
            <a:solidFill>
              <a:srgbClr val="FF6600"/>
            </a:solidFill>
            <a:prstDash val="solid"/>
            <a:round/>
            <a:headEnd type="none" w="med" len="med"/>
            <a:tailEnd type="none" w="med" len="med"/>
          </a:ln>
          <a:effectLst>
            <a:outerShdw dist="50800" dir="2700000" algn="tl" rotWithShape="0">
              <a:srgbClr val="FF6600">
                <a:alpha val="40000"/>
              </a:srgbClr>
            </a:outerShdw>
          </a:effectLst>
        </p:spPr>
        <p:txBody>
          <a:bodyPr vert="horz" wrap="square" lIns="91440" tIns="72000" rIns="91440" bIns="72000" numCol="1" rtlCol="0" anchor="ctr" anchorCtr="0" compatLnSpc="1">
            <a:prstTxWarp prst="textNoShape">
              <a:avLst/>
            </a:prstTxWarp>
          </a:bodyPr>
          <a:lstStyle/>
          <a:p>
            <a:pPr fontAlgn="base">
              <a:spcBef>
                <a:spcPct val="0"/>
              </a:spcBef>
              <a:spcAft>
                <a:spcPct val="0"/>
              </a:spcAft>
            </a:pPr>
            <a:r>
              <a:rPr lang="ja-JP" altLang="en-US" sz="1600" dirty="0" smtClean="0">
                <a:ea typeface="ＭＳ Ｐゴシック" pitchFamily="50" charset="-128"/>
              </a:rPr>
              <a:t>内定後、まず入職日から逆算して退職手続きを開始し、入職前準備を進めて行くことが必要となります</a:t>
            </a:r>
            <a:endParaRPr lang="en-US" altLang="ja-JP" sz="1600" dirty="0" smtClean="0">
              <a:ea typeface="ＭＳ Ｐゴシック" pitchFamily="50" charset="-128"/>
            </a:endParaRPr>
          </a:p>
        </p:txBody>
      </p:sp>
      <p:sp>
        <p:nvSpPr>
          <p:cNvPr id="7" name="ホームベース 6"/>
          <p:cNvSpPr/>
          <p:nvPr/>
        </p:nvSpPr>
        <p:spPr>
          <a:xfrm>
            <a:off x="1244752" y="1599208"/>
            <a:ext cx="1620000" cy="720000"/>
          </a:xfrm>
          <a:prstGeom prst="homePlate">
            <a:avLst>
              <a:gd name="adj" fmla="val 36159"/>
            </a:avLst>
          </a:prstGeom>
          <a:solidFill>
            <a:schemeClr val="bg1"/>
          </a:solidFill>
          <a:ln w="12700">
            <a:solidFill>
              <a:schemeClr val="tx1">
                <a:lumMod val="50000"/>
                <a:lumOff val="50000"/>
              </a:schemeClr>
            </a:solidFill>
          </a:ln>
          <a:effectLst>
            <a:outerShdw dist="508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ja-JP" sz="1600" b="1" dirty="0" smtClean="0">
                <a:solidFill>
                  <a:schemeClr val="tx1"/>
                </a:solidFill>
                <a:latin typeface="+mj-lt"/>
                <a:ea typeface="+mj-ea"/>
              </a:rPr>
              <a:t>A.  </a:t>
            </a:r>
            <a:r>
              <a:rPr lang="ja-JP" altLang="en-US" sz="1600" b="1" dirty="0" smtClean="0">
                <a:solidFill>
                  <a:schemeClr val="tx1"/>
                </a:solidFill>
                <a:latin typeface="+mj-lt"/>
                <a:ea typeface="+mj-ea"/>
              </a:rPr>
              <a:t>内定</a:t>
            </a:r>
            <a:endParaRPr lang="en-US" altLang="ja-JP" sz="1600" b="1" dirty="0" smtClean="0">
              <a:solidFill>
                <a:schemeClr val="tx1"/>
              </a:solidFill>
              <a:latin typeface="+mj-lt"/>
              <a:ea typeface="+mj-ea"/>
            </a:endParaRPr>
          </a:p>
        </p:txBody>
      </p:sp>
      <p:sp>
        <p:nvSpPr>
          <p:cNvPr id="8" name="ホームベース 7"/>
          <p:cNvSpPr/>
          <p:nvPr/>
        </p:nvSpPr>
        <p:spPr>
          <a:xfrm>
            <a:off x="2936814" y="1599208"/>
            <a:ext cx="1620000" cy="720000"/>
          </a:xfrm>
          <a:prstGeom prst="homePlate">
            <a:avLst>
              <a:gd name="adj" fmla="val 36159"/>
            </a:avLst>
          </a:prstGeom>
          <a:solidFill>
            <a:schemeClr val="bg1"/>
          </a:solidFill>
          <a:ln w="12700">
            <a:solidFill>
              <a:schemeClr val="tx1">
                <a:lumMod val="50000"/>
                <a:lumOff val="50000"/>
              </a:schemeClr>
            </a:solidFill>
          </a:ln>
          <a:effectLst>
            <a:outerShdw dist="508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ja-JP" sz="1600" b="1" dirty="0" smtClean="0">
                <a:solidFill>
                  <a:schemeClr val="tx1"/>
                </a:solidFill>
              </a:rPr>
              <a:t>B. </a:t>
            </a:r>
            <a:r>
              <a:rPr lang="ja-JP" altLang="en-US" sz="1600" b="1" dirty="0" smtClean="0">
                <a:solidFill>
                  <a:schemeClr val="tx1"/>
                </a:solidFill>
                <a:latin typeface="+mj-lt"/>
                <a:ea typeface="+mj-ea"/>
              </a:rPr>
              <a:t>退職手続き</a:t>
            </a:r>
            <a:endParaRPr lang="en-US" altLang="ja-JP" sz="1600" b="1" dirty="0" smtClean="0">
              <a:solidFill>
                <a:schemeClr val="tx1"/>
              </a:solidFill>
              <a:latin typeface="+mj-lt"/>
              <a:ea typeface="+mj-ea"/>
            </a:endParaRPr>
          </a:p>
        </p:txBody>
      </p:sp>
      <p:sp>
        <p:nvSpPr>
          <p:cNvPr id="9" name="ホームベース 8"/>
          <p:cNvSpPr/>
          <p:nvPr/>
        </p:nvSpPr>
        <p:spPr>
          <a:xfrm>
            <a:off x="4628876" y="1599208"/>
            <a:ext cx="1620000" cy="720000"/>
          </a:xfrm>
          <a:prstGeom prst="homePlate">
            <a:avLst>
              <a:gd name="adj" fmla="val 36159"/>
            </a:avLst>
          </a:prstGeom>
          <a:solidFill>
            <a:schemeClr val="bg1"/>
          </a:solidFill>
          <a:ln w="12700">
            <a:solidFill>
              <a:schemeClr val="tx1">
                <a:lumMod val="50000"/>
                <a:lumOff val="50000"/>
              </a:schemeClr>
            </a:solidFill>
          </a:ln>
          <a:effectLst>
            <a:outerShdw dist="508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ja-JP" sz="1600" b="1" dirty="0" smtClean="0">
                <a:solidFill>
                  <a:schemeClr val="tx1"/>
                </a:solidFill>
              </a:rPr>
              <a:t>C. </a:t>
            </a:r>
            <a:r>
              <a:rPr lang="ja-JP" altLang="en-US" sz="1600" b="1" dirty="0" smtClean="0">
                <a:solidFill>
                  <a:schemeClr val="tx1"/>
                </a:solidFill>
                <a:latin typeface="+mj-lt"/>
                <a:ea typeface="+mj-ea"/>
              </a:rPr>
              <a:t>退職</a:t>
            </a:r>
            <a:endParaRPr lang="en-US" altLang="ja-JP" sz="1600" b="1" dirty="0" smtClean="0">
              <a:solidFill>
                <a:schemeClr val="tx1"/>
              </a:solidFill>
              <a:latin typeface="+mj-lt"/>
              <a:ea typeface="+mj-ea"/>
            </a:endParaRPr>
          </a:p>
        </p:txBody>
      </p:sp>
      <p:sp>
        <p:nvSpPr>
          <p:cNvPr id="10" name="ホームベース 9"/>
          <p:cNvSpPr/>
          <p:nvPr/>
        </p:nvSpPr>
        <p:spPr>
          <a:xfrm>
            <a:off x="6320938" y="1599208"/>
            <a:ext cx="1620000" cy="720000"/>
          </a:xfrm>
          <a:prstGeom prst="homePlate">
            <a:avLst>
              <a:gd name="adj" fmla="val 36159"/>
            </a:avLst>
          </a:prstGeom>
          <a:solidFill>
            <a:schemeClr val="bg1"/>
          </a:solidFill>
          <a:ln w="12700">
            <a:solidFill>
              <a:schemeClr val="tx1">
                <a:lumMod val="50000"/>
                <a:lumOff val="50000"/>
              </a:schemeClr>
            </a:solidFill>
          </a:ln>
          <a:effectLst>
            <a:outerShdw dist="508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ja-JP" sz="1600" b="1" dirty="0" smtClean="0">
                <a:solidFill>
                  <a:schemeClr val="tx1"/>
                </a:solidFill>
              </a:rPr>
              <a:t>D. </a:t>
            </a:r>
            <a:r>
              <a:rPr lang="ja-JP" altLang="en-US" sz="1600" b="1" dirty="0" smtClean="0">
                <a:solidFill>
                  <a:schemeClr val="tx1"/>
                </a:solidFill>
              </a:rPr>
              <a:t>入職前準備</a:t>
            </a:r>
            <a:endParaRPr lang="en-US" altLang="ja-JP" sz="1600" b="1" dirty="0" smtClean="0">
              <a:solidFill>
                <a:schemeClr val="tx1"/>
              </a:solidFill>
            </a:endParaRPr>
          </a:p>
        </p:txBody>
      </p:sp>
      <p:sp>
        <p:nvSpPr>
          <p:cNvPr id="11" name="ホームベース 10"/>
          <p:cNvSpPr/>
          <p:nvPr/>
        </p:nvSpPr>
        <p:spPr>
          <a:xfrm>
            <a:off x="8013000" y="1599208"/>
            <a:ext cx="1620000" cy="720000"/>
          </a:xfrm>
          <a:prstGeom prst="homePlate">
            <a:avLst>
              <a:gd name="adj" fmla="val 36159"/>
            </a:avLst>
          </a:prstGeom>
          <a:solidFill>
            <a:schemeClr val="bg1"/>
          </a:solidFill>
          <a:ln w="12700">
            <a:solidFill>
              <a:schemeClr val="tx1">
                <a:lumMod val="50000"/>
                <a:lumOff val="50000"/>
              </a:schemeClr>
            </a:solidFill>
          </a:ln>
          <a:effectLst>
            <a:outerShdw dist="508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ja-JP" sz="1600" b="1" dirty="0" smtClean="0">
                <a:solidFill>
                  <a:schemeClr val="tx1"/>
                </a:solidFill>
              </a:rPr>
              <a:t>E. </a:t>
            </a:r>
            <a:r>
              <a:rPr lang="ja-JP" altLang="en-US" sz="1600" b="1" dirty="0" smtClean="0">
                <a:solidFill>
                  <a:schemeClr val="tx1"/>
                </a:solidFill>
              </a:rPr>
              <a:t>入職</a:t>
            </a:r>
            <a:endParaRPr lang="en-US" altLang="ja-JP" sz="1600" b="1" dirty="0" smtClean="0">
              <a:solidFill>
                <a:schemeClr val="tx1"/>
              </a:solidFill>
            </a:endParaRPr>
          </a:p>
        </p:txBody>
      </p:sp>
      <p:cxnSp>
        <p:nvCxnSpPr>
          <p:cNvPr id="45" name="直線コネクタ 44"/>
          <p:cNvCxnSpPr/>
          <p:nvPr/>
        </p:nvCxnSpPr>
        <p:spPr>
          <a:xfrm>
            <a:off x="1244752" y="3087170"/>
            <a:ext cx="8352000"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線コネクタ 45"/>
          <p:cNvCxnSpPr/>
          <p:nvPr/>
        </p:nvCxnSpPr>
        <p:spPr>
          <a:xfrm>
            <a:off x="1244752" y="4972550"/>
            <a:ext cx="8352000"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37" name="グループ化 36"/>
          <p:cNvGrpSpPr/>
          <p:nvPr/>
        </p:nvGrpSpPr>
        <p:grpSpPr>
          <a:xfrm>
            <a:off x="272480" y="2450480"/>
            <a:ext cx="9324520" cy="576000"/>
            <a:chOff x="272480" y="2450480"/>
            <a:chExt cx="9324520" cy="504000"/>
          </a:xfrm>
        </p:grpSpPr>
        <p:sp>
          <p:nvSpPr>
            <p:cNvPr id="5" name="正方形/長方形 4"/>
            <p:cNvSpPr/>
            <p:nvPr/>
          </p:nvSpPr>
          <p:spPr>
            <a:xfrm>
              <a:off x="272480" y="2450480"/>
              <a:ext cx="936000" cy="504000"/>
            </a:xfrm>
            <a:prstGeom prst="rect">
              <a:avLst/>
            </a:prstGeom>
            <a:solidFill>
              <a:schemeClr val="bg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b="1" dirty="0" smtClean="0">
                  <a:solidFill>
                    <a:schemeClr val="tx1"/>
                  </a:solidFill>
                </a:rPr>
                <a:t>タイミング</a:t>
              </a:r>
              <a:endParaRPr kumimoji="1" lang="ja-JP" altLang="en-US" sz="1400" b="1" dirty="0">
                <a:solidFill>
                  <a:schemeClr val="tx1"/>
                </a:solidFill>
              </a:endParaRPr>
            </a:p>
          </p:txBody>
        </p:sp>
        <p:sp>
          <p:nvSpPr>
            <p:cNvPr id="13" name="正方形/長方形 12"/>
            <p:cNvSpPr/>
            <p:nvPr/>
          </p:nvSpPr>
          <p:spPr>
            <a:xfrm>
              <a:off x="1244752" y="2450480"/>
              <a:ext cx="1583952" cy="50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smtClean="0">
                  <a:solidFill>
                    <a:schemeClr val="tx1"/>
                  </a:solidFill>
                </a:rPr>
                <a:t>－</a:t>
              </a:r>
              <a:endParaRPr kumimoji="1" lang="ja-JP" altLang="en-US" sz="1400" dirty="0">
                <a:solidFill>
                  <a:schemeClr val="tx1"/>
                </a:solidFill>
              </a:endParaRPr>
            </a:p>
          </p:txBody>
        </p:sp>
        <p:sp>
          <p:nvSpPr>
            <p:cNvPr id="18" name="正方形/長方形 17"/>
            <p:cNvSpPr/>
            <p:nvPr/>
          </p:nvSpPr>
          <p:spPr>
            <a:xfrm>
              <a:off x="2936814" y="2450480"/>
              <a:ext cx="1583952" cy="50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dirty="0" smtClean="0">
                  <a:solidFill>
                    <a:schemeClr val="tx1"/>
                  </a:solidFill>
                </a:rPr>
                <a:t>入職予定日</a:t>
              </a:r>
              <a:endParaRPr lang="en-US" altLang="ja-JP" sz="1400" dirty="0" smtClean="0">
                <a:solidFill>
                  <a:schemeClr val="tx1"/>
                </a:solidFill>
              </a:endParaRPr>
            </a:p>
            <a:p>
              <a:pPr algn="ctr"/>
              <a:r>
                <a:rPr lang="en-US" altLang="ja-JP" sz="1400" dirty="0" smtClean="0">
                  <a:solidFill>
                    <a:schemeClr val="tx1"/>
                  </a:solidFill>
                </a:rPr>
                <a:t>6</a:t>
              </a:r>
              <a:r>
                <a:rPr kumimoji="1" lang="ja-JP" altLang="en-US" sz="1400" dirty="0" smtClean="0">
                  <a:solidFill>
                    <a:schemeClr val="tx1"/>
                  </a:solidFill>
                </a:rPr>
                <a:t>ヵ月～</a:t>
              </a:r>
              <a:r>
                <a:rPr kumimoji="1" lang="en-US" altLang="ja-JP" sz="1400" dirty="0" smtClean="0">
                  <a:solidFill>
                    <a:schemeClr val="tx1"/>
                  </a:solidFill>
                </a:rPr>
                <a:t>1</a:t>
              </a:r>
              <a:r>
                <a:rPr kumimoji="1" lang="ja-JP" altLang="en-US" sz="1400" dirty="0" smtClean="0">
                  <a:solidFill>
                    <a:schemeClr val="tx1"/>
                  </a:solidFill>
                </a:rPr>
                <a:t>ヵ月前</a:t>
              </a:r>
              <a:endParaRPr kumimoji="1" lang="ja-JP" altLang="en-US" sz="1400" dirty="0">
                <a:solidFill>
                  <a:schemeClr val="tx1"/>
                </a:solidFill>
              </a:endParaRPr>
            </a:p>
          </p:txBody>
        </p:sp>
        <p:sp>
          <p:nvSpPr>
            <p:cNvPr id="19" name="正方形/長方形 18"/>
            <p:cNvSpPr/>
            <p:nvPr/>
          </p:nvSpPr>
          <p:spPr>
            <a:xfrm>
              <a:off x="6320986" y="2450480"/>
              <a:ext cx="1583952" cy="50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dirty="0" smtClean="0">
                  <a:solidFill>
                    <a:schemeClr val="tx1"/>
                  </a:solidFill>
                </a:rPr>
                <a:t>入職予定日</a:t>
              </a:r>
              <a:endParaRPr lang="en-US" altLang="ja-JP" sz="1400" dirty="0" smtClean="0">
                <a:solidFill>
                  <a:schemeClr val="tx1"/>
                </a:solidFill>
              </a:endParaRPr>
            </a:p>
            <a:p>
              <a:pPr algn="ctr"/>
              <a:r>
                <a:rPr lang="en-US" altLang="ja-JP" sz="1400" dirty="0" smtClean="0">
                  <a:solidFill>
                    <a:schemeClr val="tx1"/>
                  </a:solidFill>
                </a:rPr>
                <a:t>1</a:t>
              </a:r>
              <a:r>
                <a:rPr lang="ja-JP" altLang="en-US" sz="1400" dirty="0" smtClean="0">
                  <a:solidFill>
                    <a:schemeClr val="tx1"/>
                  </a:solidFill>
                </a:rPr>
                <a:t>週間前</a:t>
              </a:r>
              <a:endParaRPr lang="ja-JP" altLang="en-US" sz="1400" dirty="0">
                <a:solidFill>
                  <a:schemeClr val="tx1"/>
                </a:solidFill>
              </a:endParaRPr>
            </a:p>
          </p:txBody>
        </p:sp>
        <p:sp>
          <p:nvSpPr>
            <p:cNvPr id="20" name="正方形/長方形 19"/>
            <p:cNvSpPr/>
            <p:nvPr/>
          </p:nvSpPr>
          <p:spPr>
            <a:xfrm>
              <a:off x="8013048" y="2450480"/>
              <a:ext cx="1583952" cy="50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dirty="0" smtClean="0">
                  <a:solidFill>
                    <a:schemeClr val="tx1"/>
                  </a:solidFill>
                </a:rPr>
                <a:t>入職予定日</a:t>
              </a:r>
              <a:endParaRPr lang="en-US" altLang="ja-JP" sz="1400" dirty="0" smtClean="0">
                <a:solidFill>
                  <a:schemeClr val="tx1"/>
                </a:solidFill>
              </a:endParaRPr>
            </a:p>
          </p:txBody>
        </p:sp>
        <p:sp>
          <p:nvSpPr>
            <p:cNvPr id="60" name="正方形/長方形 59"/>
            <p:cNvSpPr/>
            <p:nvPr/>
          </p:nvSpPr>
          <p:spPr>
            <a:xfrm>
              <a:off x="4628876" y="2450480"/>
              <a:ext cx="1583952" cy="50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dirty="0" smtClean="0">
                  <a:solidFill>
                    <a:schemeClr val="tx1"/>
                  </a:solidFill>
                </a:rPr>
                <a:t>入職予定日</a:t>
              </a:r>
              <a:endParaRPr lang="en-US" altLang="ja-JP" sz="1400" dirty="0" smtClean="0">
                <a:solidFill>
                  <a:schemeClr val="tx1"/>
                </a:solidFill>
              </a:endParaRPr>
            </a:p>
            <a:p>
              <a:pPr algn="ctr"/>
              <a:r>
                <a:rPr kumimoji="1" lang="en-US" altLang="ja-JP" sz="1400" dirty="0" smtClean="0">
                  <a:solidFill>
                    <a:schemeClr val="tx1"/>
                  </a:solidFill>
                </a:rPr>
                <a:t>1</a:t>
              </a:r>
              <a:r>
                <a:rPr kumimoji="1" lang="ja-JP" altLang="en-US" sz="1400" dirty="0" smtClean="0">
                  <a:solidFill>
                    <a:schemeClr val="tx1"/>
                  </a:solidFill>
                </a:rPr>
                <a:t>ヵ月</a:t>
              </a:r>
              <a:r>
                <a:rPr lang="ja-JP" altLang="en-US" sz="1400" dirty="0" smtClean="0">
                  <a:solidFill>
                    <a:schemeClr val="tx1"/>
                  </a:solidFill>
                </a:rPr>
                <a:t>～</a:t>
              </a:r>
              <a:r>
                <a:rPr lang="en-US" altLang="ja-JP" sz="1400" dirty="0" smtClean="0">
                  <a:solidFill>
                    <a:schemeClr val="tx1"/>
                  </a:solidFill>
                </a:rPr>
                <a:t>1</a:t>
              </a:r>
              <a:r>
                <a:rPr lang="ja-JP" altLang="en-US" sz="1400" dirty="0" smtClean="0">
                  <a:solidFill>
                    <a:schemeClr val="tx1"/>
                  </a:solidFill>
                </a:rPr>
                <a:t>週</a:t>
              </a:r>
              <a:r>
                <a:rPr kumimoji="1" lang="ja-JP" altLang="en-US" sz="1400" dirty="0" smtClean="0">
                  <a:solidFill>
                    <a:schemeClr val="tx1"/>
                  </a:solidFill>
                </a:rPr>
                <a:t>間前</a:t>
              </a:r>
              <a:endParaRPr kumimoji="1" lang="ja-JP" altLang="en-US" sz="1400" dirty="0">
                <a:solidFill>
                  <a:schemeClr val="tx1"/>
                </a:solidFill>
              </a:endParaRPr>
            </a:p>
          </p:txBody>
        </p:sp>
      </p:grpSp>
      <p:grpSp>
        <p:nvGrpSpPr>
          <p:cNvPr id="38" name="グループ化 37"/>
          <p:cNvGrpSpPr/>
          <p:nvPr/>
        </p:nvGrpSpPr>
        <p:grpSpPr>
          <a:xfrm>
            <a:off x="272480" y="5033240"/>
            <a:ext cx="9324520" cy="792000"/>
            <a:chOff x="272480" y="3026640"/>
            <a:chExt cx="9324520" cy="792000"/>
          </a:xfrm>
        </p:grpSpPr>
        <p:sp>
          <p:nvSpPr>
            <p:cNvPr id="14" name="正方形/長方形 13"/>
            <p:cNvSpPr/>
            <p:nvPr/>
          </p:nvSpPr>
          <p:spPr>
            <a:xfrm>
              <a:off x="272480" y="3026640"/>
              <a:ext cx="936000" cy="792000"/>
            </a:xfrm>
            <a:prstGeom prst="rect">
              <a:avLst/>
            </a:prstGeom>
            <a:solidFill>
              <a:schemeClr val="bg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smtClean="0">
                  <a:solidFill>
                    <a:schemeClr val="tx1"/>
                  </a:solidFill>
                </a:rPr>
                <a:t>目的</a:t>
              </a:r>
              <a:endParaRPr kumimoji="1" lang="ja-JP" altLang="en-US" sz="1400" b="1" dirty="0">
                <a:solidFill>
                  <a:schemeClr val="tx1"/>
                </a:solidFill>
              </a:endParaRPr>
            </a:p>
          </p:txBody>
        </p:sp>
        <p:sp>
          <p:nvSpPr>
            <p:cNvPr id="25" name="正方形/長方形 24"/>
            <p:cNvSpPr/>
            <p:nvPr/>
          </p:nvSpPr>
          <p:spPr>
            <a:xfrm>
              <a:off x="1244752" y="3026640"/>
              <a:ext cx="1583952" cy="792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Arial" pitchFamily="34" charset="0"/>
                <a:buChar char="•"/>
              </a:pPr>
              <a:r>
                <a:rPr lang="ja-JP" altLang="en-US" sz="1400" dirty="0" smtClean="0">
                  <a:solidFill>
                    <a:schemeClr val="tx1"/>
                  </a:solidFill>
                </a:rPr>
                <a:t>内定の手続き</a:t>
              </a:r>
              <a:endParaRPr kumimoji="1" lang="ja-JP" altLang="en-US" sz="1400" dirty="0">
                <a:solidFill>
                  <a:schemeClr val="tx1"/>
                </a:solidFill>
              </a:endParaRPr>
            </a:p>
          </p:txBody>
        </p:sp>
        <p:sp>
          <p:nvSpPr>
            <p:cNvPr id="26" name="正方形/長方形 25"/>
            <p:cNvSpPr/>
            <p:nvPr/>
          </p:nvSpPr>
          <p:spPr>
            <a:xfrm>
              <a:off x="2936814" y="3026640"/>
              <a:ext cx="1583952" cy="792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Arial" pitchFamily="34" charset="0"/>
                <a:buChar char="•"/>
              </a:pPr>
              <a:r>
                <a:rPr lang="ja-JP" altLang="en-US" sz="1400" dirty="0" smtClean="0">
                  <a:solidFill>
                    <a:schemeClr val="tx1"/>
                  </a:solidFill>
                </a:rPr>
                <a:t>退職の意向を伝え退職日を調整</a:t>
              </a:r>
              <a:endParaRPr kumimoji="1" lang="ja-JP" altLang="en-US" sz="1400" dirty="0">
                <a:solidFill>
                  <a:schemeClr val="tx1"/>
                </a:solidFill>
              </a:endParaRPr>
            </a:p>
          </p:txBody>
        </p:sp>
        <p:sp>
          <p:nvSpPr>
            <p:cNvPr id="27" name="正方形/長方形 26"/>
            <p:cNvSpPr/>
            <p:nvPr/>
          </p:nvSpPr>
          <p:spPr>
            <a:xfrm>
              <a:off x="6320986" y="3026640"/>
              <a:ext cx="1583952" cy="792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Arial" pitchFamily="34" charset="0"/>
                <a:buChar char="•"/>
              </a:pPr>
              <a:r>
                <a:rPr kumimoji="1" lang="ja-JP" altLang="en-US" sz="1400" dirty="0" smtClean="0">
                  <a:solidFill>
                    <a:schemeClr val="tx1"/>
                  </a:solidFill>
                </a:rPr>
                <a:t>入職前の準備</a:t>
              </a:r>
              <a:endParaRPr kumimoji="1" lang="ja-JP" altLang="en-US" sz="1400" dirty="0">
                <a:solidFill>
                  <a:schemeClr val="tx1"/>
                </a:solidFill>
              </a:endParaRPr>
            </a:p>
          </p:txBody>
        </p:sp>
        <p:sp>
          <p:nvSpPr>
            <p:cNvPr id="28" name="正方形/長方形 27"/>
            <p:cNvSpPr/>
            <p:nvPr/>
          </p:nvSpPr>
          <p:spPr>
            <a:xfrm>
              <a:off x="8013048" y="3026640"/>
              <a:ext cx="1583952" cy="792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Arial" pitchFamily="34" charset="0"/>
                <a:buChar char="•"/>
              </a:pPr>
              <a:r>
                <a:rPr lang="ja-JP" altLang="en-US" sz="1400" dirty="0" smtClean="0">
                  <a:solidFill>
                    <a:schemeClr val="tx1"/>
                  </a:solidFill>
                </a:rPr>
                <a:t>入職手続き</a:t>
              </a:r>
              <a:endParaRPr kumimoji="1" lang="ja-JP" altLang="en-US" sz="1400" dirty="0">
                <a:solidFill>
                  <a:schemeClr val="tx1"/>
                </a:solidFill>
              </a:endParaRPr>
            </a:p>
          </p:txBody>
        </p:sp>
        <p:sp>
          <p:nvSpPr>
            <p:cNvPr id="61" name="正方形/長方形 60"/>
            <p:cNvSpPr/>
            <p:nvPr/>
          </p:nvSpPr>
          <p:spPr>
            <a:xfrm>
              <a:off x="4628876" y="3026640"/>
              <a:ext cx="1583952" cy="792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Arial" pitchFamily="34" charset="0"/>
                <a:buChar char="•"/>
              </a:pPr>
              <a:r>
                <a:rPr lang="ja-JP" altLang="en-US" sz="1400" dirty="0" smtClean="0">
                  <a:solidFill>
                    <a:schemeClr val="tx1"/>
                  </a:solidFill>
                </a:rPr>
                <a:t>業務の引き継ぎを行い、円満退職</a:t>
              </a:r>
              <a:endParaRPr kumimoji="1" lang="ja-JP" altLang="en-US" sz="1400" dirty="0">
                <a:solidFill>
                  <a:schemeClr val="tx1"/>
                </a:solidFill>
              </a:endParaRPr>
            </a:p>
          </p:txBody>
        </p:sp>
      </p:grpSp>
      <p:grpSp>
        <p:nvGrpSpPr>
          <p:cNvPr id="43" name="グループ化 42"/>
          <p:cNvGrpSpPr/>
          <p:nvPr/>
        </p:nvGrpSpPr>
        <p:grpSpPr>
          <a:xfrm>
            <a:off x="272480" y="3147860"/>
            <a:ext cx="9324520" cy="1764000"/>
            <a:chOff x="272480" y="3890800"/>
            <a:chExt cx="9324520" cy="1728000"/>
          </a:xfrm>
        </p:grpSpPr>
        <p:sp>
          <p:nvSpPr>
            <p:cNvPr id="15" name="正方形/長方形 14"/>
            <p:cNvSpPr/>
            <p:nvPr/>
          </p:nvSpPr>
          <p:spPr>
            <a:xfrm>
              <a:off x="272480" y="3890800"/>
              <a:ext cx="936000" cy="1728000"/>
            </a:xfrm>
            <a:prstGeom prst="rect">
              <a:avLst/>
            </a:prstGeom>
            <a:solidFill>
              <a:schemeClr val="bg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smtClean="0">
                  <a:solidFill>
                    <a:schemeClr val="tx1"/>
                  </a:solidFill>
                </a:rPr>
                <a:t>実施内容</a:t>
              </a:r>
              <a:endParaRPr kumimoji="1" lang="ja-JP" altLang="en-US" sz="1400" b="1" dirty="0">
                <a:solidFill>
                  <a:schemeClr val="tx1"/>
                </a:solidFill>
              </a:endParaRPr>
            </a:p>
          </p:txBody>
        </p:sp>
        <p:sp>
          <p:nvSpPr>
            <p:cNvPr id="32" name="正方形/長方形 31"/>
            <p:cNvSpPr/>
            <p:nvPr/>
          </p:nvSpPr>
          <p:spPr>
            <a:xfrm>
              <a:off x="1244752" y="3890800"/>
              <a:ext cx="1583952" cy="1728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Arial" pitchFamily="34" charset="0"/>
                <a:buChar char="•"/>
              </a:pPr>
              <a:r>
                <a:rPr kumimoji="1" lang="ja-JP" altLang="en-US" sz="1400" dirty="0" smtClean="0">
                  <a:solidFill>
                    <a:schemeClr val="tx1"/>
                  </a:solidFill>
                </a:rPr>
                <a:t>雇用概要確認書の署名・捺印</a:t>
              </a:r>
              <a:endParaRPr kumimoji="1" lang="ja-JP" altLang="en-US" sz="1400" dirty="0">
                <a:solidFill>
                  <a:schemeClr val="tx1"/>
                </a:solidFill>
              </a:endParaRPr>
            </a:p>
          </p:txBody>
        </p:sp>
        <p:sp>
          <p:nvSpPr>
            <p:cNvPr id="33" name="正方形/長方形 32"/>
            <p:cNvSpPr/>
            <p:nvPr/>
          </p:nvSpPr>
          <p:spPr>
            <a:xfrm>
              <a:off x="2936814" y="3890800"/>
              <a:ext cx="1583952" cy="1728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Arial" pitchFamily="34" charset="0"/>
                <a:buChar char="•"/>
              </a:pPr>
              <a:r>
                <a:rPr lang="ja-JP" altLang="en-US" sz="1400" dirty="0" smtClean="0">
                  <a:solidFill>
                    <a:schemeClr val="tx1"/>
                  </a:solidFill>
                </a:rPr>
                <a:t>現職の契約内容確認</a:t>
              </a:r>
              <a:endParaRPr lang="en-US" altLang="ja-JP" sz="1400" dirty="0" smtClean="0">
                <a:solidFill>
                  <a:schemeClr val="tx1"/>
                </a:solidFill>
              </a:endParaRPr>
            </a:p>
            <a:p>
              <a:pPr>
                <a:buFont typeface="Arial" pitchFamily="34" charset="0"/>
                <a:buChar char="•"/>
              </a:pPr>
              <a:r>
                <a:rPr lang="ja-JP" altLang="en-US" sz="1400" dirty="0" smtClean="0">
                  <a:solidFill>
                    <a:schemeClr val="tx1"/>
                  </a:solidFill>
                </a:rPr>
                <a:t>退職意思の伝達</a:t>
              </a:r>
              <a:endParaRPr lang="en-US" altLang="ja-JP" sz="1400" dirty="0" smtClean="0">
                <a:solidFill>
                  <a:schemeClr val="tx1"/>
                </a:solidFill>
              </a:endParaRPr>
            </a:p>
            <a:p>
              <a:pPr>
                <a:buFont typeface="Arial" pitchFamily="34" charset="0"/>
                <a:buChar char="•"/>
              </a:pPr>
              <a:r>
                <a:rPr lang="ja-JP" altLang="en-US" sz="1400" dirty="0" smtClean="0">
                  <a:solidFill>
                    <a:schemeClr val="tx1"/>
                  </a:solidFill>
                </a:rPr>
                <a:t>退職日の確定</a:t>
              </a:r>
              <a:endParaRPr lang="en-US" altLang="ja-JP" sz="1400" dirty="0" smtClean="0">
                <a:solidFill>
                  <a:schemeClr val="tx1"/>
                </a:solidFill>
              </a:endParaRPr>
            </a:p>
            <a:p>
              <a:pPr>
                <a:buFont typeface="Arial" pitchFamily="34" charset="0"/>
                <a:buChar char="•"/>
              </a:pPr>
              <a:r>
                <a:rPr lang="ja-JP" altLang="en-US" sz="1400" dirty="0" smtClean="0">
                  <a:solidFill>
                    <a:schemeClr val="tx1"/>
                  </a:solidFill>
                </a:rPr>
                <a:t>退職届の提出</a:t>
              </a:r>
              <a:endParaRPr lang="en-US" altLang="ja-JP" sz="1400" dirty="0" smtClean="0">
                <a:solidFill>
                  <a:schemeClr val="tx1"/>
                </a:solidFill>
              </a:endParaRPr>
            </a:p>
          </p:txBody>
        </p:sp>
        <p:sp>
          <p:nvSpPr>
            <p:cNvPr id="34" name="正方形/長方形 33"/>
            <p:cNvSpPr/>
            <p:nvPr/>
          </p:nvSpPr>
          <p:spPr>
            <a:xfrm>
              <a:off x="6320986" y="3890800"/>
              <a:ext cx="1583952" cy="1728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Arial" pitchFamily="34" charset="0"/>
                <a:buChar char="•"/>
              </a:pPr>
              <a:r>
                <a:rPr lang="ja-JP" altLang="en-US" sz="1400" dirty="0" smtClean="0">
                  <a:solidFill>
                    <a:schemeClr val="tx1"/>
                  </a:solidFill>
                </a:rPr>
                <a:t>健康診断</a:t>
              </a:r>
            </a:p>
            <a:p>
              <a:pPr>
                <a:buFont typeface="Arial" pitchFamily="34" charset="0"/>
                <a:buChar char="•"/>
              </a:pPr>
              <a:r>
                <a:rPr lang="ja-JP" altLang="en-US" sz="1400" dirty="0" smtClean="0">
                  <a:solidFill>
                    <a:schemeClr val="tx1"/>
                  </a:solidFill>
                </a:rPr>
                <a:t>入寮</a:t>
              </a:r>
              <a:r>
                <a:rPr lang="en-US" altLang="ja-JP" sz="1400" dirty="0" smtClean="0">
                  <a:solidFill>
                    <a:schemeClr val="tx1"/>
                  </a:solidFill>
                </a:rPr>
                <a:t>/</a:t>
              </a:r>
              <a:r>
                <a:rPr lang="ja-JP" altLang="en-US" sz="1400" dirty="0" smtClean="0">
                  <a:solidFill>
                    <a:schemeClr val="tx1"/>
                  </a:solidFill>
                </a:rPr>
                <a:t>転居</a:t>
              </a:r>
              <a:endParaRPr lang="en-US" altLang="ja-JP" sz="1400" dirty="0" smtClean="0">
                <a:solidFill>
                  <a:schemeClr val="tx1"/>
                </a:solidFill>
              </a:endParaRPr>
            </a:p>
          </p:txBody>
        </p:sp>
        <p:sp>
          <p:nvSpPr>
            <p:cNvPr id="35" name="正方形/長方形 34"/>
            <p:cNvSpPr/>
            <p:nvPr/>
          </p:nvSpPr>
          <p:spPr>
            <a:xfrm>
              <a:off x="8013048" y="3890800"/>
              <a:ext cx="1583952" cy="1728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Arial" pitchFamily="34" charset="0"/>
                <a:buChar char="•"/>
              </a:pPr>
              <a:r>
                <a:rPr lang="ja-JP" altLang="en-US" sz="1400" dirty="0" smtClean="0">
                  <a:solidFill>
                    <a:schemeClr val="tx1"/>
                  </a:solidFill>
                </a:rPr>
                <a:t>必要書類の提出</a:t>
              </a:r>
              <a:endParaRPr lang="en-US" altLang="ja-JP" sz="1400" dirty="0" smtClean="0">
                <a:solidFill>
                  <a:schemeClr val="tx1"/>
                </a:solidFill>
              </a:endParaRPr>
            </a:p>
          </p:txBody>
        </p:sp>
        <p:sp>
          <p:nvSpPr>
            <p:cNvPr id="64" name="正方形/長方形 63"/>
            <p:cNvSpPr/>
            <p:nvPr/>
          </p:nvSpPr>
          <p:spPr>
            <a:xfrm>
              <a:off x="4628876" y="3890800"/>
              <a:ext cx="1583952" cy="1728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Arial" pitchFamily="34" charset="0"/>
                <a:buChar char="•"/>
              </a:pPr>
              <a:r>
                <a:rPr lang="ja-JP" altLang="en-US" sz="1400" dirty="0" smtClean="0">
                  <a:solidFill>
                    <a:schemeClr val="tx1"/>
                  </a:solidFill>
                </a:rPr>
                <a:t>業務の引き継ぎ</a:t>
              </a:r>
              <a:endParaRPr lang="en-US" altLang="ja-JP" sz="1400" dirty="0" smtClean="0">
                <a:solidFill>
                  <a:schemeClr val="tx1"/>
                </a:solidFill>
              </a:endParaRPr>
            </a:p>
            <a:p>
              <a:pPr>
                <a:buFont typeface="Arial" pitchFamily="34" charset="0"/>
                <a:buChar char="•"/>
              </a:pPr>
              <a:r>
                <a:rPr lang="ja-JP" altLang="en-US" sz="1400" dirty="0" smtClean="0">
                  <a:solidFill>
                    <a:schemeClr val="tx1"/>
                  </a:solidFill>
                </a:rPr>
                <a:t>必要書類の受取</a:t>
              </a:r>
              <a:endParaRPr lang="en-US" altLang="ja-JP" sz="1400" dirty="0" smtClean="0">
                <a:solidFill>
                  <a:schemeClr val="tx1"/>
                </a:solidFill>
              </a:endParaRPr>
            </a:p>
            <a:p>
              <a:pPr>
                <a:buFont typeface="Arial" pitchFamily="34" charset="0"/>
                <a:buChar char="•"/>
              </a:pPr>
              <a:r>
                <a:rPr lang="ja-JP" altLang="en-US" sz="1400" dirty="0" smtClean="0">
                  <a:solidFill>
                    <a:schemeClr val="tx1"/>
                  </a:solidFill>
                </a:rPr>
                <a:t>関係者への挨拶</a:t>
              </a:r>
              <a:endParaRPr lang="en-US" altLang="ja-JP" sz="1400" dirty="0" smtClean="0">
                <a:solidFill>
                  <a:schemeClr val="tx1"/>
                </a:solidFill>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3.</a:t>
            </a:r>
            <a:r>
              <a:rPr lang="ja-JP" altLang="en-US" dirty="0" smtClean="0"/>
              <a:t> 各項目のチェックポイント－</a:t>
            </a:r>
            <a:r>
              <a:rPr lang="en-US" altLang="ja-JP" dirty="0" smtClean="0"/>
              <a:t>B. </a:t>
            </a:r>
            <a:r>
              <a:rPr lang="ja-JP" altLang="en-US" dirty="0" smtClean="0"/>
              <a:t>退職手続き</a:t>
            </a:r>
            <a:endParaRPr kumimoji="1" lang="ja-JP" altLang="en-US" dirty="0"/>
          </a:p>
        </p:txBody>
      </p:sp>
      <p:sp>
        <p:nvSpPr>
          <p:cNvPr id="3" name="スライド番号プレースホルダ 2"/>
          <p:cNvSpPr>
            <a:spLocks noGrp="1"/>
          </p:cNvSpPr>
          <p:nvPr>
            <p:ph type="sldNum" sz="quarter" idx="4"/>
          </p:nvPr>
        </p:nvSpPr>
        <p:spPr/>
        <p:txBody>
          <a:bodyPr/>
          <a:lstStyle/>
          <a:p>
            <a:fld id="{740D7FD4-7822-4578-8B62-36F67199AFDC}" type="slidenum">
              <a:rPr kumimoji="1" lang="ja-JP" altLang="en-US" smtClean="0"/>
              <a:pPr/>
              <a:t>5</a:t>
            </a:fld>
            <a:endParaRPr kumimoji="1" lang="ja-JP" altLang="en-US"/>
          </a:p>
        </p:txBody>
      </p:sp>
      <p:grpSp>
        <p:nvGrpSpPr>
          <p:cNvPr id="4" name="グループ化 11"/>
          <p:cNvGrpSpPr/>
          <p:nvPr/>
        </p:nvGrpSpPr>
        <p:grpSpPr>
          <a:xfrm>
            <a:off x="1112651" y="764704"/>
            <a:ext cx="1080000" cy="324000"/>
            <a:chOff x="539552" y="1484784"/>
            <a:chExt cx="3348000" cy="324000"/>
          </a:xfrm>
        </p:grpSpPr>
        <p:sp>
          <p:nvSpPr>
            <p:cNvPr id="5" name="正方形/長方形 4"/>
            <p:cNvSpPr/>
            <p:nvPr/>
          </p:nvSpPr>
          <p:spPr bwMode="auto">
            <a:xfrm>
              <a:off x="539552" y="1484784"/>
              <a:ext cx="334800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smtClean="0">
                  <a:ln>
                    <a:noFill/>
                  </a:ln>
                  <a:solidFill>
                    <a:schemeClr val="tx1"/>
                  </a:solidFill>
                  <a:effectLst/>
                  <a:latin typeface="Calibri" pitchFamily="34" charset="0"/>
                  <a:ea typeface="ＭＳ Ｐゴシック" pitchFamily="50" charset="-128"/>
                </a:rPr>
                <a:t>タイミング</a:t>
              </a:r>
            </a:p>
          </p:txBody>
        </p:sp>
        <p:cxnSp>
          <p:nvCxnSpPr>
            <p:cNvPr id="6" name="直線コネクタ 5"/>
            <p:cNvCxnSpPr/>
            <p:nvPr/>
          </p:nvCxnSpPr>
          <p:spPr bwMode="auto">
            <a:xfrm>
              <a:off x="539552" y="1808784"/>
              <a:ext cx="3348000" cy="0"/>
            </a:xfrm>
            <a:prstGeom prst="line">
              <a:avLst/>
            </a:prstGeom>
            <a:solidFill>
              <a:schemeClr val="accent1"/>
            </a:solidFill>
            <a:ln w="19050" cap="flat" cmpd="sng" algn="ctr">
              <a:solidFill>
                <a:srgbClr val="FF6600"/>
              </a:solidFill>
              <a:prstDash val="solid"/>
              <a:round/>
              <a:headEnd type="none" w="med" len="med"/>
              <a:tailEnd type="none" w="med" len="med"/>
            </a:ln>
            <a:effectLst/>
          </p:spPr>
        </p:cxnSp>
      </p:grpSp>
      <p:grpSp>
        <p:nvGrpSpPr>
          <p:cNvPr id="7" name="グループ化 11"/>
          <p:cNvGrpSpPr/>
          <p:nvPr/>
        </p:nvGrpSpPr>
        <p:grpSpPr>
          <a:xfrm>
            <a:off x="128464" y="764704"/>
            <a:ext cx="900000" cy="324000"/>
            <a:chOff x="539552" y="1484784"/>
            <a:chExt cx="3348000" cy="324000"/>
          </a:xfrm>
        </p:grpSpPr>
        <p:sp>
          <p:nvSpPr>
            <p:cNvPr id="8" name="正方形/長方形 7"/>
            <p:cNvSpPr/>
            <p:nvPr/>
          </p:nvSpPr>
          <p:spPr bwMode="auto">
            <a:xfrm>
              <a:off x="539552" y="1484784"/>
              <a:ext cx="334800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smtClean="0">
                  <a:ln>
                    <a:noFill/>
                  </a:ln>
                  <a:solidFill>
                    <a:schemeClr val="tx1"/>
                  </a:solidFill>
                  <a:effectLst/>
                  <a:latin typeface="Calibri" pitchFamily="34" charset="0"/>
                  <a:ea typeface="ＭＳ Ｐゴシック" pitchFamily="50" charset="-128"/>
                </a:rPr>
                <a:t>実施項目</a:t>
              </a:r>
            </a:p>
          </p:txBody>
        </p:sp>
        <p:cxnSp>
          <p:nvCxnSpPr>
            <p:cNvPr id="9" name="直線コネクタ 8"/>
            <p:cNvCxnSpPr/>
            <p:nvPr/>
          </p:nvCxnSpPr>
          <p:spPr bwMode="auto">
            <a:xfrm>
              <a:off x="539552" y="1808784"/>
              <a:ext cx="3348000" cy="0"/>
            </a:xfrm>
            <a:prstGeom prst="line">
              <a:avLst/>
            </a:prstGeom>
            <a:solidFill>
              <a:schemeClr val="accent1"/>
            </a:solidFill>
            <a:ln w="19050" cap="flat" cmpd="sng" algn="ctr">
              <a:solidFill>
                <a:srgbClr val="FF6600"/>
              </a:solidFill>
              <a:prstDash val="solid"/>
              <a:round/>
              <a:headEnd type="none" w="med" len="med"/>
              <a:tailEnd type="none" w="med" len="med"/>
            </a:ln>
            <a:effectLst/>
          </p:spPr>
        </p:cxnSp>
      </p:grpSp>
      <p:grpSp>
        <p:nvGrpSpPr>
          <p:cNvPr id="10" name="グループ化 11"/>
          <p:cNvGrpSpPr/>
          <p:nvPr/>
        </p:nvGrpSpPr>
        <p:grpSpPr>
          <a:xfrm>
            <a:off x="2276838" y="764704"/>
            <a:ext cx="2196000" cy="324000"/>
            <a:chOff x="539552" y="1484784"/>
            <a:chExt cx="3348000" cy="324000"/>
          </a:xfrm>
        </p:grpSpPr>
        <p:sp>
          <p:nvSpPr>
            <p:cNvPr id="11" name="正方形/長方形 10"/>
            <p:cNvSpPr/>
            <p:nvPr/>
          </p:nvSpPr>
          <p:spPr bwMode="auto">
            <a:xfrm>
              <a:off x="539552" y="1484784"/>
              <a:ext cx="334800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smtClean="0">
                  <a:ln>
                    <a:noFill/>
                  </a:ln>
                  <a:solidFill>
                    <a:schemeClr val="tx1"/>
                  </a:solidFill>
                  <a:effectLst/>
                  <a:latin typeface="Calibri" pitchFamily="34" charset="0"/>
                  <a:ea typeface="ＭＳ Ｐゴシック" pitchFamily="50" charset="-128"/>
                </a:rPr>
                <a:t>チェックポイント</a:t>
              </a:r>
            </a:p>
          </p:txBody>
        </p:sp>
        <p:cxnSp>
          <p:nvCxnSpPr>
            <p:cNvPr id="12" name="直線コネクタ 11"/>
            <p:cNvCxnSpPr/>
            <p:nvPr/>
          </p:nvCxnSpPr>
          <p:spPr bwMode="auto">
            <a:xfrm>
              <a:off x="539552" y="1808784"/>
              <a:ext cx="3348000" cy="0"/>
            </a:xfrm>
            <a:prstGeom prst="line">
              <a:avLst/>
            </a:prstGeom>
            <a:solidFill>
              <a:schemeClr val="accent1"/>
            </a:solidFill>
            <a:ln w="19050" cap="flat" cmpd="sng" algn="ctr">
              <a:solidFill>
                <a:srgbClr val="FF6600"/>
              </a:solidFill>
              <a:prstDash val="solid"/>
              <a:round/>
              <a:headEnd type="none" w="med" len="med"/>
              <a:tailEnd type="none" w="med" len="med"/>
            </a:ln>
            <a:effectLst/>
          </p:spPr>
        </p:cxnSp>
      </p:grpSp>
      <p:grpSp>
        <p:nvGrpSpPr>
          <p:cNvPr id="13" name="グループ化 11"/>
          <p:cNvGrpSpPr/>
          <p:nvPr/>
        </p:nvGrpSpPr>
        <p:grpSpPr>
          <a:xfrm>
            <a:off x="4520952" y="764704"/>
            <a:ext cx="5256000" cy="324000"/>
            <a:chOff x="539552" y="1484784"/>
            <a:chExt cx="3348000" cy="324000"/>
          </a:xfrm>
        </p:grpSpPr>
        <p:sp>
          <p:nvSpPr>
            <p:cNvPr id="14" name="正方形/長方形 13"/>
            <p:cNvSpPr/>
            <p:nvPr/>
          </p:nvSpPr>
          <p:spPr bwMode="auto">
            <a:xfrm>
              <a:off x="539552" y="1484784"/>
              <a:ext cx="334800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smtClean="0">
                  <a:ln>
                    <a:noFill/>
                  </a:ln>
                  <a:solidFill>
                    <a:schemeClr val="tx1"/>
                  </a:solidFill>
                  <a:effectLst/>
                  <a:latin typeface="Calibri" pitchFamily="34" charset="0"/>
                  <a:ea typeface="ＭＳ Ｐゴシック" pitchFamily="50" charset="-128"/>
                </a:rPr>
                <a:t>アドバイス内容</a:t>
              </a:r>
            </a:p>
          </p:txBody>
        </p:sp>
        <p:cxnSp>
          <p:nvCxnSpPr>
            <p:cNvPr id="15" name="直線コネクタ 14"/>
            <p:cNvCxnSpPr/>
            <p:nvPr/>
          </p:nvCxnSpPr>
          <p:spPr bwMode="auto">
            <a:xfrm>
              <a:off x="539552" y="1808784"/>
              <a:ext cx="3348000" cy="0"/>
            </a:xfrm>
            <a:prstGeom prst="line">
              <a:avLst/>
            </a:prstGeom>
            <a:solidFill>
              <a:schemeClr val="accent1"/>
            </a:solidFill>
            <a:ln w="19050" cap="flat" cmpd="sng" algn="ctr">
              <a:solidFill>
                <a:srgbClr val="FF6600"/>
              </a:solidFill>
              <a:prstDash val="solid"/>
              <a:round/>
              <a:headEnd type="none" w="med" len="med"/>
              <a:tailEnd type="none" w="med" len="med"/>
            </a:ln>
            <a:effectLst/>
          </p:spPr>
        </p:cxnSp>
      </p:grpSp>
      <p:sp>
        <p:nvSpPr>
          <p:cNvPr id="16" name="ホームベース 15"/>
          <p:cNvSpPr/>
          <p:nvPr/>
        </p:nvSpPr>
        <p:spPr>
          <a:xfrm rot="5400000">
            <a:off x="-87536" y="1412752"/>
            <a:ext cx="1332000" cy="900000"/>
          </a:xfrm>
          <a:prstGeom prst="homePlate">
            <a:avLst>
              <a:gd name="adj" fmla="val 21596"/>
            </a:avLst>
          </a:prstGeom>
          <a:solidFill>
            <a:schemeClr val="bg1"/>
          </a:solidFill>
          <a:ln w="12700">
            <a:solidFill>
              <a:schemeClr val="tx1">
                <a:lumMod val="50000"/>
                <a:lumOff val="50000"/>
              </a:schemeClr>
            </a:solidFill>
          </a:ln>
          <a:effectLst>
            <a:outerShdw dist="508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fontAlgn="auto">
              <a:spcBef>
                <a:spcPts val="0"/>
              </a:spcBef>
              <a:spcAft>
                <a:spcPts val="0"/>
              </a:spcAft>
              <a:defRPr/>
            </a:pPr>
            <a:r>
              <a:rPr lang="ja-JP" altLang="en-US" sz="1400" dirty="0" smtClean="0">
                <a:solidFill>
                  <a:schemeClr val="tx1"/>
                </a:solidFill>
              </a:rPr>
              <a:t>契約内容</a:t>
            </a:r>
            <a:endParaRPr lang="en-US" altLang="ja-JP" sz="1400" dirty="0" smtClean="0">
              <a:solidFill>
                <a:schemeClr val="tx1"/>
              </a:solidFill>
            </a:endParaRPr>
          </a:p>
          <a:p>
            <a:pPr algn="ctr" fontAlgn="auto">
              <a:spcBef>
                <a:spcPts val="0"/>
              </a:spcBef>
              <a:spcAft>
                <a:spcPts val="0"/>
              </a:spcAft>
              <a:defRPr/>
            </a:pPr>
            <a:r>
              <a:rPr lang="ja-JP" altLang="en-US" sz="1400" dirty="0" smtClean="0">
                <a:solidFill>
                  <a:schemeClr val="tx1"/>
                </a:solidFill>
              </a:rPr>
              <a:t>確認</a:t>
            </a:r>
            <a:endParaRPr lang="en-US" altLang="ja-JP" sz="1400" dirty="0" smtClean="0">
              <a:solidFill>
                <a:schemeClr val="tx1"/>
              </a:solidFill>
            </a:endParaRPr>
          </a:p>
        </p:txBody>
      </p:sp>
      <p:sp>
        <p:nvSpPr>
          <p:cNvPr id="17" name="ホームベース 16"/>
          <p:cNvSpPr/>
          <p:nvPr/>
        </p:nvSpPr>
        <p:spPr>
          <a:xfrm rot="5400000">
            <a:off x="-87536" y="2792955"/>
            <a:ext cx="1332000" cy="900000"/>
          </a:xfrm>
          <a:prstGeom prst="homePlate">
            <a:avLst>
              <a:gd name="adj" fmla="val 21596"/>
            </a:avLst>
          </a:prstGeom>
          <a:solidFill>
            <a:schemeClr val="bg1"/>
          </a:solidFill>
          <a:ln w="12700">
            <a:solidFill>
              <a:schemeClr val="tx1">
                <a:lumMod val="50000"/>
                <a:lumOff val="50000"/>
              </a:schemeClr>
            </a:solidFill>
          </a:ln>
          <a:effectLst>
            <a:outerShdw dist="508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fontAlgn="auto">
              <a:spcBef>
                <a:spcPts val="0"/>
              </a:spcBef>
              <a:spcAft>
                <a:spcPts val="0"/>
              </a:spcAft>
              <a:defRPr/>
            </a:pPr>
            <a:r>
              <a:rPr lang="ja-JP" altLang="en-US" sz="1400" dirty="0" smtClean="0">
                <a:solidFill>
                  <a:schemeClr val="tx1"/>
                </a:solidFill>
              </a:rPr>
              <a:t>退職意思</a:t>
            </a:r>
            <a:endParaRPr lang="en-US" altLang="ja-JP" sz="1400" dirty="0" smtClean="0">
              <a:solidFill>
                <a:schemeClr val="tx1"/>
              </a:solidFill>
            </a:endParaRPr>
          </a:p>
          <a:p>
            <a:pPr algn="ctr" fontAlgn="auto">
              <a:spcBef>
                <a:spcPts val="0"/>
              </a:spcBef>
              <a:spcAft>
                <a:spcPts val="0"/>
              </a:spcAft>
              <a:defRPr/>
            </a:pPr>
            <a:r>
              <a:rPr lang="ja-JP" altLang="en-US" sz="1400" dirty="0" smtClean="0">
                <a:solidFill>
                  <a:schemeClr val="tx1"/>
                </a:solidFill>
              </a:rPr>
              <a:t>伝達</a:t>
            </a:r>
            <a:endParaRPr lang="en-US" altLang="ja-JP" sz="1400" dirty="0" smtClean="0">
              <a:solidFill>
                <a:schemeClr val="tx1"/>
              </a:solidFill>
            </a:endParaRPr>
          </a:p>
        </p:txBody>
      </p:sp>
      <p:sp>
        <p:nvSpPr>
          <p:cNvPr id="18" name="ホームベース 17"/>
          <p:cNvSpPr/>
          <p:nvPr/>
        </p:nvSpPr>
        <p:spPr>
          <a:xfrm rot="5400000">
            <a:off x="-87536" y="4173158"/>
            <a:ext cx="1332000" cy="900000"/>
          </a:xfrm>
          <a:prstGeom prst="homePlate">
            <a:avLst>
              <a:gd name="adj" fmla="val 21596"/>
            </a:avLst>
          </a:prstGeom>
          <a:solidFill>
            <a:schemeClr val="bg1"/>
          </a:solidFill>
          <a:ln w="12700">
            <a:solidFill>
              <a:schemeClr val="tx1">
                <a:lumMod val="50000"/>
                <a:lumOff val="50000"/>
              </a:schemeClr>
            </a:solidFill>
          </a:ln>
          <a:effectLst>
            <a:outerShdw dist="508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fontAlgn="auto">
              <a:spcBef>
                <a:spcPts val="0"/>
              </a:spcBef>
              <a:spcAft>
                <a:spcPts val="0"/>
              </a:spcAft>
              <a:defRPr/>
            </a:pPr>
            <a:r>
              <a:rPr lang="ja-JP" altLang="en-US" sz="1400" dirty="0" smtClean="0">
                <a:solidFill>
                  <a:schemeClr val="tx1"/>
                </a:solidFill>
              </a:rPr>
              <a:t>退職日</a:t>
            </a:r>
            <a:endParaRPr lang="en-US" altLang="ja-JP" sz="1400" dirty="0" smtClean="0">
              <a:solidFill>
                <a:schemeClr val="tx1"/>
              </a:solidFill>
            </a:endParaRPr>
          </a:p>
          <a:p>
            <a:pPr algn="ctr" fontAlgn="auto">
              <a:spcBef>
                <a:spcPts val="0"/>
              </a:spcBef>
              <a:spcAft>
                <a:spcPts val="0"/>
              </a:spcAft>
              <a:defRPr/>
            </a:pPr>
            <a:r>
              <a:rPr lang="ja-JP" altLang="en-US" sz="1400" dirty="0" smtClean="0">
                <a:solidFill>
                  <a:schemeClr val="tx1"/>
                </a:solidFill>
              </a:rPr>
              <a:t>確定</a:t>
            </a:r>
            <a:endParaRPr lang="en-US" altLang="ja-JP" sz="1400" dirty="0" smtClean="0">
              <a:solidFill>
                <a:schemeClr val="tx1"/>
              </a:solidFill>
            </a:endParaRPr>
          </a:p>
        </p:txBody>
      </p:sp>
      <p:sp>
        <p:nvSpPr>
          <p:cNvPr id="19" name="ホームベース 18"/>
          <p:cNvSpPr/>
          <p:nvPr/>
        </p:nvSpPr>
        <p:spPr>
          <a:xfrm rot="5400000">
            <a:off x="-87536" y="5553360"/>
            <a:ext cx="1332000" cy="900000"/>
          </a:xfrm>
          <a:prstGeom prst="homePlate">
            <a:avLst>
              <a:gd name="adj" fmla="val 21596"/>
            </a:avLst>
          </a:prstGeom>
          <a:solidFill>
            <a:schemeClr val="bg1"/>
          </a:solidFill>
          <a:ln w="12700">
            <a:solidFill>
              <a:schemeClr val="tx1">
                <a:lumMod val="50000"/>
                <a:lumOff val="50000"/>
              </a:schemeClr>
            </a:solidFill>
          </a:ln>
          <a:effectLst>
            <a:outerShdw dist="508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fontAlgn="auto">
              <a:spcBef>
                <a:spcPts val="0"/>
              </a:spcBef>
              <a:spcAft>
                <a:spcPts val="0"/>
              </a:spcAft>
              <a:defRPr/>
            </a:pPr>
            <a:r>
              <a:rPr lang="ja-JP" altLang="en-US" sz="1400" dirty="0" smtClean="0">
                <a:solidFill>
                  <a:schemeClr val="tx1"/>
                </a:solidFill>
              </a:rPr>
              <a:t>退職届</a:t>
            </a:r>
            <a:endParaRPr lang="en-US" altLang="ja-JP" sz="1400" dirty="0" smtClean="0">
              <a:solidFill>
                <a:schemeClr val="tx1"/>
              </a:solidFill>
            </a:endParaRPr>
          </a:p>
          <a:p>
            <a:pPr algn="ctr" fontAlgn="auto">
              <a:spcBef>
                <a:spcPts val="0"/>
              </a:spcBef>
              <a:spcAft>
                <a:spcPts val="0"/>
              </a:spcAft>
              <a:defRPr/>
            </a:pPr>
            <a:r>
              <a:rPr lang="ja-JP" altLang="en-US" sz="1400" dirty="0" smtClean="0">
                <a:solidFill>
                  <a:schemeClr val="tx1"/>
                </a:solidFill>
              </a:rPr>
              <a:t>提出</a:t>
            </a:r>
            <a:endParaRPr lang="en-US" altLang="ja-JP" sz="1400" dirty="0" smtClean="0">
              <a:solidFill>
                <a:schemeClr val="tx1"/>
              </a:solidFill>
            </a:endParaRPr>
          </a:p>
        </p:txBody>
      </p:sp>
      <p:cxnSp>
        <p:nvCxnSpPr>
          <p:cNvPr id="24" name="直線コネクタ 23"/>
          <p:cNvCxnSpPr/>
          <p:nvPr/>
        </p:nvCxnSpPr>
        <p:spPr>
          <a:xfrm>
            <a:off x="1101024" y="2534853"/>
            <a:ext cx="8676000" cy="0"/>
          </a:xfrm>
          <a:prstGeom prst="line">
            <a:avLst/>
          </a:prstGeom>
          <a:solidFill>
            <a:schemeClr val="bg1"/>
          </a:solidFill>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線コネクタ 24"/>
          <p:cNvCxnSpPr/>
          <p:nvPr/>
        </p:nvCxnSpPr>
        <p:spPr>
          <a:xfrm>
            <a:off x="1101024" y="3915055"/>
            <a:ext cx="8676000" cy="0"/>
          </a:xfrm>
          <a:prstGeom prst="line">
            <a:avLst/>
          </a:prstGeom>
          <a:solidFill>
            <a:schemeClr val="bg1"/>
          </a:solidFill>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a:off x="1101024" y="5295257"/>
            <a:ext cx="8676000" cy="0"/>
          </a:xfrm>
          <a:prstGeom prst="line">
            <a:avLst/>
          </a:prstGeom>
          <a:solidFill>
            <a:schemeClr val="bg1"/>
          </a:solidFill>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46" name="グループ化 45"/>
          <p:cNvGrpSpPr/>
          <p:nvPr/>
        </p:nvGrpSpPr>
        <p:grpSpPr>
          <a:xfrm>
            <a:off x="1112651" y="1196752"/>
            <a:ext cx="8664301" cy="1296000"/>
            <a:chOff x="1112651" y="1196752"/>
            <a:chExt cx="8664301" cy="1260000"/>
          </a:xfrm>
          <a:noFill/>
        </p:grpSpPr>
        <p:sp>
          <p:nvSpPr>
            <p:cNvPr id="30" name="正方形/長方形 29"/>
            <p:cNvSpPr/>
            <p:nvPr/>
          </p:nvSpPr>
          <p:spPr>
            <a:xfrm>
              <a:off x="1112651" y="1196752"/>
              <a:ext cx="1080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smtClean="0">
                  <a:solidFill>
                    <a:schemeClr val="tx1"/>
                  </a:solidFill>
                </a:rPr>
                <a:t>入職予定日</a:t>
              </a:r>
              <a:endParaRPr lang="en-US" altLang="ja-JP" sz="1200" dirty="0" smtClean="0">
                <a:solidFill>
                  <a:schemeClr val="tx1"/>
                </a:solidFill>
              </a:endParaRPr>
            </a:p>
            <a:p>
              <a:pPr algn="ctr"/>
              <a:r>
                <a:rPr lang="en-US" altLang="ja-JP" sz="1200" dirty="0" smtClean="0">
                  <a:solidFill>
                    <a:schemeClr val="tx1"/>
                  </a:solidFill>
                </a:rPr>
                <a:t>6</a:t>
              </a:r>
              <a:r>
                <a:rPr lang="ja-JP" altLang="en-US" sz="1200" dirty="0" smtClean="0">
                  <a:solidFill>
                    <a:schemeClr val="tx1"/>
                  </a:solidFill>
                </a:rPr>
                <a:t>～</a:t>
              </a:r>
              <a:r>
                <a:rPr lang="en-US" altLang="ja-JP" sz="1200" dirty="0" smtClean="0">
                  <a:solidFill>
                    <a:schemeClr val="tx1"/>
                  </a:solidFill>
                </a:rPr>
                <a:t>1</a:t>
              </a:r>
              <a:r>
                <a:rPr lang="ja-JP" altLang="en-US" sz="1200" dirty="0" smtClean="0">
                  <a:solidFill>
                    <a:schemeClr val="tx1"/>
                  </a:solidFill>
                </a:rPr>
                <a:t>ヵ月前</a:t>
              </a:r>
              <a:endParaRPr lang="ja-JP" altLang="en-US" sz="1200" dirty="0">
                <a:solidFill>
                  <a:schemeClr val="tx1"/>
                </a:solidFill>
              </a:endParaRPr>
            </a:p>
          </p:txBody>
        </p:sp>
        <p:sp>
          <p:nvSpPr>
            <p:cNvPr id="31" name="正方形/長方形 30"/>
            <p:cNvSpPr/>
            <p:nvPr/>
          </p:nvSpPr>
          <p:spPr>
            <a:xfrm>
              <a:off x="2276838" y="1196752"/>
              <a:ext cx="2196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fontAlgn="auto">
                <a:lnSpc>
                  <a:spcPct val="110000"/>
                </a:lnSpc>
                <a:spcBef>
                  <a:spcPts val="0"/>
                </a:spcBef>
                <a:spcAft>
                  <a:spcPts val="0"/>
                </a:spcAft>
                <a:buFont typeface="Wingdings" pitchFamily="2" charset="2"/>
                <a:buChar char="p"/>
                <a:defRPr/>
              </a:pPr>
              <a:r>
                <a:rPr kumimoji="0" lang="ja-JP" altLang="en-US" sz="1200" dirty="0" smtClean="0">
                  <a:solidFill>
                    <a:srgbClr val="000000"/>
                  </a:solidFill>
                </a:rPr>
                <a:t>現職の以下資料を確認する</a:t>
              </a:r>
              <a:endParaRPr kumimoji="0" lang="en-US" altLang="ja-JP" sz="1200" dirty="0" smtClean="0">
                <a:solidFill>
                  <a:srgbClr val="000000"/>
                </a:solidFill>
              </a:endParaRPr>
            </a:p>
            <a:p>
              <a:pPr marL="685800" lvl="1" indent="-228600">
                <a:lnSpc>
                  <a:spcPct val="110000"/>
                </a:lnSpc>
                <a:buFont typeface="Wingdings" pitchFamily="2" charset="2"/>
                <a:buChar char="p"/>
                <a:defRPr/>
              </a:pPr>
              <a:r>
                <a:rPr kumimoji="0" lang="ja-JP" altLang="en-US" sz="1200" dirty="0" smtClean="0">
                  <a:solidFill>
                    <a:srgbClr val="000000"/>
                  </a:solidFill>
                </a:rPr>
                <a:t>就業規則</a:t>
              </a:r>
              <a:endParaRPr kumimoji="0" lang="en-US" altLang="ja-JP" sz="1200" dirty="0" smtClean="0">
                <a:solidFill>
                  <a:srgbClr val="000000"/>
                </a:solidFill>
              </a:endParaRPr>
            </a:p>
            <a:p>
              <a:pPr marL="685800" lvl="1" indent="-228600">
                <a:lnSpc>
                  <a:spcPct val="110000"/>
                </a:lnSpc>
                <a:buFont typeface="Wingdings" pitchFamily="2" charset="2"/>
                <a:buChar char="p"/>
                <a:defRPr/>
              </a:pPr>
              <a:r>
                <a:rPr kumimoji="0" lang="ja-JP" altLang="en-US" sz="1200" dirty="0" smtClean="0">
                  <a:solidFill>
                    <a:srgbClr val="000000"/>
                  </a:solidFill>
                </a:rPr>
                <a:t>雇用契約書</a:t>
              </a:r>
              <a:endParaRPr kumimoji="0" lang="en-US" altLang="ja-JP" sz="1200" dirty="0">
                <a:solidFill>
                  <a:srgbClr val="000000"/>
                </a:solidFill>
              </a:endParaRPr>
            </a:p>
          </p:txBody>
        </p:sp>
        <p:sp>
          <p:nvSpPr>
            <p:cNvPr id="32" name="正方形/長方形 31"/>
            <p:cNvSpPr/>
            <p:nvPr/>
          </p:nvSpPr>
          <p:spPr>
            <a:xfrm>
              <a:off x="4520952" y="1196752"/>
              <a:ext cx="5256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fontAlgn="auto">
                <a:lnSpc>
                  <a:spcPct val="110000"/>
                </a:lnSpc>
                <a:spcBef>
                  <a:spcPts val="0"/>
                </a:spcBef>
                <a:spcAft>
                  <a:spcPts val="0"/>
                </a:spcAft>
                <a:buFont typeface="Wingdings" pitchFamily="2" charset="2"/>
                <a:buChar char="l"/>
                <a:defRPr/>
              </a:pPr>
              <a:r>
                <a:rPr kumimoji="0" lang="ja-JP" altLang="en-US" sz="1050" dirty="0" smtClean="0">
                  <a:solidFill>
                    <a:srgbClr val="000000"/>
                  </a:solidFill>
                </a:rPr>
                <a:t>期間の定めがある「有期雇用契約」である場合は、期間中の退職（退職予告期間や手続き）に関して定められていない限り、契約期間内の退職は原則出来ないので注意が必要です。</a:t>
              </a:r>
            </a:p>
            <a:p>
              <a:pPr marL="228600" indent="-228600" fontAlgn="auto">
                <a:lnSpc>
                  <a:spcPct val="110000"/>
                </a:lnSpc>
                <a:spcBef>
                  <a:spcPts val="0"/>
                </a:spcBef>
                <a:spcAft>
                  <a:spcPts val="0"/>
                </a:spcAft>
                <a:buFont typeface="Wingdings" pitchFamily="2" charset="2"/>
                <a:buChar char="l"/>
                <a:defRPr/>
              </a:pPr>
              <a:r>
                <a:rPr kumimoji="0" lang="ja-JP" altLang="en-US" sz="1050" dirty="0" smtClean="0">
                  <a:solidFill>
                    <a:srgbClr val="000000"/>
                  </a:solidFill>
                </a:rPr>
                <a:t> </a:t>
              </a:r>
              <a:r>
                <a:rPr kumimoji="0" lang="en-US" altLang="ja-JP" sz="1050" dirty="0" smtClean="0">
                  <a:solidFill>
                    <a:srgbClr val="000000"/>
                  </a:solidFill>
                </a:rPr>
                <a:t>2</a:t>
              </a:r>
              <a:r>
                <a:rPr kumimoji="0" lang="ja-JP" altLang="en-US" sz="1050" dirty="0" smtClean="0">
                  <a:solidFill>
                    <a:srgbClr val="000000"/>
                  </a:solidFill>
                </a:rPr>
                <a:t>週間～</a:t>
              </a:r>
              <a:r>
                <a:rPr kumimoji="0" lang="en-US" altLang="ja-JP" sz="1050" dirty="0" smtClean="0">
                  <a:solidFill>
                    <a:srgbClr val="000000"/>
                  </a:solidFill>
                </a:rPr>
                <a:t>1</a:t>
              </a:r>
              <a:r>
                <a:rPr kumimoji="0" lang="ja-JP" altLang="en-US" sz="1050" dirty="0" smtClean="0">
                  <a:solidFill>
                    <a:srgbClr val="000000"/>
                  </a:solidFill>
                </a:rPr>
                <a:t>か月前に退職予告期間を設定されている病院（施設）が殆どですが、まれに、</a:t>
              </a:r>
              <a:r>
                <a:rPr kumimoji="0" lang="en-US" altLang="ja-JP" sz="1050" dirty="0" smtClean="0">
                  <a:solidFill>
                    <a:srgbClr val="000000"/>
                  </a:solidFill>
                </a:rPr>
                <a:t>1</a:t>
              </a:r>
              <a:r>
                <a:rPr kumimoji="0" lang="ja-JP" altLang="en-US" sz="1050" dirty="0" smtClean="0">
                  <a:solidFill>
                    <a:srgbClr val="000000"/>
                  </a:solidFill>
                </a:rPr>
                <a:t>か月以上前に退職予告を設定している病院（施設）もあるのでご注意ください。</a:t>
              </a:r>
              <a:endParaRPr kumimoji="0" lang="en-US" altLang="ja-JP" sz="1050" dirty="0">
                <a:solidFill>
                  <a:srgbClr val="000000"/>
                </a:solidFill>
              </a:endParaRPr>
            </a:p>
          </p:txBody>
        </p:sp>
      </p:grpSp>
      <p:grpSp>
        <p:nvGrpSpPr>
          <p:cNvPr id="45" name="グループ化 44"/>
          <p:cNvGrpSpPr/>
          <p:nvPr/>
        </p:nvGrpSpPr>
        <p:grpSpPr>
          <a:xfrm>
            <a:off x="1112651" y="2576954"/>
            <a:ext cx="8736301" cy="1296000"/>
            <a:chOff x="1112651" y="2576954"/>
            <a:chExt cx="8736301" cy="1260000"/>
          </a:xfrm>
          <a:noFill/>
        </p:grpSpPr>
        <p:sp>
          <p:nvSpPr>
            <p:cNvPr id="29" name="正方形/長方形 28"/>
            <p:cNvSpPr/>
            <p:nvPr/>
          </p:nvSpPr>
          <p:spPr>
            <a:xfrm>
              <a:off x="1112651" y="2576954"/>
              <a:ext cx="1080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smtClean="0">
                  <a:solidFill>
                    <a:schemeClr val="tx1"/>
                  </a:solidFill>
                </a:rPr>
                <a:t>入職予定日</a:t>
              </a:r>
              <a:endParaRPr lang="en-US" altLang="ja-JP" sz="1200" dirty="0" smtClean="0">
                <a:solidFill>
                  <a:schemeClr val="tx1"/>
                </a:solidFill>
              </a:endParaRPr>
            </a:p>
            <a:p>
              <a:pPr algn="ctr"/>
              <a:r>
                <a:rPr lang="en-US" altLang="ja-JP" sz="1200" dirty="0" smtClean="0">
                  <a:solidFill>
                    <a:schemeClr val="tx1"/>
                  </a:solidFill>
                </a:rPr>
                <a:t>6</a:t>
              </a:r>
              <a:r>
                <a:rPr lang="ja-JP" altLang="en-US" sz="1200" dirty="0" smtClean="0">
                  <a:solidFill>
                    <a:schemeClr val="tx1"/>
                  </a:solidFill>
                </a:rPr>
                <a:t>～</a:t>
              </a:r>
              <a:r>
                <a:rPr lang="en-US" altLang="ja-JP" sz="1200" dirty="0" smtClean="0">
                  <a:solidFill>
                    <a:schemeClr val="tx1"/>
                  </a:solidFill>
                </a:rPr>
                <a:t>1</a:t>
              </a:r>
              <a:r>
                <a:rPr lang="ja-JP" altLang="en-US" sz="1200" dirty="0" smtClean="0">
                  <a:solidFill>
                    <a:schemeClr val="tx1"/>
                  </a:solidFill>
                </a:rPr>
                <a:t>ヵ月前</a:t>
              </a:r>
              <a:endParaRPr lang="ja-JP" altLang="en-US" sz="1200" dirty="0">
                <a:solidFill>
                  <a:schemeClr val="tx1"/>
                </a:solidFill>
              </a:endParaRPr>
            </a:p>
          </p:txBody>
        </p:sp>
        <p:sp>
          <p:nvSpPr>
            <p:cNvPr id="33" name="正方形/長方形 32"/>
            <p:cNvSpPr/>
            <p:nvPr/>
          </p:nvSpPr>
          <p:spPr>
            <a:xfrm>
              <a:off x="2276838" y="2576954"/>
              <a:ext cx="2196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fontAlgn="auto">
                <a:lnSpc>
                  <a:spcPct val="110000"/>
                </a:lnSpc>
                <a:spcBef>
                  <a:spcPts val="0"/>
                </a:spcBef>
                <a:spcAft>
                  <a:spcPts val="0"/>
                </a:spcAft>
                <a:buFont typeface="Wingdings" pitchFamily="2" charset="2"/>
                <a:buChar char="p"/>
                <a:defRPr/>
              </a:pPr>
              <a:r>
                <a:rPr kumimoji="0" lang="ja-JP" altLang="en-US" sz="1200" dirty="0" smtClean="0">
                  <a:solidFill>
                    <a:srgbClr val="000000"/>
                  </a:solidFill>
                </a:rPr>
                <a:t>直属の上司に退職を意向を伝える</a:t>
              </a:r>
              <a:endParaRPr kumimoji="0" lang="en-US" altLang="ja-JP" sz="1200" dirty="0" smtClean="0">
                <a:solidFill>
                  <a:srgbClr val="000000"/>
                </a:solidFill>
              </a:endParaRPr>
            </a:p>
          </p:txBody>
        </p:sp>
        <p:sp>
          <p:nvSpPr>
            <p:cNvPr id="34" name="正方形/長方形 33"/>
            <p:cNvSpPr/>
            <p:nvPr/>
          </p:nvSpPr>
          <p:spPr>
            <a:xfrm>
              <a:off x="4520952" y="2576954"/>
              <a:ext cx="5328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lnSpc>
                  <a:spcPct val="110000"/>
                </a:lnSpc>
                <a:buFont typeface="Wingdings" pitchFamily="2" charset="2"/>
                <a:buChar char="l"/>
                <a:defRPr/>
              </a:pPr>
              <a:r>
                <a:rPr kumimoji="0" lang="ja-JP" altLang="en-US" sz="1050" dirty="0" smtClean="0">
                  <a:solidFill>
                    <a:srgbClr val="000000"/>
                  </a:solidFill>
                </a:rPr>
                <a:t>最初に退職意思を伝える相手は直属の上司にしましょう。同僚などへ先に伝わってしまうと、後々感情的なしこりが残り、退職手続きがスムーズに進まなくなる恐れがあります。</a:t>
              </a:r>
              <a:endParaRPr kumimoji="0" lang="en-US" altLang="ja-JP" sz="1050" dirty="0" smtClean="0">
                <a:solidFill>
                  <a:srgbClr val="000000"/>
                </a:solidFill>
              </a:endParaRPr>
            </a:p>
            <a:p>
              <a:pPr marL="228600" indent="-228600">
                <a:lnSpc>
                  <a:spcPct val="110000"/>
                </a:lnSpc>
                <a:buFont typeface="Wingdings" pitchFamily="2" charset="2"/>
                <a:buChar char="l"/>
                <a:defRPr/>
              </a:pPr>
              <a:r>
                <a:rPr kumimoji="0" lang="ja-JP" altLang="en-US" sz="1050" dirty="0" smtClean="0">
                  <a:solidFill>
                    <a:srgbClr val="000000"/>
                  </a:solidFill>
                </a:rPr>
                <a:t>現職への批判や不満などを退職理由としてあげるのではなく、ポジティブな理由で退職する意思をお伝えすることをおすすめします。</a:t>
              </a:r>
              <a:endParaRPr kumimoji="0" lang="en-US" altLang="ja-JP" sz="1050" dirty="0" smtClean="0">
                <a:solidFill>
                  <a:srgbClr val="0000FF"/>
                </a:solidFill>
              </a:endParaRPr>
            </a:p>
            <a:p>
              <a:pPr marL="228600" indent="-228600">
                <a:lnSpc>
                  <a:spcPct val="110000"/>
                </a:lnSpc>
                <a:buFont typeface="Wingdings" pitchFamily="2" charset="2"/>
                <a:buChar char="l"/>
                <a:defRPr/>
              </a:pPr>
              <a:r>
                <a:rPr kumimoji="0" lang="ja-JP" altLang="en-US" sz="1050" dirty="0" smtClean="0">
                  <a:solidFill>
                    <a:srgbClr val="000000"/>
                  </a:solidFill>
                </a:rPr>
                <a:t>退職の引き留めを受ける可能性がありますが、ずるずると引き延ばしをしてしまうと、今の職場とこれからお世話になる転職先にそれぞれに迷惑をかけてしまうことになりますので、注意しましょう。</a:t>
              </a:r>
              <a:endParaRPr kumimoji="0" lang="en-US" altLang="ja-JP" sz="1050" dirty="0">
                <a:solidFill>
                  <a:srgbClr val="000000"/>
                </a:solidFill>
              </a:endParaRPr>
            </a:p>
          </p:txBody>
        </p:sp>
      </p:grpSp>
      <p:grpSp>
        <p:nvGrpSpPr>
          <p:cNvPr id="44" name="グループ化 43"/>
          <p:cNvGrpSpPr/>
          <p:nvPr/>
        </p:nvGrpSpPr>
        <p:grpSpPr>
          <a:xfrm>
            <a:off x="1112651" y="3957156"/>
            <a:ext cx="8664301" cy="1296000"/>
            <a:chOff x="1112651" y="3957156"/>
            <a:chExt cx="8664301" cy="1260000"/>
          </a:xfrm>
          <a:noFill/>
        </p:grpSpPr>
        <p:sp>
          <p:nvSpPr>
            <p:cNvPr id="36" name="正方形/長方形 35"/>
            <p:cNvSpPr/>
            <p:nvPr/>
          </p:nvSpPr>
          <p:spPr>
            <a:xfrm>
              <a:off x="1112651" y="3957156"/>
              <a:ext cx="1080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smtClean="0">
                  <a:solidFill>
                    <a:schemeClr val="tx1"/>
                  </a:solidFill>
                </a:rPr>
                <a:t>入職予定日</a:t>
              </a:r>
              <a:endParaRPr lang="en-US" altLang="ja-JP" sz="1200" dirty="0" smtClean="0">
                <a:solidFill>
                  <a:schemeClr val="tx1"/>
                </a:solidFill>
              </a:endParaRPr>
            </a:p>
            <a:p>
              <a:pPr algn="ctr"/>
              <a:r>
                <a:rPr lang="en-US" altLang="ja-JP" sz="1200" dirty="0" smtClean="0">
                  <a:solidFill>
                    <a:schemeClr val="tx1"/>
                  </a:solidFill>
                </a:rPr>
                <a:t>6</a:t>
              </a:r>
              <a:r>
                <a:rPr lang="ja-JP" altLang="en-US" sz="1200" dirty="0" smtClean="0">
                  <a:solidFill>
                    <a:schemeClr val="tx1"/>
                  </a:solidFill>
                </a:rPr>
                <a:t>～</a:t>
              </a:r>
              <a:r>
                <a:rPr lang="en-US" altLang="ja-JP" sz="1200" dirty="0" smtClean="0">
                  <a:solidFill>
                    <a:schemeClr val="tx1"/>
                  </a:solidFill>
                </a:rPr>
                <a:t>1</a:t>
              </a:r>
              <a:r>
                <a:rPr lang="ja-JP" altLang="en-US" sz="1200" dirty="0" smtClean="0">
                  <a:solidFill>
                    <a:schemeClr val="tx1"/>
                  </a:solidFill>
                </a:rPr>
                <a:t>ヵ月前</a:t>
              </a:r>
              <a:endParaRPr lang="ja-JP" altLang="en-US" sz="1200" dirty="0">
                <a:solidFill>
                  <a:schemeClr val="tx1"/>
                </a:solidFill>
              </a:endParaRPr>
            </a:p>
          </p:txBody>
        </p:sp>
        <p:sp>
          <p:nvSpPr>
            <p:cNvPr id="37" name="正方形/長方形 36"/>
            <p:cNvSpPr/>
            <p:nvPr/>
          </p:nvSpPr>
          <p:spPr>
            <a:xfrm>
              <a:off x="2276838" y="3957156"/>
              <a:ext cx="2196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buFont typeface="Wingdings" pitchFamily="2" charset="2"/>
                <a:buChar char="p"/>
              </a:pPr>
              <a:r>
                <a:rPr kumimoji="1" lang="ja-JP" altLang="en-US" sz="1200" dirty="0" smtClean="0">
                  <a:solidFill>
                    <a:schemeClr val="tx1"/>
                  </a:solidFill>
                </a:rPr>
                <a:t>人事や上司と相談し、退職日を確定させる</a:t>
              </a:r>
              <a:endParaRPr kumimoji="1" lang="ja-JP" altLang="en-US" sz="1200" dirty="0">
                <a:solidFill>
                  <a:schemeClr val="tx1"/>
                </a:solidFill>
              </a:endParaRPr>
            </a:p>
          </p:txBody>
        </p:sp>
        <p:sp>
          <p:nvSpPr>
            <p:cNvPr id="38" name="正方形/長方形 37"/>
            <p:cNvSpPr/>
            <p:nvPr/>
          </p:nvSpPr>
          <p:spPr>
            <a:xfrm>
              <a:off x="4520952" y="3957156"/>
              <a:ext cx="5256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fontAlgn="auto">
                <a:lnSpc>
                  <a:spcPct val="110000"/>
                </a:lnSpc>
                <a:spcBef>
                  <a:spcPts val="0"/>
                </a:spcBef>
                <a:spcAft>
                  <a:spcPts val="0"/>
                </a:spcAft>
                <a:buFont typeface="Wingdings" pitchFamily="2" charset="2"/>
                <a:buChar char="l"/>
                <a:defRPr/>
              </a:pPr>
              <a:r>
                <a:rPr kumimoji="0" lang="ja-JP" altLang="en-US" sz="1050" dirty="0" smtClean="0">
                  <a:solidFill>
                    <a:srgbClr val="000000"/>
                  </a:solidFill>
                </a:rPr>
                <a:t>最終出勤日と退職日は異なりますので、ご注意ください。</a:t>
              </a:r>
              <a:endParaRPr kumimoji="0" lang="en-US" altLang="ja-JP" sz="1050" dirty="0" smtClean="0">
                <a:solidFill>
                  <a:srgbClr val="000000"/>
                </a:solidFill>
              </a:endParaRPr>
            </a:p>
            <a:p>
              <a:pPr marL="685800" lvl="1" indent="-228600">
                <a:lnSpc>
                  <a:spcPct val="110000"/>
                </a:lnSpc>
                <a:buFont typeface="Wingdings" pitchFamily="2" charset="2"/>
                <a:buChar char="ü"/>
                <a:defRPr/>
              </a:pPr>
              <a:r>
                <a:rPr kumimoji="0" lang="ja-JP" altLang="en-US" sz="1050" dirty="0" smtClean="0">
                  <a:solidFill>
                    <a:srgbClr val="000000"/>
                  </a:solidFill>
                </a:rPr>
                <a:t>最終出勤日：タイムカード打刻を行い実動勤務する最終日</a:t>
              </a:r>
            </a:p>
            <a:p>
              <a:pPr marL="685800" lvl="1" indent="-228600">
                <a:lnSpc>
                  <a:spcPct val="110000"/>
                </a:lnSpc>
                <a:buFont typeface="Wingdings" pitchFamily="2" charset="2"/>
                <a:buChar char="ü"/>
                <a:defRPr/>
              </a:pPr>
              <a:r>
                <a:rPr kumimoji="0" lang="ja-JP" altLang="en-US" sz="1050" dirty="0" smtClean="0">
                  <a:solidFill>
                    <a:srgbClr val="000000"/>
                  </a:solidFill>
                </a:rPr>
                <a:t>退職日：現職を退職する日</a:t>
              </a:r>
            </a:p>
            <a:p>
              <a:pPr marL="228600" indent="-228600" fontAlgn="auto">
                <a:lnSpc>
                  <a:spcPct val="110000"/>
                </a:lnSpc>
                <a:spcBef>
                  <a:spcPts val="0"/>
                </a:spcBef>
                <a:spcAft>
                  <a:spcPts val="0"/>
                </a:spcAft>
                <a:buFont typeface="Wingdings" pitchFamily="2" charset="2"/>
                <a:buChar char="l"/>
                <a:defRPr/>
              </a:pPr>
              <a:r>
                <a:rPr kumimoji="0" lang="ja-JP" altLang="en-US" sz="1050" dirty="0" smtClean="0">
                  <a:solidFill>
                    <a:srgbClr val="000000"/>
                  </a:solidFill>
                </a:rPr>
                <a:t>有給消化によって退職日が延期になり、入職予定日が遅れると転職先へ迷惑をかけてしまいますので、退職日から逆算をして有給消化をして下さい。</a:t>
              </a:r>
              <a:endParaRPr kumimoji="0" lang="en-US" altLang="ja-JP" sz="1050" dirty="0" smtClean="0">
                <a:solidFill>
                  <a:srgbClr val="000000"/>
                </a:solidFill>
              </a:endParaRPr>
            </a:p>
            <a:p>
              <a:pPr marL="228600" indent="-228600" fontAlgn="auto">
                <a:lnSpc>
                  <a:spcPct val="110000"/>
                </a:lnSpc>
                <a:spcBef>
                  <a:spcPts val="0"/>
                </a:spcBef>
                <a:spcAft>
                  <a:spcPts val="0"/>
                </a:spcAft>
                <a:buFont typeface="Wingdings" pitchFamily="2" charset="2"/>
                <a:buChar char="l"/>
                <a:defRPr/>
              </a:pPr>
              <a:r>
                <a:rPr kumimoji="0" lang="ja-JP" altLang="en-US" sz="1050" dirty="0" smtClean="0">
                  <a:solidFill>
                    <a:srgbClr val="000000"/>
                  </a:solidFill>
                </a:rPr>
                <a:t>退職日が確定しましたら、担当コンサルタントまでご連絡をお願いします。もし入職予定日に間に合わない場合は再調整が必要なため、早急にご連絡をお願いします。</a:t>
              </a:r>
              <a:endParaRPr kumimoji="0" lang="ja-JP" altLang="en-US" sz="1050" dirty="0">
                <a:solidFill>
                  <a:srgbClr val="000000"/>
                </a:solidFill>
              </a:endParaRPr>
            </a:p>
          </p:txBody>
        </p:sp>
      </p:grpSp>
      <p:grpSp>
        <p:nvGrpSpPr>
          <p:cNvPr id="43" name="グループ化 42"/>
          <p:cNvGrpSpPr/>
          <p:nvPr/>
        </p:nvGrpSpPr>
        <p:grpSpPr>
          <a:xfrm>
            <a:off x="1112651" y="5337360"/>
            <a:ext cx="8664301" cy="1296000"/>
            <a:chOff x="1112651" y="5337360"/>
            <a:chExt cx="8664301" cy="1260000"/>
          </a:xfrm>
          <a:noFill/>
        </p:grpSpPr>
        <p:sp>
          <p:nvSpPr>
            <p:cNvPr id="40" name="正方形/長方形 39"/>
            <p:cNvSpPr/>
            <p:nvPr/>
          </p:nvSpPr>
          <p:spPr>
            <a:xfrm>
              <a:off x="1112651" y="5337360"/>
              <a:ext cx="1080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smtClean="0">
                  <a:solidFill>
                    <a:schemeClr val="tx1"/>
                  </a:solidFill>
                </a:rPr>
                <a:t>退職日</a:t>
              </a:r>
              <a:endParaRPr lang="en-US" altLang="ja-JP" sz="1200" dirty="0" smtClean="0">
                <a:solidFill>
                  <a:schemeClr val="tx1"/>
                </a:solidFill>
              </a:endParaRPr>
            </a:p>
            <a:p>
              <a:pPr algn="ctr"/>
              <a:r>
                <a:rPr lang="ja-JP" altLang="en-US" sz="1200" dirty="0" smtClean="0">
                  <a:solidFill>
                    <a:schemeClr val="tx1"/>
                  </a:solidFill>
                </a:rPr>
                <a:t>確定後</a:t>
              </a:r>
              <a:endParaRPr lang="ja-JP" altLang="en-US" sz="1200" dirty="0">
                <a:solidFill>
                  <a:schemeClr val="tx1"/>
                </a:solidFill>
              </a:endParaRPr>
            </a:p>
          </p:txBody>
        </p:sp>
        <p:sp>
          <p:nvSpPr>
            <p:cNvPr id="41" name="正方形/長方形 40"/>
            <p:cNvSpPr/>
            <p:nvPr/>
          </p:nvSpPr>
          <p:spPr>
            <a:xfrm>
              <a:off x="2276838" y="5337360"/>
              <a:ext cx="2196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buFont typeface="Wingdings" pitchFamily="2" charset="2"/>
                <a:buChar char="p"/>
              </a:pPr>
              <a:r>
                <a:rPr lang="ja-JP" altLang="en-US" sz="1200" dirty="0" smtClean="0">
                  <a:solidFill>
                    <a:schemeClr val="tx1"/>
                  </a:solidFill>
                </a:rPr>
                <a:t>退職届を提出する</a:t>
              </a:r>
              <a:endParaRPr kumimoji="1" lang="ja-JP" altLang="en-US" sz="1200" dirty="0">
                <a:solidFill>
                  <a:schemeClr val="tx1"/>
                </a:solidFill>
              </a:endParaRPr>
            </a:p>
          </p:txBody>
        </p:sp>
        <p:sp>
          <p:nvSpPr>
            <p:cNvPr id="42" name="正方形/長方形 41"/>
            <p:cNvSpPr/>
            <p:nvPr/>
          </p:nvSpPr>
          <p:spPr>
            <a:xfrm>
              <a:off x="4520952" y="5337360"/>
              <a:ext cx="5256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fontAlgn="auto">
                <a:lnSpc>
                  <a:spcPct val="110000"/>
                </a:lnSpc>
                <a:spcBef>
                  <a:spcPts val="0"/>
                </a:spcBef>
                <a:spcAft>
                  <a:spcPts val="0"/>
                </a:spcAft>
                <a:buFont typeface="Wingdings" pitchFamily="2" charset="2"/>
                <a:buChar char="l"/>
                <a:defRPr/>
              </a:pPr>
              <a:endParaRPr kumimoji="0" lang="en-US" altLang="ja-JP" sz="1050" dirty="0" smtClean="0">
                <a:solidFill>
                  <a:srgbClr val="000000"/>
                </a:solidFill>
              </a:endParaRPr>
            </a:p>
            <a:p>
              <a:pPr marL="228600" indent="-228600" fontAlgn="auto">
                <a:lnSpc>
                  <a:spcPct val="110000"/>
                </a:lnSpc>
                <a:spcBef>
                  <a:spcPts val="0"/>
                </a:spcBef>
                <a:spcAft>
                  <a:spcPts val="0"/>
                </a:spcAft>
                <a:buFont typeface="Wingdings" pitchFamily="2" charset="2"/>
                <a:buChar char="l"/>
                <a:defRPr/>
              </a:pPr>
              <a:r>
                <a:rPr kumimoji="0" lang="ja-JP" altLang="en-US" sz="1050" dirty="0" smtClean="0">
                  <a:solidFill>
                    <a:srgbClr val="000000"/>
                  </a:solidFill>
                </a:rPr>
                <a:t>退職届は勤務先によって指定のフォーマットがある場合がありますが、一旦自身が作成したものを提出しましょう。</a:t>
              </a:r>
              <a:endParaRPr kumimoji="0" lang="en-US" altLang="ja-JP" sz="1050" dirty="0" smtClean="0">
                <a:solidFill>
                  <a:srgbClr val="000000"/>
                </a:solidFill>
              </a:endParaRPr>
            </a:p>
            <a:p>
              <a:pPr marL="228600" indent="-228600" fontAlgn="auto">
                <a:lnSpc>
                  <a:spcPct val="110000"/>
                </a:lnSpc>
                <a:spcBef>
                  <a:spcPts val="0"/>
                </a:spcBef>
                <a:spcAft>
                  <a:spcPts val="0"/>
                </a:spcAft>
                <a:buFont typeface="Wingdings" pitchFamily="2" charset="2"/>
                <a:buChar char="l"/>
                <a:defRPr/>
              </a:pPr>
              <a:r>
                <a:rPr kumimoji="0" lang="ja-JP" altLang="en-US" sz="1050" dirty="0" smtClean="0">
                  <a:solidFill>
                    <a:srgbClr val="000000"/>
                  </a:solidFill>
                </a:rPr>
                <a:t>見本を</a:t>
              </a:r>
              <a:r>
                <a:rPr kumimoji="0" lang="en-US" altLang="ja-JP" sz="1050" dirty="0" smtClean="0">
                  <a:solidFill>
                    <a:srgbClr val="000000"/>
                  </a:solidFill>
                </a:rPr>
                <a:t>P7</a:t>
              </a:r>
              <a:r>
                <a:rPr kumimoji="0" lang="ja-JP" altLang="en-US" sz="1050" dirty="0" smtClean="0">
                  <a:solidFill>
                    <a:srgbClr val="000000"/>
                  </a:solidFill>
                </a:rPr>
                <a:t>に記載していますので、参考にして下さい。</a:t>
              </a:r>
              <a:endParaRPr kumimoji="0" lang="ja-JP" altLang="en-US" sz="1050" dirty="0">
                <a:solidFill>
                  <a:srgbClr val="000000"/>
                </a:solidFill>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3.</a:t>
            </a:r>
            <a:r>
              <a:rPr lang="ja-JP" altLang="en-US" dirty="0" smtClean="0"/>
              <a:t> 各項目のチェックポイント－</a:t>
            </a:r>
            <a:r>
              <a:rPr lang="en-US" altLang="ja-JP" dirty="0" smtClean="0"/>
              <a:t>C. </a:t>
            </a:r>
            <a:r>
              <a:rPr lang="ja-JP" altLang="en-US" dirty="0" smtClean="0"/>
              <a:t>退職</a:t>
            </a:r>
            <a:endParaRPr kumimoji="1" lang="ja-JP" altLang="en-US" dirty="0"/>
          </a:p>
        </p:txBody>
      </p:sp>
      <p:sp>
        <p:nvSpPr>
          <p:cNvPr id="3" name="スライド番号プレースホルダ 2"/>
          <p:cNvSpPr>
            <a:spLocks noGrp="1"/>
          </p:cNvSpPr>
          <p:nvPr>
            <p:ph type="sldNum" sz="quarter" idx="4"/>
          </p:nvPr>
        </p:nvSpPr>
        <p:spPr/>
        <p:txBody>
          <a:bodyPr/>
          <a:lstStyle/>
          <a:p>
            <a:fld id="{740D7FD4-7822-4578-8B62-36F67199AFDC}" type="slidenum">
              <a:rPr kumimoji="1" lang="ja-JP" altLang="en-US" smtClean="0"/>
              <a:pPr/>
              <a:t>6</a:t>
            </a:fld>
            <a:endParaRPr kumimoji="1" lang="ja-JP" altLang="en-US"/>
          </a:p>
        </p:txBody>
      </p:sp>
      <p:grpSp>
        <p:nvGrpSpPr>
          <p:cNvPr id="4" name="グループ化 11"/>
          <p:cNvGrpSpPr/>
          <p:nvPr/>
        </p:nvGrpSpPr>
        <p:grpSpPr>
          <a:xfrm>
            <a:off x="1112651" y="764704"/>
            <a:ext cx="1080000" cy="324000"/>
            <a:chOff x="539552" y="1484784"/>
            <a:chExt cx="3348000" cy="324000"/>
          </a:xfrm>
        </p:grpSpPr>
        <p:sp>
          <p:nvSpPr>
            <p:cNvPr id="5" name="正方形/長方形 4"/>
            <p:cNvSpPr/>
            <p:nvPr/>
          </p:nvSpPr>
          <p:spPr bwMode="auto">
            <a:xfrm>
              <a:off x="539552" y="1484784"/>
              <a:ext cx="334800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smtClean="0">
                  <a:ln>
                    <a:noFill/>
                  </a:ln>
                  <a:solidFill>
                    <a:schemeClr val="tx1"/>
                  </a:solidFill>
                  <a:effectLst/>
                  <a:latin typeface="Calibri" pitchFamily="34" charset="0"/>
                  <a:ea typeface="ＭＳ Ｐゴシック" pitchFamily="50" charset="-128"/>
                </a:rPr>
                <a:t>タイミング</a:t>
              </a:r>
            </a:p>
          </p:txBody>
        </p:sp>
        <p:cxnSp>
          <p:nvCxnSpPr>
            <p:cNvPr id="6" name="直線コネクタ 5"/>
            <p:cNvCxnSpPr/>
            <p:nvPr/>
          </p:nvCxnSpPr>
          <p:spPr bwMode="auto">
            <a:xfrm>
              <a:off x="539552" y="1808784"/>
              <a:ext cx="3348000" cy="0"/>
            </a:xfrm>
            <a:prstGeom prst="line">
              <a:avLst/>
            </a:prstGeom>
            <a:solidFill>
              <a:schemeClr val="accent1"/>
            </a:solidFill>
            <a:ln w="19050" cap="flat" cmpd="sng" algn="ctr">
              <a:solidFill>
                <a:srgbClr val="FF6600"/>
              </a:solidFill>
              <a:prstDash val="solid"/>
              <a:round/>
              <a:headEnd type="none" w="med" len="med"/>
              <a:tailEnd type="none" w="med" len="med"/>
            </a:ln>
            <a:effectLst/>
          </p:spPr>
        </p:cxnSp>
      </p:grpSp>
      <p:grpSp>
        <p:nvGrpSpPr>
          <p:cNvPr id="7" name="グループ化 11"/>
          <p:cNvGrpSpPr/>
          <p:nvPr/>
        </p:nvGrpSpPr>
        <p:grpSpPr>
          <a:xfrm>
            <a:off x="128464" y="764704"/>
            <a:ext cx="900000" cy="324000"/>
            <a:chOff x="539552" y="1484784"/>
            <a:chExt cx="3348000" cy="324000"/>
          </a:xfrm>
        </p:grpSpPr>
        <p:sp>
          <p:nvSpPr>
            <p:cNvPr id="8" name="正方形/長方形 7"/>
            <p:cNvSpPr/>
            <p:nvPr/>
          </p:nvSpPr>
          <p:spPr bwMode="auto">
            <a:xfrm>
              <a:off x="539552" y="1484784"/>
              <a:ext cx="334800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smtClean="0">
                  <a:ln>
                    <a:noFill/>
                  </a:ln>
                  <a:solidFill>
                    <a:schemeClr val="tx1"/>
                  </a:solidFill>
                  <a:effectLst/>
                  <a:latin typeface="Calibri" pitchFamily="34" charset="0"/>
                  <a:ea typeface="ＭＳ Ｐゴシック" pitchFamily="50" charset="-128"/>
                </a:rPr>
                <a:t>実施項目</a:t>
              </a:r>
            </a:p>
          </p:txBody>
        </p:sp>
        <p:cxnSp>
          <p:nvCxnSpPr>
            <p:cNvPr id="9" name="直線コネクタ 8"/>
            <p:cNvCxnSpPr/>
            <p:nvPr/>
          </p:nvCxnSpPr>
          <p:spPr bwMode="auto">
            <a:xfrm>
              <a:off x="539552" y="1808784"/>
              <a:ext cx="3348000" cy="0"/>
            </a:xfrm>
            <a:prstGeom prst="line">
              <a:avLst/>
            </a:prstGeom>
            <a:solidFill>
              <a:schemeClr val="accent1"/>
            </a:solidFill>
            <a:ln w="19050" cap="flat" cmpd="sng" algn="ctr">
              <a:solidFill>
                <a:srgbClr val="FF6600"/>
              </a:solidFill>
              <a:prstDash val="solid"/>
              <a:round/>
              <a:headEnd type="none" w="med" len="med"/>
              <a:tailEnd type="none" w="med" len="med"/>
            </a:ln>
            <a:effectLst/>
          </p:spPr>
        </p:cxnSp>
      </p:grpSp>
      <p:grpSp>
        <p:nvGrpSpPr>
          <p:cNvPr id="10" name="グループ化 11"/>
          <p:cNvGrpSpPr/>
          <p:nvPr/>
        </p:nvGrpSpPr>
        <p:grpSpPr>
          <a:xfrm>
            <a:off x="2276838" y="764704"/>
            <a:ext cx="2196000" cy="324000"/>
            <a:chOff x="539552" y="1484784"/>
            <a:chExt cx="3348000" cy="324000"/>
          </a:xfrm>
        </p:grpSpPr>
        <p:sp>
          <p:nvSpPr>
            <p:cNvPr id="11" name="正方形/長方形 10"/>
            <p:cNvSpPr/>
            <p:nvPr/>
          </p:nvSpPr>
          <p:spPr bwMode="auto">
            <a:xfrm>
              <a:off x="539552" y="1484784"/>
              <a:ext cx="334800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smtClean="0">
                  <a:ln>
                    <a:noFill/>
                  </a:ln>
                  <a:solidFill>
                    <a:schemeClr val="tx1"/>
                  </a:solidFill>
                  <a:effectLst/>
                  <a:latin typeface="Calibri" pitchFamily="34" charset="0"/>
                  <a:ea typeface="ＭＳ Ｐゴシック" pitchFamily="50" charset="-128"/>
                </a:rPr>
                <a:t>チェックポイント</a:t>
              </a:r>
            </a:p>
          </p:txBody>
        </p:sp>
        <p:cxnSp>
          <p:nvCxnSpPr>
            <p:cNvPr id="12" name="直線コネクタ 11"/>
            <p:cNvCxnSpPr/>
            <p:nvPr/>
          </p:nvCxnSpPr>
          <p:spPr bwMode="auto">
            <a:xfrm>
              <a:off x="539552" y="1808784"/>
              <a:ext cx="3348000" cy="0"/>
            </a:xfrm>
            <a:prstGeom prst="line">
              <a:avLst/>
            </a:prstGeom>
            <a:solidFill>
              <a:schemeClr val="accent1"/>
            </a:solidFill>
            <a:ln w="19050" cap="flat" cmpd="sng" algn="ctr">
              <a:solidFill>
                <a:srgbClr val="FF6600"/>
              </a:solidFill>
              <a:prstDash val="solid"/>
              <a:round/>
              <a:headEnd type="none" w="med" len="med"/>
              <a:tailEnd type="none" w="med" len="med"/>
            </a:ln>
            <a:effectLst/>
          </p:spPr>
        </p:cxnSp>
      </p:grpSp>
      <p:grpSp>
        <p:nvGrpSpPr>
          <p:cNvPr id="13" name="グループ化 11"/>
          <p:cNvGrpSpPr/>
          <p:nvPr/>
        </p:nvGrpSpPr>
        <p:grpSpPr>
          <a:xfrm>
            <a:off x="4520952" y="764704"/>
            <a:ext cx="5256000" cy="324000"/>
            <a:chOff x="539552" y="1484784"/>
            <a:chExt cx="3348000" cy="324000"/>
          </a:xfrm>
        </p:grpSpPr>
        <p:sp>
          <p:nvSpPr>
            <p:cNvPr id="14" name="正方形/長方形 13"/>
            <p:cNvSpPr/>
            <p:nvPr/>
          </p:nvSpPr>
          <p:spPr bwMode="auto">
            <a:xfrm>
              <a:off x="539552" y="1484784"/>
              <a:ext cx="334800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400" b="1" i="0" u="none" strike="noStrike" cap="none" normalizeH="0" baseline="0" dirty="0" smtClean="0">
                  <a:ln>
                    <a:noFill/>
                  </a:ln>
                  <a:solidFill>
                    <a:schemeClr val="tx1"/>
                  </a:solidFill>
                  <a:effectLst/>
                  <a:latin typeface="Calibri" pitchFamily="34" charset="0"/>
                  <a:ea typeface="ＭＳ Ｐゴシック" pitchFamily="50" charset="-128"/>
                </a:rPr>
                <a:t>アドバイス内容</a:t>
              </a:r>
            </a:p>
          </p:txBody>
        </p:sp>
        <p:cxnSp>
          <p:nvCxnSpPr>
            <p:cNvPr id="15" name="直線コネクタ 14"/>
            <p:cNvCxnSpPr/>
            <p:nvPr/>
          </p:nvCxnSpPr>
          <p:spPr bwMode="auto">
            <a:xfrm>
              <a:off x="539552" y="1808784"/>
              <a:ext cx="3348000" cy="0"/>
            </a:xfrm>
            <a:prstGeom prst="line">
              <a:avLst/>
            </a:prstGeom>
            <a:solidFill>
              <a:schemeClr val="accent1"/>
            </a:solidFill>
            <a:ln w="19050" cap="flat" cmpd="sng" algn="ctr">
              <a:solidFill>
                <a:srgbClr val="FF6600"/>
              </a:solidFill>
              <a:prstDash val="solid"/>
              <a:round/>
              <a:headEnd type="none" w="med" len="med"/>
              <a:tailEnd type="none" w="med" len="med"/>
            </a:ln>
            <a:effectLst/>
          </p:spPr>
        </p:cxnSp>
      </p:grpSp>
      <p:sp>
        <p:nvSpPr>
          <p:cNvPr id="16" name="ホームベース 15"/>
          <p:cNvSpPr/>
          <p:nvPr/>
        </p:nvSpPr>
        <p:spPr>
          <a:xfrm rot="5400000">
            <a:off x="-411536" y="1736752"/>
            <a:ext cx="1980000" cy="900000"/>
          </a:xfrm>
          <a:prstGeom prst="homePlate">
            <a:avLst>
              <a:gd name="adj" fmla="val 21596"/>
            </a:avLst>
          </a:prstGeom>
          <a:solidFill>
            <a:schemeClr val="bg1"/>
          </a:solidFill>
          <a:ln w="12700">
            <a:solidFill>
              <a:schemeClr val="tx1">
                <a:lumMod val="50000"/>
                <a:lumOff val="50000"/>
              </a:schemeClr>
            </a:solidFill>
          </a:ln>
          <a:effectLst>
            <a:outerShdw dist="508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fontAlgn="auto">
              <a:spcBef>
                <a:spcPts val="0"/>
              </a:spcBef>
              <a:spcAft>
                <a:spcPts val="0"/>
              </a:spcAft>
              <a:defRPr/>
            </a:pPr>
            <a:r>
              <a:rPr lang="ja-JP" altLang="en-US" sz="1400" dirty="0" smtClean="0">
                <a:solidFill>
                  <a:schemeClr val="tx1"/>
                </a:solidFill>
              </a:rPr>
              <a:t>必要書類受取り</a:t>
            </a:r>
            <a:endParaRPr lang="en-US" altLang="ja-JP" sz="1400" dirty="0" smtClean="0">
              <a:solidFill>
                <a:schemeClr val="tx1"/>
              </a:solidFill>
            </a:endParaRPr>
          </a:p>
        </p:txBody>
      </p:sp>
      <p:sp>
        <p:nvSpPr>
          <p:cNvPr id="17" name="ホームベース 16"/>
          <p:cNvSpPr/>
          <p:nvPr/>
        </p:nvSpPr>
        <p:spPr>
          <a:xfrm rot="5400000">
            <a:off x="-87536" y="3537024"/>
            <a:ext cx="1332000" cy="900000"/>
          </a:xfrm>
          <a:prstGeom prst="homePlate">
            <a:avLst>
              <a:gd name="adj" fmla="val 21596"/>
            </a:avLst>
          </a:prstGeom>
          <a:solidFill>
            <a:schemeClr val="bg1"/>
          </a:solidFill>
          <a:ln w="12700">
            <a:solidFill>
              <a:schemeClr val="tx1">
                <a:lumMod val="50000"/>
                <a:lumOff val="50000"/>
              </a:schemeClr>
            </a:solidFill>
          </a:ln>
          <a:effectLst>
            <a:outerShdw dist="508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fontAlgn="auto">
              <a:spcBef>
                <a:spcPts val="0"/>
              </a:spcBef>
              <a:spcAft>
                <a:spcPts val="0"/>
              </a:spcAft>
              <a:defRPr/>
            </a:pPr>
            <a:r>
              <a:rPr lang="ja-JP" altLang="en-US" sz="1400" dirty="0" smtClean="0">
                <a:solidFill>
                  <a:schemeClr val="tx1"/>
                </a:solidFill>
              </a:rPr>
              <a:t>関係者</a:t>
            </a:r>
            <a:endParaRPr lang="en-US" altLang="ja-JP" sz="1400" dirty="0" smtClean="0">
              <a:solidFill>
                <a:schemeClr val="tx1"/>
              </a:solidFill>
            </a:endParaRPr>
          </a:p>
          <a:p>
            <a:pPr algn="ctr" fontAlgn="auto">
              <a:spcBef>
                <a:spcPts val="0"/>
              </a:spcBef>
              <a:spcAft>
                <a:spcPts val="0"/>
              </a:spcAft>
              <a:defRPr/>
            </a:pPr>
            <a:r>
              <a:rPr lang="ja-JP" altLang="en-US" sz="1400" dirty="0" smtClean="0">
                <a:solidFill>
                  <a:schemeClr val="tx1"/>
                </a:solidFill>
              </a:rPr>
              <a:t>挨拶</a:t>
            </a:r>
            <a:endParaRPr lang="en-US" altLang="ja-JP" sz="1400" dirty="0" smtClean="0">
              <a:solidFill>
                <a:schemeClr val="tx1"/>
              </a:solidFill>
            </a:endParaRPr>
          </a:p>
        </p:txBody>
      </p:sp>
      <p:sp>
        <p:nvSpPr>
          <p:cNvPr id="18" name="ホームベース 17"/>
          <p:cNvSpPr/>
          <p:nvPr/>
        </p:nvSpPr>
        <p:spPr>
          <a:xfrm rot="5400000">
            <a:off x="-87536" y="4977296"/>
            <a:ext cx="1332000" cy="900000"/>
          </a:xfrm>
          <a:prstGeom prst="homePlate">
            <a:avLst>
              <a:gd name="adj" fmla="val 21596"/>
            </a:avLst>
          </a:prstGeom>
          <a:solidFill>
            <a:schemeClr val="bg1"/>
          </a:solidFill>
          <a:ln w="12700">
            <a:solidFill>
              <a:schemeClr val="tx1">
                <a:lumMod val="50000"/>
                <a:lumOff val="50000"/>
              </a:schemeClr>
            </a:solidFill>
          </a:ln>
          <a:effectLst>
            <a:outerShdw dist="50800" dir="270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anchor="ctr"/>
          <a:lstStyle/>
          <a:p>
            <a:pPr algn="ctr" fontAlgn="auto">
              <a:spcBef>
                <a:spcPts val="0"/>
              </a:spcBef>
              <a:spcAft>
                <a:spcPts val="0"/>
              </a:spcAft>
              <a:defRPr/>
            </a:pPr>
            <a:r>
              <a:rPr lang="ja-JP" altLang="en-US" sz="1400" dirty="0" smtClean="0">
                <a:solidFill>
                  <a:schemeClr val="tx1"/>
                </a:solidFill>
              </a:rPr>
              <a:t>担当コンサルタントへ連絡</a:t>
            </a:r>
            <a:endParaRPr lang="en-US" altLang="ja-JP" sz="1400" dirty="0" smtClean="0">
              <a:solidFill>
                <a:schemeClr val="tx1"/>
              </a:solidFill>
            </a:endParaRPr>
          </a:p>
        </p:txBody>
      </p:sp>
      <p:cxnSp>
        <p:nvCxnSpPr>
          <p:cNvPr id="24" name="直線コネクタ 23"/>
          <p:cNvCxnSpPr/>
          <p:nvPr/>
        </p:nvCxnSpPr>
        <p:spPr>
          <a:xfrm>
            <a:off x="1101024" y="3248888"/>
            <a:ext cx="8676000" cy="0"/>
          </a:xfrm>
          <a:prstGeom prst="line">
            <a:avLst/>
          </a:prstGeom>
          <a:solidFill>
            <a:schemeClr val="bg1"/>
          </a:solidFill>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線コネクタ 24"/>
          <p:cNvCxnSpPr/>
          <p:nvPr/>
        </p:nvCxnSpPr>
        <p:spPr>
          <a:xfrm>
            <a:off x="1101024" y="4689160"/>
            <a:ext cx="8676000" cy="0"/>
          </a:xfrm>
          <a:prstGeom prst="line">
            <a:avLst/>
          </a:prstGeom>
          <a:solidFill>
            <a:schemeClr val="bg1"/>
          </a:solidFill>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0" name="グループ化 45"/>
          <p:cNvGrpSpPr/>
          <p:nvPr/>
        </p:nvGrpSpPr>
        <p:grpSpPr>
          <a:xfrm>
            <a:off x="1112651" y="1196752"/>
            <a:ext cx="8664301" cy="1980000"/>
            <a:chOff x="1112651" y="1196752"/>
            <a:chExt cx="8664301" cy="1260000"/>
          </a:xfrm>
          <a:noFill/>
        </p:grpSpPr>
        <p:sp>
          <p:nvSpPr>
            <p:cNvPr id="30" name="正方形/長方形 29"/>
            <p:cNvSpPr/>
            <p:nvPr/>
          </p:nvSpPr>
          <p:spPr>
            <a:xfrm>
              <a:off x="1112651" y="1196752"/>
              <a:ext cx="1080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smtClean="0">
                  <a:solidFill>
                    <a:schemeClr val="tx1"/>
                  </a:solidFill>
                </a:rPr>
                <a:t>最終出勤日</a:t>
              </a:r>
              <a:endParaRPr lang="ja-JP" altLang="en-US" sz="1200" dirty="0">
                <a:solidFill>
                  <a:schemeClr val="tx1"/>
                </a:solidFill>
              </a:endParaRPr>
            </a:p>
          </p:txBody>
        </p:sp>
        <p:sp>
          <p:nvSpPr>
            <p:cNvPr id="31" name="正方形/長方形 30"/>
            <p:cNvSpPr/>
            <p:nvPr/>
          </p:nvSpPr>
          <p:spPr>
            <a:xfrm>
              <a:off x="2276838" y="1196752"/>
              <a:ext cx="2196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fontAlgn="auto">
                <a:lnSpc>
                  <a:spcPct val="110000"/>
                </a:lnSpc>
                <a:spcBef>
                  <a:spcPts val="0"/>
                </a:spcBef>
                <a:spcAft>
                  <a:spcPts val="0"/>
                </a:spcAft>
                <a:buFont typeface="Wingdings" pitchFamily="2" charset="2"/>
                <a:buChar char="p"/>
                <a:defRPr/>
              </a:pPr>
              <a:r>
                <a:rPr kumimoji="0" lang="ja-JP" altLang="en-US" sz="1200" dirty="0" smtClean="0">
                  <a:solidFill>
                    <a:srgbClr val="000000"/>
                  </a:solidFill>
                </a:rPr>
                <a:t>勤務先から離職時の必要書類を受け取る</a:t>
              </a:r>
              <a:endParaRPr kumimoji="0" lang="en-US" altLang="ja-JP" sz="1200" dirty="0" smtClean="0">
                <a:solidFill>
                  <a:srgbClr val="000000"/>
                </a:solidFill>
              </a:endParaRPr>
            </a:p>
          </p:txBody>
        </p:sp>
        <p:sp>
          <p:nvSpPr>
            <p:cNvPr id="32" name="正方形/長方形 31"/>
            <p:cNvSpPr/>
            <p:nvPr/>
          </p:nvSpPr>
          <p:spPr>
            <a:xfrm>
              <a:off x="4520952" y="1196752"/>
              <a:ext cx="5256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lnSpc>
                  <a:spcPct val="110000"/>
                </a:lnSpc>
                <a:buFont typeface="Wingdings" pitchFamily="2" charset="2"/>
                <a:buChar char="l"/>
                <a:defRPr/>
              </a:pPr>
              <a:r>
                <a:rPr kumimoji="0" lang="ja-JP" altLang="en-US" sz="1050" dirty="0" smtClean="0">
                  <a:solidFill>
                    <a:srgbClr val="000000"/>
                  </a:solidFill>
                </a:rPr>
                <a:t>離職時の必要書類は勤務先によって異なるケースもありますが、概ね以下のような書類になります。</a:t>
              </a:r>
              <a:endParaRPr kumimoji="0" lang="en-US" altLang="ja-JP" sz="1050" dirty="0" smtClean="0">
                <a:solidFill>
                  <a:srgbClr val="000000"/>
                </a:solidFill>
              </a:endParaRPr>
            </a:p>
            <a:p>
              <a:pPr marL="685800" lvl="1" indent="-228600">
                <a:lnSpc>
                  <a:spcPct val="110000"/>
                </a:lnSpc>
                <a:buFont typeface="Wingdings" pitchFamily="2" charset="2"/>
                <a:buChar char="ü"/>
                <a:defRPr/>
              </a:pPr>
              <a:r>
                <a:rPr kumimoji="0" lang="ja-JP" altLang="en-US" sz="1200" dirty="0" smtClean="0">
                  <a:solidFill>
                    <a:srgbClr val="000000"/>
                  </a:solidFill>
                </a:rPr>
                <a:t>雇用保険被保険者証</a:t>
              </a:r>
              <a:endParaRPr kumimoji="0" lang="en-US" altLang="ja-JP" sz="1200" dirty="0" smtClean="0">
                <a:solidFill>
                  <a:srgbClr val="000000"/>
                </a:solidFill>
              </a:endParaRPr>
            </a:p>
            <a:p>
              <a:pPr marL="685800" lvl="1" indent="-228600">
                <a:lnSpc>
                  <a:spcPct val="110000"/>
                </a:lnSpc>
                <a:buFont typeface="Wingdings" pitchFamily="2" charset="2"/>
                <a:buChar char="ü"/>
                <a:defRPr/>
              </a:pPr>
              <a:r>
                <a:rPr kumimoji="0" lang="ja-JP" altLang="en-US" sz="1200" dirty="0" smtClean="0">
                  <a:solidFill>
                    <a:srgbClr val="000000"/>
                  </a:solidFill>
                </a:rPr>
                <a:t>雇用保険被保険離職票</a:t>
              </a:r>
              <a:endParaRPr kumimoji="0" lang="en-US" altLang="ja-JP" sz="1200" dirty="0" smtClean="0">
                <a:solidFill>
                  <a:srgbClr val="000000"/>
                </a:solidFill>
              </a:endParaRPr>
            </a:p>
            <a:p>
              <a:pPr marL="685800" lvl="1" indent="-228600">
                <a:lnSpc>
                  <a:spcPct val="110000"/>
                </a:lnSpc>
                <a:buFont typeface="Wingdings" pitchFamily="2" charset="2"/>
                <a:buChar char="ü"/>
                <a:defRPr/>
              </a:pPr>
              <a:r>
                <a:rPr kumimoji="0" lang="ja-JP" altLang="en-US" sz="1200" dirty="0" smtClean="0">
                  <a:solidFill>
                    <a:srgbClr val="000000"/>
                  </a:solidFill>
                </a:rPr>
                <a:t>健康保険・厚生年金保険資格損失証明書</a:t>
              </a:r>
              <a:endParaRPr kumimoji="0" lang="en-US" altLang="ja-JP" sz="1200" dirty="0" smtClean="0">
                <a:solidFill>
                  <a:srgbClr val="000000"/>
                </a:solidFill>
              </a:endParaRPr>
            </a:p>
            <a:p>
              <a:pPr marL="685800" lvl="1" indent="-228600">
                <a:lnSpc>
                  <a:spcPct val="110000"/>
                </a:lnSpc>
                <a:buFont typeface="Wingdings" pitchFamily="2" charset="2"/>
                <a:buChar char="ü"/>
                <a:defRPr/>
              </a:pPr>
              <a:r>
                <a:rPr kumimoji="0" lang="ja-JP" altLang="en-US" sz="1200" dirty="0" smtClean="0">
                  <a:solidFill>
                    <a:srgbClr val="000000"/>
                  </a:solidFill>
                </a:rPr>
                <a:t>源泉徴収票</a:t>
              </a:r>
              <a:endParaRPr kumimoji="0" lang="en-US" altLang="ja-JP" sz="1200" dirty="0" smtClean="0">
                <a:solidFill>
                  <a:srgbClr val="000000"/>
                </a:solidFill>
              </a:endParaRPr>
            </a:p>
            <a:p>
              <a:pPr marL="685800" lvl="1" indent="-228600">
                <a:lnSpc>
                  <a:spcPct val="110000"/>
                </a:lnSpc>
                <a:buFont typeface="Wingdings" pitchFamily="2" charset="2"/>
                <a:buChar char="ü"/>
                <a:defRPr/>
              </a:pPr>
              <a:r>
                <a:rPr kumimoji="0" lang="ja-JP" altLang="en-US" sz="1200" dirty="0" smtClean="0">
                  <a:solidFill>
                    <a:srgbClr val="000000"/>
                  </a:solidFill>
                </a:rPr>
                <a:t>看護師資格証原本</a:t>
              </a:r>
              <a:endParaRPr kumimoji="0" lang="en-US" altLang="ja-JP" sz="1200" dirty="0" smtClean="0">
                <a:solidFill>
                  <a:srgbClr val="000000"/>
                </a:solidFill>
              </a:endParaRPr>
            </a:p>
            <a:p>
              <a:pPr marL="685800" lvl="1" indent="-228600">
                <a:lnSpc>
                  <a:spcPct val="110000"/>
                </a:lnSpc>
                <a:buFont typeface="Wingdings" pitchFamily="2" charset="2"/>
                <a:buChar char="ü"/>
                <a:defRPr/>
              </a:pPr>
              <a:r>
                <a:rPr kumimoji="0" lang="ja-JP" altLang="en-US" sz="1200" dirty="0" smtClean="0">
                  <a:solidFill>
                    <a:srgbClr val="000000"/>
                  </a:solidFill>
                </a:rPr>
                <a:t>退職証明書</a:t>
              </a:r>
              <a:endParaRPr kumimoji="0" lang="ja-JP" altLang="en-US" sz="1050" dirty="0" smtClean="0">
                <a:solidFill>
                  <a:srgbClr val="000000"/>
                </a:solidFill>
              </a:endParaRPr>
            </a:p>
            <a:p>
              <a:pPr marL="228600" indent="-228600" fontAlgn="auto">
                <a:lnSpc>
                  <a:spcPct val="110000"/>
                </a:lnSpc>
                <a:spcBef>
                  <a:spcPts val="0"/>
                </a:spcBef>
                <a:spcAft>
                  <a:spcPts val="0"/>
                </a:spcAft>
                <a:buFont typeface="Wingdings" pitchFamily="2" charset="2"/>
                <a:buChar char="l"/>
                <a:defRPr/>
              </a:pPr>
              <a:r>
                <a:rPr kumimoji="0" lang="ja-JP" altLang="en-US" sz="1050" dirty="0" smtClean="0">
                  <a:solidFill>
                    <a:srgbClr val="000000"/>
                  </a:solidFill>
                </a:rPr>
                <a:t> 勤務先によっては、後から郵送で送られてくるケースもあります。</a:t>
              </a:r>
              <a:endParaRPr kumimoji="0" lang="en-US" altLang="ja-JP" sz="1050" dirty="0">
                <a:solidFill>
                  <a:srgbClr val="000000"/>
                </a:solidFill>
              </a:endParaRPr>
            </a:p>
          </p:txBody>
        </p:sp>
      </p:grpSp>
      <p:grpSp>
        <p:nvGrpSpPr>
          <p:cNvPr id="21" name="グループ化 44"/>
          <p:cNvGrpSpPr/>
          <p:nvPr/>
        </p:nvGrpSpPr>
        <p:grpSpPr>
          <a:xfrm>
            <a:off x="1112651" y="3321024"/>
            <a:ext cx="8664301" cy="1296000"/>
            <a:chOff x="1112651" y="2576954"/>
            <a:chExt cx="8664301" cy="1260000"/>
          </a:xfrm>
          <a:noFill/>
        </p:grpSpPr>
        <p:sp>
          <p:nvSpPr>
            <p:cNvPr id="29" name="正方形/長方形 28"/>
            <p:cNvSpPr/>
            <p:nvPr/>
          </p:nvSpPr>
          <p:spPr>
            <a:xfrm>
              <a:off x="1112651" y="2576954"/>
              <a:ext cx="1080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smtClean="0">
                  <a:solidFill>
                    <a:schemeClr val="tx1"/>
                  </a:solidFill>
                </a:rPr>
                <a:t>最終出勤日</a:t>
              </a:r>
              <a:endParaRPr lang="ja-JP" altLang="en-US" sz="1200" dirty="0">
                <a:solidFill>
                  <a:schemeClr val="tx1"/>
                </a:solidFill>
              </a:endParaRPr>
            </a:p>
          </p:txBody>
        </p:sp>
        <p:sp>
          <p:nvSpPr>
            <p:cNvPr id="33" name="正方形/長方形 32"/>
            <p:cNvSpPr/>
            <p:nvPr/>
          </p:nvSpPr>
          <p:spPr>
            <a:xfrm>
              <a:off x="2276838" y="2576954"/>
              <a:ext cx="2196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fontAlgn="auto">
                <a:lnSpc>
                  <a:spcPct val="110000"/>
                </a:lnSpc>
                <a:spcBef>
                  <a:spcPts val="0"/>
                </a:spcBef>
                <a:spcAft>
                  <a:spcPts val="0"/>
                </a:spcAft>
                <a:buFont typeface="Wingdings" pitchFamily="2" charset="2"/>
                <a:buChar char="p"/>
                <a:defRPr/>
              </a:pPr>
              <a:r>
                <a:rPr kumimoji="0" lang="ja-JP" altLang="en-US" sz="1200" dirty="0" smtClean="0">
                  <a:solidFill>
                    <a:srgbClr val="000000"/>
                  </a:solidFill>
                </a:rPr>
                <a:t>お世話になった人達へ挨拶を行う</a:t>
              </a:r>
              <a:endParaRPr kumimoji="0" lang="en-US" altLang="ja-JP" sz="1200" dirty="0" smtClean="0">
                <a:solidFill>
                  <a:srgbClr val="000000"/>
                </a:solidFill>
              </a:endParaRPr>
            </a:p>
          </p:txBody>
        </p:sp>
        <p:sp>
          <p:nvSpPr>
            <p:cNvPr id="34" name="正方形/長方形 33"/>
            <p:cNvSpPr/>
            <p:nvPr/>
          </p:nvSpPr>
          <p:spPr>
            <a:xfrm>
              <a:off x="4520952" y="2576954"/>
              <a:ext cx="5256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lnSpc>
                  <a:spcPct val="110000"/>
                </a:lnSpc>
                <a:buFont typeface="Wingdings" pitchFamily="2" charset="2"/>
                <a:buChar char="l"/>
                <a:defRPr/>
              </a:pPr>
              <a:r>
                <a:rPr kumimoji="0" lang="ja-JP" altLang="en-US" sz="1050" dirty="0" smtClean="0">
                  <a:solidFill>
                    <a:srgbClr val="000000"/>
                  </a:solidFill>
                </a:rPr>
                <a:t>円満退職を行うためにも、今の職場でお世話になった方々には最終日に必ず挨拶をしましょう。</a:t>
              </a:r>
              <a:endParaRPr kumimoji="0" lang="en-US" altLang="ja-JP" sz="1050" dirty="0">
                <a:solidFill>
                  <a:srgbClr val="000000"/>
                </a:solidFill>
              </a:endParaRPr>
            </a:p>
          </p:txBody>
        </p:sp>
      </p:grpSp>
      <p:grpSp>
        <p:nvGrpSpPr>
          <p:cNvPr id="22" name="グループ化 43"/>
          <p:cNvGrpSpPr/>
          <p:nvPr/>
        </p:nvGrpSpPr>
        <p:grpSpPr>
          <a:xfrm>
            <a:off x="1112651" y="4761294"/>
            <a:ext cx="8664301" cy="1296000"/>
            <a:chOff x="1112651" y="3957156"/>
            <a:chExt cx="8664301" cy="1260000"/>
          </a:xfrm>
          <a:noFill/>
        </p:grpSpPr>
        <p:sp>
          <p:nvSpPr>
            <p:cNvPr id="36" name="正方形/長方形 35"/>
            <p:cNvSpPr/>
            <p:nvPr/>
          </p:nvSpPr>
          <p:spPr>
            <a:xfrm>
              <a:off x="1112651" y="3957156"/>
              <a:ext cx="1080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smtClean="0">
                  <a:solidFill>
                    <a:schemeClr val="tx1"/>
                  </a:solidFill>
                </a:rPr>
                <a:t>最終出勤</a:t>
              </a:r>
              <a:endParaRPr lang="en-US" altLang="ja-JP" sz="1200" dirty="0" smtClean="0">
                <a:solidFill>
                  <a:schemeClr val="tx1"/>
                </a:solidFill>
              </a:endParaRPr>
            </a:p>
            <a:p>
              <a:pPr algn="ctr"/>
              <a:r>
                <a:rPr lang="ja-JP" altLang="en-US" sz="1200" dirty="0" smtClean="0">
                  <a:solidFill>
                    <a:schemeClr val="tx1"/>
                  </a:solidFill>
                </a:rPr>
                <a:t>終了後</a:t>
              </a:r>
              <a:endParaRPr lang="ja-JP" altLang="en-US" sz="1200" dirty="0">
                <a:solidFill>
                  <a:schemeClr val="tx1"/>
                </a:solidFill>
              </a:endParaRPr>
            </a:p>
          </p:txBody>
        </p:sp>
        <p:sp>
          <p:nvSpPr>
            <p:cNvPr id="37" name="正方形/長方形 36"/>
            <p:cNvSpPr/>
            <p:nvPr/>
          </p:nvSpPr>
          <p:spPr>
            <a:xfrm>
              <a:off x="2276838" y="3957156"/>
              <a:ext cx="2196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buFont typeface="Wingdings" pitchFamily="2" charset="2"/>
                <a:buChar char="p"/>
              </a:pPr>
              <a:r>
                <a:rPr kumimoji="1" lang="ja-JP" altLang="en-US" sz="1200" dirty="0" smtClean="0">
                  <a:solidFill>
                    <a:schemeClr val="tx1"/>
                  </a:solidFill>
                </a:rPr>
                <a:t>担当コンサルタントへ退職した旨を伝える</a:t>
              </a:r>
              <a:endParaRPr kumimoji="1" lang="ja-JP" altLang="en-US" sz="1200" dirty="0">
                <a:solidFill>
                  <a:schemeClr val="tx1"/>
                </a:solidFill>
              </a:endParaRPr>
            </a:p>
          </p:txBody>
        </p:sp>
        <p:sp>
          <p:nvSpPr>
            <p:cNvPr id="38" name="正方形/長方形 37"/>
            <p:cNvSpPr/>
            <p:nvPr/>
          </p:nvSpPr>
          <p:spPr>
            <a:xfrm>
              <a:off x="4520952" y="3957156"/>
              <a:ext cx="5256000" cy="1260000"/>
            </a:xfrm>
            <a:prstGeom prst="rect">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fontAlgn="auto">
                <a:lnSpc>
                  <a:spcPct val="110000"/>
                </a:lnSpc>
                <a:spcBef>
                  <a:spcPts val="0"/>
                </a:spcBef>
                <a:spcAft>
                  <a:spcPts val="0"/>
                </a:spcAft>
                <a:buFont typeface="Wingdings" pitchFamily="2" charset="2"/>
                <a:buChar char="l"/>
                <a:defRPr/>
              </a:pPr>
              <a:r>
                <a:rPr kumimoji="0" lang="ja-JP" altLang="en-US" sz="1050" dirty="0" smtClean="0">
                  <a:solidFill>
                    <a:srgbClr val="000000"/>
                  </a:solidFill>
                </a:rPr>
                <a:t>無事退職が完了したら、担当コンサルタントから転職先の担当者へ連絡をしますので、ご連絡をお願いします。</a:t>
              </a:r>
              <a:endParaRPr kumimoji="0" lang="ja-JP" altLang="en-US" sz="1050" dirty="0">
                <a:solidFill>
                  <a:srgbClr val="000000"/>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0488" y="139700"/>
            <a:ext cx="8462962" cy="431800"/>
          </a:xfrm>
        </p:spPr>
        <p:txBody>
          <a:bodyPr rtlCol="0"/>
          <a:lstStyle/>
          <a:p>
            <a:pPr eaLnBrk="1" fontAlgn="auto" hangingPunct="1">
              <a:spcAft>
                <a:spcPts val="0"/>
              </a:spcAft>
              <a:defRPr/>
            </a:pPr>
            <a:r>
              <a:rPr lang="en-US" altLang="ja-JP" dirty="0" smtClean="0"/>
              <a:t>4.</a:t>
            </a:r>
            <a:r>
              <a:rPr lang="ja-JP" altLang="en-US" dirty="0" smtClean="0"/>
              <a:t> 退職手続き時のよくある事例</a:t>
            </a:r>
            <a:endParaRPr lang="ja-JP" altLang="en-US" dirty="0"/>
          </a:p>
        </p:txBody>
      </p:sp>
      <p:cxnSp>
        <p:nvCxnSpPr>
          <p:cNvPr id="124" name="直線コネクタ 123"/>
          <p:cNvCxnSpPr/>
          <p:nvPr/>
        </p:nvCxnSpPr>
        <p:spPr>
          <a:xfrm flipH="1">
            <a:off x="381000" y="3173439"/>
            <a:ext cx="9324975" cy="0"/>
          </a:xfrm>
          <a:prstGeom prst="line">
            <a:avLst/>
          </a:prstGeom>
          <a:solidFill>
            <a:schemeClr val="bg1"/>
          </a:solidFill>
          <a:ln w="12700">
            <a:solidFill>
              <a:srgbClr val="FF6600"/>
            </a:solidFill>
            <a:prstDash val="dash"/>
          </a:ln>
        </p:spPr>
        <p:style>
          <a:lnRef idx="1">
            <a:schemeClr val="accent1"/>
          </a:lnRef>
          <a:fillRef idx="0">
            <a:schemeClr val="accent1"/>
          </a:fillRef>
          <a:effectRef idx="0">
            <a:schemeClr val="accent1"/>
          </a:effectRef>
          <a:fontRef idx="minor">
            <a:schemeClr val="tx1"/>
          </a:fontRef>
        </p:style>
      </p:cxnSp>
      <p:grpSp>
        <p:nvGrpSpPr>
          <p:cNvPr id="3" name="グループ化 11"/>
          <p:cNvGrpSpPr>
            <a:grpSpLocks/>
          </p:cNvGrpSpPr>
          <p:nvPr/>
        </p:nvGrpSpPr>
        <p:grpSpPr bwMode="auto">
          <a:xfrm>
            <a:off x="200025" y="1664990"/>
            <a:ext cx="4464050" cy="323850"/>
            <a:chOff x="539552" y="1484784"/>
            <a:chExt cx="3348000" cy="324000"/>
          </a:xfrm>
        </p:grpSpPr>
        <p:sp>
          <p:nvSpPr>
            <p:cNvPr id="26656" name="正方形/長方形 40"/>
            <p:cNvSpPr>
              <a:spLocks noChangeArrowheads="1"/>
            </p:cNvSpPr>
            <p:nvPr/>
          </p:nvSpPr>
          <p:spPr bwMode="auto">
            <a:xfrm>
              <a:off x="539552" y="1484784"/>
              <a:ext cx="3348000" cy="324000"/>
            </a:xfrm>
            <a:prstGeom prst="rect">
              <a:avLst/>
            </a:prstGeom>
            <a:noFill/>
            <a:ln w="9525" algn="ctr">
              <a:noFill/>
              <a:round/>
              <a:headEnd/>
              <a:tailEnd/>
            </a:ln>
          </p:spPr>
          <p:txBody>
            <a:bodyPr anchor="ctr"/>
            <a:lstStyle/>
            <a:p>
              <a:pPr algn="ctr"/>
              <a:r>
                <a:rPr lang="ja-JP" altLang="en-US" sz="1400" b="1" dirty="0" smtClean="0">
                  <a:latin typeface="Calibri" pitchFamily="34" charset="0"/>
                </a:rPr>
                <a:t>退職手続き時に上司からあう引き留め事例</a:t>
              </a:r>
              <a:endParaRPr lang="ja-JP" altLang="en-US" sz="1400" b="1" dirty="0">
                <a:latin typeface="Calibri" pitchFamily="34" charset="0"/>
              </a:endParaRPr>
            </a:p>
          </p:txBody>
        </p:sp>
        <p:cxnSp>
          <p:nvCxnSpPr>
            <p:cNvPr id="26657" name="直線コネクタ 41"/>
            <p:cNvCxnSpPr>
              <a:cxnSpLocks noChangeShapeType="1"/>
            </p:cNvCxnSpPr>
            <p:nvPr/>
          </p:nvCxnSpPr>
          <p:spPr bwMode="auto">
            <a:xfrm>
              <a:off x="539552" y="1808784"/>
              <a:ext cx="3348000" cy="0"/>
            </a:xfrm>
            <a:prstGeom prst="line">
              <a:avLst/>
            </a:prstGeom>
            <a:noFill/>
            <a:ln w="19050" algn="ctr">
              <a:solidFill>
                <a:srgbClr val="FF6600"/>
              </a:solidFill>
              <a:round/>
              <a:headEnd/>
              <a:tailEnd/>
            </a:ln>
          </p:spPr>
        </p:cxnSp>
      </p:grpSp>
      <p:grpSp>
        <p:nvGrpSpPr>
          <p:cNvPr id="4" name="グループ化 11"/>
          <p:cNvGrpSpPr>
            <a:grpSpLocks/>
          </p:cNvGrpSpPr>
          <p:nvPr/>
        </p:nvGrpSpPr>
        <p:grpSpPr bwMode="auto">
          <a:xfrm>
            <a:off x="4951413" y="1664990"/>
            <a:ext cx="4752975" cy="323850"/>
            <a:chOff x="539552" y="1484784"/>
            <a:chExt cx="3348000" cy="324000"/>
          </a:xfrm>
        </p:grpSpPr>
        <p:sp>
          <p:nvSpPr>
            <p:cNvPr id="26654" name="正方形/長方形 43"/>
            <p:cNvSpPr>
              <a:spLocks noChangeArrowheads="1"/>
            </p:cNvSpPr>
            <p:nvPr/>
          </p:nvSpPr>
          <p:spPr bwMode="auto">
            <a:xfrm>
              <a:off x="539552" y="1484784"/>
              <a:ext cx="3348000" cy="324000"/>
            </a:xfrm>
            <a:prstGeom prst="rect">
              <a:avLst/>
            </a:prstGeom>
            <a:noFill/>
            <a:ln w="9525" algn="ctr">
              <a:noFill/>
              <a:round/>
              <a:headEnd/>
              <a:tailEnd/>
            </a:ln>
          </p:spPr>
          <p:txBody>
            <a:bodyPr anchor="ctr"/>
            <a:lstStyle/>
            <a:p>
              <a:pPr algn="ctr"/>
              <a:r>
                <a:rPr lang="ja-JP" altLang="en-US" sz="1400" b="1" dirty="0">
                  <a:latin typeface="Calibri" pitchFamily="34" charset="0"/>
                </a:rPr>
                <a:t>その後どうなったか</a:t>
              </a:r>
              <a:r>
                <a:rPr lang="ja-JP" altLang="en-US" sz="1400" b="1" dirty="0" smtClean="0">
                  <a:latin typeface="Calibri" pitchFamily="34" charset="0"/>
                </a:rPr>
                <a:t>（過去実際にあった事例を一部抜粋）</a:t>
              </a:r>
              <a:endParaRPr lang="ja-JP" altLang="en-US" sz="1400" b="1" dirty="0">
                <a:latin typeface="Calibri" pitchFamily="34" charset="0"/>
              </a:endParaRPr>
            </a:p>
          </p:txBody>
        </p:sp>
        <p:cxnSp>
          <p:nvCxnSpPr>
            <p:cNvPr id="26655" name="直線コネクタ 44"/>
            <p:cNvCxnSpPr>
              <a:cxnSpLocks noChangeShapeType="1"/>
            </p:cNvCxnSpPr>
            <p:nvPr/>
          </p:nvCxnSpPr>
          <p:spPr bwMode="auto">
            <a:xfrm>
              <a:off x="539552" y="1808784"/>
              <a:ext cx="3348000" cy="0"/>
            </a:xfrm>
            <a:prstGeom prst="line">
              <a:avLst/>
            </a:prstGeom>
            <a:noFill/>
            <a:ln w="19050" algn="ctr">
              <a:solidFill>
                <a:srgbClr val="FF6600"/>
              </a:solidFill>
              <a:round/>
              <a:headEnd/>
              <a:tailEnd/>
            </a:ln>
          </p:spPr>
        </p:cxnSp>
      </p:grpSp>
      <p:grpSp>
        <p:nvGrpSpPr>
          <p:cNvPr id="36" name="グループ化 35"/>
          <p:cNvGrpSpPr/>
          <p:nvPr/>
        </p:nvGrpSpPr>
        <p:grpSpPr>
          <a:xfrm>
            <a:off x="201613" y="2068785"/>
            <a:ext cx="9504362" cy="1044000"/>
            <a:chOff x="201613" y="1973263"/>
            <a:chExt cx="9504362" cy="1044000"/>
          </a:xfrm>
        </p:grpSpPr>
        <p:sp>
          <p:nvSpPr>
            <p:cNvPr id="46" name="正方形/長方形 45"/>
            <p:cNvSpPr/>
            <p:nvPr/>
          </p:nvSpPr>
          <p:spPr bwMode="auto">
            <a:xfrm>
              <a:off x="382588" y="1973263"/>
              <a:ext cx="4284662" cy="104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10000"/>
                </a:lnSpc>
                <a:defRPr/>
              </a:pPr>
              <a:r>
                <a:rPr kumimoji="0" lang="ja-JP" altLang="en-US" sz="1200" dirty="0" smtClean="0">
                  <a:solidFill>
                    <a:srgbClr val="000000"/>
                  </a:solidFill>
                </a:rPr>
                <a:t>「待遇</a:t>
              </a:r>
              <a:r>
                <a:rPr kumimoji="0" lang="ja-JP" altLang="en-US" sz="1200" dirty="0">
                  <a:solidFill>
                    <a:srgbClr val="000000"/>
                  </a:solidFill>
                </a:rPr>
                <a:t>（給与・休日・残業など）を改善するから</a:t>
              </a:r>
              <a:r>
                <a:rPr kumimoji="0" lang="ja-JP" altLang="en-US" sz="1200" dirty="0" smtClean="0">
                  <a:solidFill>
                    <a:srgbClr val="000000"/>
                  </a:solidFill>
                </a:rPr>
                <a:t>辞めないで欲しい」と説得された</a:t>
              </a:r>
              <a:endParaRPr kumimoji="0" lang="en-US" altLang="ja-JP" sz="1200" dirty="0" smtClean="0">
                <a:solidFill>
                  <a:srgbClr val="000000"/>
                </a:solidFill>
              </a:endParaRPr>
            </a:p>
          </p:txBody>
        </p:sp>
        <p:sp>
          <p:nvSpPr>
            <p:cNvPr id="47" name="正方形/長方形 46"/>
            <p:cNvSpPr/>
            <p:nvPr/>
          </p:nvSpPr>
          <p:spPr bwMode="auto">
            <a:xfrm>
              <a:off x="4954588" y="1973263"/>
              <a:ext cx="4751387" cy="104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fontAlgn="auto">
                <a:lnSpc>
                  <a:spcPct val="110000"/>
                </a:lnSpc>
                <a:spcBef>
                  <a:spcPts val="0"/>
                </a:spcBef>
                <a:spcAft>
                  <a:spcPts val="0"/>
                </a:spcAft>
                <a:buFont typeface="Wingdings" pitchFamily="2" charset="2"/>
                <a:buChar char="l"/>
                <a:defRPr/>
              </a:pPr>
              <a:r>
                <a:rPr kumimoji="0" lang="ja-JP" altLang="en-US" sz="1200" dirty="0" smtClean="0">
                  <a:solidFill>
                    <a:srgbClr val="000000"/>
                  </a:solidFill>
                </a:rPr>
                <a:t>変えると約束してくれたのに、結局何も変わらなかった</a:t>
              </a:r>
              <a:endParaRPr kumimoji="0" lang="en-US" altLang="ja-JP" sz="1200" dirty="0">
                <a:solidFill>
                  <a:srgbClr val="000000"/>
                </a:solidFill>
              </a:endParaRPr>
            </a:p>
            <a:p>
              <a:pPr marL="228600" indent="-228600" fontAlgn="auto">
                <a:lnSpc>
                  <a:spcPct val="110000"/>
                </a:lnSpc>
                <a:spcBef>
                  <a:spcPts val="0"/>
                </a:spcBef>
                <a:spcAft>
                  <a:spcPts val="0"/>
                </a:spcAft>
                <a:buFont typeface="Wingdings" pitchFamily="2" charset="2"/>
                <a:buChar char="l"/>
                <a:defRPr/>
              </a:pPr>
              <a:r>
                <a:rPr kumimoji="0" lang="ja-JP" altLang="en-US" sz="1200" dirty="0" smtClean="0">
                  <a:solidFill>
                    <a:srgbClr val="000000"/>
                  </a:solidFill>
                </a:rPr>
                <a:t>一時的に変わったが、期間</a:t>
              </a:r>
              <a:r>
                <a:rPr kumimoji="0" lang="ja-JP" altLang="en-US" sz="1200" dirty="0">
                  <a:solidFill>
                    <a:srgbClr val="000000"/>
                  </a:solidFill>
                </a:rPr>
                <a:t>限定だった</a:t>
              </a:r>
              <a:endParaRPr kumimoji="0" lang="en-US" altLang="ja-JP" sz="1200" dirty="0">
                <a:solidFill>
                  <a:srgbClr val="000000"/>
                </a:solidFill>
              </a:endParaRPr>
            </a:p>
            <a:p>
              <a:pPr marL="228600" indent="-228600" fontAlgn="auto">
                <a:lnSpc>
                  <a:spcPct val="110000"/>
                </a:lnSpc>
                <a:spcBef>
                  <a:spcPts val="0"/>
                </a:spcBef>
                <a:spcAft>
                  <a:spcPts val="0"/>
                </a:spcAft>
                <a:buFont typeface="Wingdings" pitchFamily="2" charset="2"/>
                <a:buChar char="l"/>
                <a:defRPr/>
              </a:pPr>
              <a:r>
                <a:rPr kumimoji="0" lang="ja-JP" altLang="en-US" sz="1200" dirty="0" smtClean="0">
                  <a:solidFill>
                    <a:srgbClr val="000000"/>
                  </a:solidFill>
                </a:rPr>
                <a:t>変わった</a:t>
              </a:r>
              <a:r>
                <a:rPr kumimoji="0" lang="ja-JP" altLang="en-US" sz="1200" dirty="0">
                  <a:solidFill>
                    <a:srgbClr val="000000"/>
                  </a:solidFill>
                </a:rPr>
                <a:t>が周りの看護師に噂が広まり働きづらくなった</a:t>
              </a:r>
              <a:endParaRPr kumimoji="0" lang="en-US" altLang="ja-JP" sz="1200" dirty="0">
                <a:solidFill>
                  <a:srgbClr val="000000"/>
                </a:solidFill>
              </a:endParaRPr>
            </a:p>
          </p:txBody>
        </p:sp>
        <p:cxnSp>
          <p:nvCxnSpPr>
            <p:cNvPr id="48" name="直線矢印コネクタ 47"/>
            <p:cNvCxnSpPr/>
            <p:nvPr/>
          </p:nvCxnSpPr>
          <p:spPr bwMode="auto">
            <a:xfrm>
              <a:off x="4667250" y="2494469"/>
              <a:ext cx="287338" cy="1588"/>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49" name="正方形/長方形 48"/>
            <p:cNvSpPr/>
            <p:nvPr/>
          </p:nvSpPr>
          <p:spPr bwMode="auto">
            <a:xfrm>
              <a:off x="201613" y="1973263"/>
              <a:ext cx="179387" cy="1044000"/>
            </a:xfrm>
            <a:prstGeom prst="rect">
              <a:avLst/>
            </a:prstGeom>
            <a:solidFill>
              <a:srgbClr val="FF6600"/>
            </a:solidFill>
            <a:ln w="127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ja-JP" sz="1200" b="1" dirty="0">
                  <a:solidFill>
                    <a:schemeClr val="bg1"/>
                  </a:solidFill>
                </a:rPr>
                <a:t>1</a:t>
              </a:r>
              <a:endParaRPr lang="ja-JP" altLang="en-US" sz="1200" b="1" dirty="0">
                <a:solidFill>
                  <a:schemeClr val="bg1"/>
                </a:solidFill>
              </a:endParaRPr>
            </a:p>
          </p:txBody>
        </p:sp>
      </p:grpSp>
      <p:grpSp>
        <p:nvGrpSpPr>
          <p:cNvPr id="37" name="グループ化 36"/>
          <p:cNvGrpSpPr/>
          <p:nvPr/>
        </p:nvGrpSpPr>
        <p:grpSpPr>
          <a:xfrm>
            <a:off x="200025" y="3234093"/>
            <a:ext cx="9504363" cy="1044000"/>
            <a:chOff x="200025" y="3086099"/>
            <a:chExt cx="9504363" cy="1044000"/>
          </a:xfrm>
        </p:grpSpPr>
        <p:sp>
          <p:nvSpPr>
            <p:cNvPr id="57" name="正方形/長方形 56"/>
            <p:cNvSpPr/>
            <p:nvPr/>
          </p:nvSpPr>
          <p:spPr bwMode="auto">
            <a:xfrm>
              <a:off x="381000" y="3086099"/>
              <a:ext cx="4284663" cy="104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10000"/>
                </a:lnSpc>
                <a:defRPr/>
              </a:pPr>
              <a:r>
                <a:rPr kumimoji="0" lang="ja-JP" altLang="en-US" sz="1200" dirty="0" smtClean="0">
                  <a:solidFill>
                    <a:srgbClr val="000000"/>
                  </a:solidFill>
                </a:rPr>
                <a:t>「希望通りの配属先にするから辞めないで」と説得された</a:t>
              </a:r>
              <a:endParaRPr kumimoji="0" lang="en-US" altLang="ja-JP" sz="1200" dirty="0" smtClean="0">
                <a:solidFill>
                  <a:srgbClr val="000000"/>
                </a:solidFill>
              </a:endParaRPr>
            </a:p>
          </p:txBody>
        </p:sp>
        <p:sp>
          <p:nvSpPr>
            <p:cNvPr id="58" name="正方形/長方形 57"/>
            <p:cNvSpPr/>
            <p:nvPr/>
          </p:nvSpPr>
          <p:spPr bwMode="auto">
            <a:xfrm>
              <a:off x="4953000" y="3086099"/>
              <a:ext cx="4751388" cy="104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a:lnSpc>
                  <a:spcPct val="110000"/>
                </a:lnSpc>
                <a:buFont typeface="Wingdings" pitchFamily="2" charset="2"/>
                <a:buChar char="l"/>
                <a:defRPr/>
              </a:pPr>
              <a:r>
                <a:rPr kumimoji="0" lang="ja-JP" altLang="en-US" sz="1200" dirty="0" smtClean="0">
                  <a:solidFill>
                    <a:srgbClr val="000000"/>
                  </a:solidFill>
                </a:rPr>
                <a:t>変えると約束してくれたのに、結局何も変わらなかった</a:t>
              </a:r>
              <a:endParaRPr kumimoji="0" lang="en-US" altLang="ja-JP" sz="1200" dirty="0">
                <a:solidFill>
                  <a:srgbClr val="000000"/>
                </a:solidFill>
              </a:endParaRPr>
            </a:p>
            <a:p>
              <a:pPr marL="228600" indent="-228600" fontAlgn="auto">
                <a:lnSpc>
                  <a:spcPct val="110000"/>
                </a:lnSpc>
                <a:spcBef>
                  <a:spcPts val="0"/>
                </a:spcBef>
                <a:spcAft>
                  <a:spcPts val="0"/>
                </a:spcAft>
                <a:buFont typeface="Wingdings" pitchFamily="2" charset="2"/>
                <a:buChar char="l"/>
                <a:defRPr/>
              </a:pPr>
              <a:r>
                <a:rPr kumimoji="0" lang="ja-JP" altLang="en-US" sz="1200" dirty="0" smtClean="0">
                  <a:solidFill>
                    <a:srgbClr val="000000"/>
                  </a:solidFill>
                </a:rPr>
                <a:t>一度は変わった</a:t>
              </a:r>
              <a:r>
                <a:rPr kumimoji="0" lang="ja-JP" altLang="en-US" sz="1200" dirty="0">
                  <a:solidFill>
                    <a:srgbClr val="000000"/>
                  </a:solidFill>
                </a:rPr>
                <a:t>がすぐに元の配属先に戻された</a:t>
              </a:r>
              <a:endParaRPr kumimoji="0" lang="en-US" altLang="ja-JP" sz="1200" dirty="0">
                <a:solidFill>
                  <a:srgbClr val="000000"/>
                </a:solidFill>
              </a:endParaRPr>
            </a:p>
            <a:p>
              <a:pPr marL="228600" indent="-228600" fontAlgn="auto">
                <a:lnSpc>
                  <a:spcPct val="110000"/>
                </a:lnSpc>
                <a:spcBef>
                  <a:spcPts val="0"/>
                </a:spcBef>
                <a:spcAft>
                  <a:spcPts val="0"/>
                </a:spcAft>
                <a:buFont typeface="Wingdings" pitchFamily="2" charset="2"/>
                <a:buChar char="l"/>
                <a:defRPr/>
              </a:pPr>
              <a:r>
                <a:rPr kumimoji="0" lang="ja-JP" altLang="en-US" sz="1200" dirty="0" smtClean="0">
                  <a:solidFill>
                    <a:srgbClr val="000000"/>
                  </a:solidFill>
                </a:rPr>
                <a:t>「配属先</a:t>
              </a:r>
              <a:r>
                <a:rPr kumimoji="0" lang="ja-JP" altLang="en-US" sz="1200" dirty="0">
                  <a:solidFill>
                    <a:srgbClr val="000000"/>
                  </a:solidFill>
                </a:rPr>
                <a:t>変更</a:t>
              </a:r>
              <a:r>
                <a:rPr kumimoji="0" lang="ja-JP" altLang="en-US" sz="1200" dirty="0" smtClean="0">
                  <a:solidFill>
                    <a:srgbClr val="000000"/>
                  </a:solidFill>
                </a:rPr>
                <a:t>するためには院内</a:t>
              </a:r>
              <a:r>
                <a:rPr kumimoji="0" lang="ja-JP" altLang="en-US" sz="1200" dirty="0">
                  <a:solidFill>
                    <a:srgbClr val="000000"/>
                  </a:solidFill>
                </a:rPr>
                <a:t>で配置転換しないといけない</a:t>
              </a:r>
              <a:r>
                <a:rPr kumimoji="0" lang="ja-JP" altLang="en-US" sz="1200" dirty="0" smtClean="0">
                  <a:solidFill>
                    <a:srgbClr val="000000"/>
                  </a:solidFill>
                </a:rPr>
                <a:t>から、少し待って」と</a:t>
              </a:r>
              <a:r>
                <a:rPr kumimoji="0" lang="ja-JP" altLang="en-US" sz="1200" dirty="0">
                  <a:solidFill>
                    <a:srgbClr val="000000"/>
                  </a:solidFill>
                </a:rPr>
                <a:t>言われて半年以上経過した</a:t>
              </a:r>
              <a:endParaRPr kumimoji="0" lang="en-US" altLang="ja-JP" sz="1200" dirty="0">
                <a:solidFill>
                  <a:srgbClr val="000000"/>
                </a:solidFill>
              </a:endParaRPr>
            </a:p>
          </p:txBody>
        </p:sp>
        <p:cxnSp>
          <p:nvCxnSpPr>
            <p:cNvPr id="59" name="直線矢印コネクタ 58"/>
            <p:cNvCxnSpPr/>
            <p:nvPr/>
          </p:nvCxnSpPr>
          <p:spPr bwMode="auto">
            <a:xfrm>
              <a:off x="4665663" y="3607305"/>
              <a:ext cx="287337" cy="1588"/>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60" name="正方形/長方形 59"/>
            <p:cNvSpPr/>
            <p:nvPr/>
          </p:nvSpPr>
          <p:spPr bwMode="auto">
            <a:xfrm>
              <a:off x="200025" y="3086099"/>
              <a:ext cx="179388" cy="1044000"/>
            </a:xfrm>
            <a:prstGeom prst="rect">
              <a:avLst/>
            </a:prstGeom>
            <a:solidFill>
              <a:srgbClr val="FF6600"/>
            </a:solidFill>
            <a:ln w="127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ja-JP" sz="1200" b="1" dirty="0">
                  <a:solidFill>
                    <a:schemeClr val="bg1"/>
                  </a:solidFill>
                </a:rPr>
                <a:t>2</a:t>
              </a:r>
              <a:endParaRPr lang="ja-JP" altLang="en-US" sz="1200" b="1" dirty="0">
                <a:solidFill>
                  <a:schemeClr val="bg1"/>
                </a:solidFill>
              </a:endParaRPr>
            </a:p>
          </p:txBody>
        </p:sp>
      </p:grpSp>
      <p:grpSp>
        <p:nvGrpSpPr>
          <p:cNvPr id="38" name="グループ化 37"/>
          <p:cNvGrpSpPr/>
          <p:nvPr/>
        </p:nvGrpSpPr>
        <p:grpSpPr>
          <a:xfrm>
            <a:off x="200025" y="4399401"/>
            <a:ext cx="9504363" cy="1044000"/>
            <a:chOff x="200025" y="4197349"/>
            <a:chExt cx="9504363" cy="1044000"/>
          </a:xfrm>
        </p:grpSpPr>
        <p:sp>
          <p:nvSpPr>
            <p:cNvPr id="63" name="正方形/長方形 62"/>
            <p:cNvSpPr/>
            <p:nvPr/>
          </p:nvSpPr>
          <p:spPr bwMode="auto">
            <a:xfrm>
              <a:off x="381000" y="4197349"/>
              <a:ext cx="4284663" cy="104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lnSpc>
                  <a:spcPct val="110000"/>
                </a:lnSpc>
                <a:spcBef>
                  <a:spcPts val="0"/>
                </a:spcBef>
                <a:spcAft>
                  <a:spcPts val="0"/>
                </a:spcAft>
                <a:defRPr/>
              </a:pPr>
              <a:r>
                <a:rPr kumimoji="0" lang="ja-JP" altLang="en-US" sz="1200" dirty="0" smtClean="0">
                  <a:solidFill>
                    <a:srgbClr val="000000"/>
                  </a:solidFill>
                </a:rPr>
                <a:t>「（</a:t>
              </a:r>
              <a:r>
                <a:rPr kumimoji="0" lang="ja-JP" altLang="en-US" sz="1200" dirty="0">
                  <a:solidFill>
                    <a:srgbClr val="000000"/>
                  </a:solidFill>
                </a:rPr>
                <a:t>転職先に対して）●●のような噂があるけど大丈夫</a:t>
              </a:r>
              <a:r>
                <a:rPr kumimoji="0" lang="ja-JP" altLang="en-US" sz="1200" dirty="0" smtClean="0">
                  <a:solidFill>
                    <a:srgbClr val="000000"/>
                  </a:solidFill>
                </a:rPr>
                <a:t>？」と言われた</a:t>
              </a:r>
              <a:endParaRPr kumimoji="0" lang="en-US" altLang="ja-JP" sz="1200" dirty="0">
                <a:solidFill>
                  <a:srgbClr val="000000"/>
                </a:solidFill>
              </a:endParaRPr>
            </a:p>
          </p:txBody>
        </p:sp>
        <p:sp>
          <p:nvSpPr>
            <p:cNvPr id="64" name="正方形/長方形 63"/>
            <p:cNvSpPr/>
            <p:nvPr/>
          </p:nvSpPr>
          <p:spPr bwMode="auto">
            <a:xfrm>
              <a:off x="4953000" y="4197349"/>
              <a:ext cx="4751388" cy="104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fontAlgn="auto">
                <a:lnSpc>
                  <a:spcPct val="110000"/>
                </a:lnSpc>
                <a:spcBef>
                  <a:spcPts val="0"/>
                </a:spcBef>
                <a:spcAft>
                  <a:spcPts val="0"/>
                </a:spcAft>
                <a:buFont typeface="Wingdings" pitchFamily="2" charset="2"/>
                <a:buChar char="l"/>
                <a:defRPr/>
              </a:pPr>
              <a:r>
                <a:rPr kumimoji="0" lang="ja-JP" altLang="en-US" sz="1200" dirty="0" smtClean="0">
                  <a:solidFill>
                    <a:srgbClr val="000000"/>
                  </a:solidFill>
                </a:rPr>
                <a:t>新しい職場に入職</a:t>
              </a:r>
              <a:r>
                <a:rPr kumimoji="0" lang="ja-JP" altLang="en-US" sz="1200" dirty="0">
                  <a:solidFill>
                    <a:srgbClr val="000000"/>
                  </a:solidFill>
                </a:rPr>
                <a:t>したが実際</a:t>
              </a:r>
              <a:r>
                <a:rPr kumimoji="0" lang="ja-JP" altLang="en-US" sz="1200" dirty="0" smtClean="0">
                  <a:solidFill>
                    <a:srgbClr val="000000"/>
                  </a:solidFill>
                </a:rPr>
                <a:t>は何もなかった</a:t>
              </a:r>
              <a:endParaRPr kumimoji="0" lang="en-US" altLang="ja-JP" sz="1200" dirty="0">
                <a:solidFill>
                  <a:srgbClr val="000000"/>
                </a:solidFill>
              </a:endParaRPr>
            </a:p>
            <a:p>
              <a:pPr marL="228600" indent="-228600" fontAlgn="auto">
                <a:lnSpc>
                  <a:spcPct val="110000"/>
                </a:lnSpc>
                <a:spcBef>
                  <a:spcPts val="0"/>
                </a:spcBef>
                <a:spcAft>
                  <a:spcPts val="0"/>
                </a:spcAft>
                <a:buFont typeface="Wingdings" pitchFamily="2" charset="2"/>
                <a:buChar char="l"/>
                <a:defRPr/>
              </a:pPr>
              <a:r>
                <a:rPr kumimoji="0" lang="ja-JP" altLang="en-US" sz="1200" dirty="0" smtClean="0">
                  <a:solidFill>
                    <a:srgbClr val="000000"/>
                  </a:solidFill>
                </a:rPr>
                <a:t>明らかに大げさに言っているということが入職してわかった</a:t>
              </a:r>
              <a:endParaRPr kumimoji="0" lang="en-US" altLang="ja-JP" sz="1200" dirty="0">
                <a:solidFill>
                  <a:srgbClr val="000000"/>
                </a:solidFill>
              </a:endParaRPr>
            </a:p>
            <a:p>
              <a:pPr marL="228600" indent="-228600" fontAlgn="auto">
                <a:lnSpc>
                  <a:spcPct val="110000"/>
                </a:lnSpc>
                <a:spcBef>
                  <a:spcPts val="0"/>
                </a:spcBef>
                <a:spcAft>
                  <a:spcPts val="0"/>
                </a:spcAft>
                <a:buFont typeface="ＭＳ Ｐゴシック" pitchFamily="50" charset="-128"/>
                <a:buChar char="※"/>
                <a:defRPr/>
              </a:pPr>
              <a:r>
                <a:rPr kumimoji="0" lang="ja-JP" altLang="en-US" sz="1200" dirty="0" smtClean="0">
                  <a:solidFill>
                    <a:srgbClr val="000000"/>
                  </a:solidFill>
                </a:rPr>
                <a:t>噂はあくまで噂で、人</a:t>
              </a:r>
              <a:r>
                <a:rPr kumimoji="0" lang="ja-JP" altLang="en-US" sz="1200" dirty="0">
                  <a:solidFill>
                    <a:srgbClr val="000000"/>
                  </a:solidFill>
                </a:rPr>
                <a:t>が違えば価値観・捉え方も</a:t>
              </a:r>
              <a:r>
                <a:rPr kumimoji="0" lang="ja-JP" altLang="en-US" sz="1200" dirty="0" smtClean="0">
                  <a:solidFill>
                    <a:srgbClr val="000000"/>
                  </a:solidFill>
                </a:rPr>
                <a:t>変わりますので、自分が面接時に感じた印象を信じましょう！</a:t>
              </a:r>
              <a:endParaRPr kumimoji="0" lang="en-US" altLang="ja-JP" sz="1200" dirty="0">
                <a:solidFill>
                  <a:srgbClr val="000000"/>
                </a:solidFill>
              </a:endParaRPr>
            </a:p>
          </p:txBody>
        </p:sp>
        <p:cxnSp>
          <p:nvCxnSpPr>
            <p:cNvPr id="65" name="直線矢印コネクタ 64"/>
            <p:cNvCxnSpPr/>
            <p:nvPr/>
          </p:nvCxnSpPr>
          <p:spPr bwMode="auto">
            <a:xfrm>
              <a:off x="4665663" y="4718555"/>
              <a:ext cx="287337" cy="1588"/>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66" name="正方形/長方形 65"/>
            <p:cNvSpPr/>
            <p:nvPr/>
          </p:nvSpPr>
          <p:spPr bwMode="auto">
            <a:xfrm>
              <a:off x="200025" y="4197349"/>
              <a:ext cx="179388" cy="1044000"/>
            </a:xfrm>
            <a:prstGeom prst="rect">
              <a:avLst/>
            </a:prstGeom>
            <a:solidFill>
              <a:srgbClr val="FF6600"/>
            </a:solidFill>
            <a:ln w="127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ja-JP" sz="1200" b="1" dirty="0">
                  <a:solidFill>
                    <a:schemeClr val="bg1"/>
                  </a:solidFill>
                </a:rPr>
                <a:t>3</a:t>
              </a:r>
              <a:endParaRPr lang="ja-JP" altLang="en-US" sz="1200" b="1" dirty="0">
                <a:solidFill>
                  <a:schemeClr val="bg1"/>
                </a:solidFill>
              </a:endParaRPr>
            </a:p>
          </p:txBody>
        </p:sp>
      </p:grpSp>
      <p:cxnSp>
        <p:nvCxnSpPr>
          <p:cNvPr id="72" name="直線コネクタ 71"/>
          <p:cNvCxnSpPr/>
          <p:nvPr/>
        </p:nvCxnSpPr>
        <p:spPr>
          <a:xfrm flipH="1">
            <a:off x="381000" y="4338747"/>
            <a:ext cx="9324975" cy="0"/>
          </a:xfrm>
          <a:prstGeom prst="line">
            <a:avLst/>
          </a:prstGeom>
          <a:solidFill>
            <a:schemeClr val="bg1"/>
          </a:solidFill>
          <a:ln w="12700">
            <a:solidFill>
              <a:srgbClr val="FF6600"/>
            </a:solidFill>
            <a:prstDash val="dash"/>
          </a:ln>
        </p:spPr>
        <p:style>
          <a:lnRef idx="1">
            <a:schemeClr val="accent1"/>
          </a:lnRef>
          <a:fillRef idx="0">
            <a:schemeClr val="accent1"/>
          </a:fillRef>
          <a:effectRef idx="0">
            <a:schemeClr val="accent1"/>
          </a:effectRef>
          <a:fontRef idx="minor">
            <a:schemeClr val="tx1"/>
          </a:fontRef>
        </p:style>
      </p:cxnSp>
      <p:cxnSp>
        <p:nvCxnSpPr>
          <p:cNvPr id="70" name="直線矢印コネクタ 69"/>
          <p:cNvCxnSpPr/>
          <p:nvPr/>
        </p:nvCxnSpPr>
        <p:spPr>
          <a:xfrm>
            <a:off x="4665663" y="6086709"/>
            <a:ext cx="285750" cy="1588"/>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grpSp>
        <p:nvGrpSpPr>
          <p:cNvPr id="35" name="グループ化 34"/>
          <p:cNvGrpSpPr/>
          <p:nvPr/>
        </p:nvGrpSpPr>
        <p:grpSpPr>
          <a:xfrm>
            <a:off x="215900" y="5564709"/>
            <a:ext cx="9488488" cy="1044000"/>
            <a:chOff x="215900" y="5322888"/>
            <a:chExt cx="9488488" cy="1044000"/>
          </a:xfrm>
        </p:grpSpPr>
        <p:sp>
          <p:nvSpPr>
            <p:cNvPr id="68" name="正方形/長方形 67"/>
            <p:cNvSpPr/>
            <p:nvPr/>
          </p:nvSpPr>
          <p:spPr>
            <a:xfrm>
              <a:off x="381000" y="5322888"/>
              <a:ext cx="4284663" cy="104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lnSpc>
                  <a:spcPct val="110000"/>
                </a:lnSpc>
                <a:spcBef>
                  <a:spcPts val="0"/>
                </a:spcBef>
                <a:spcAft>
                  <a:spcPts val="0"/>
                </a:spcAft>
                <a:defRPr/>
              </a:pPr>
              <a:r>
                <a:rPr kumimoji="0" lang="ja-JP" altLang="en-US" sz="1200" dirty="0" smtClean="0">
                  <a:solidFill>
                    <a:srgbClr val="000000"/>
                  </a:solidFill>
                </a:rPr>
                <a:t>「 ●●病院はあなたには無理よ」、「あなたには今の病院が合うよ」、「転職はまだ早すぎる」など、退職意思を</a:t>
              </a:r>
              <a:r>
                <a:rPr kumimoji="0" lang="ja-JP" altLang="en-US" sz="1200" dirty="0">
                  <a:solidFill>
                    <a:srgbClr val="000000"/>
                  </a:solidFill>
                </a:rPr>
                <a:t>伝えた</a:t>
              </a:r>
              <a:r>
                <a:rPr kumimoji="0" lang="ja-JP" altLang="en-US" sz="1200" dirty="0" smtClean="0">
                  <a:solidFill>
                    <a:srgbClr val="000000"/>
                  </a:solidFill>
                </a:rPr>
                <a:t>瞬間、</a:t>
              </a:r>
              <a:r>
                <a:rPr kumimoji="0" lang="ja-JP" altLang="en-US" sz="1200" dirty="0">
                  <a:solidFill>
                    <a:srgbClr val="000000"/>
                  </a:solidFill>
                </a:rPr>
                <a:t>急に優しく</a:t>
              </a:r>
              <a:r>
                <a:rPr kumimoji="0" lang="ja-JP" altLang="en-US" sz="1200" dirty="0" smtClean="0">
                  <a:solidFill>
                    <a:srgbClr val="000000"/>
                  </a:solidFill>
                </a:rPr>
                <a:t>なったり、不安</a:t>
              </a:r>
              <a:r>
                <a:rPr kumimoji="0" lang="ja-JP" altLang="en-US" sz="1200" dirty="0">
                  <a:solidFill>
                    <a:srgbClr val="000000"/>
                  </a:solidFill>
                </a:rPr>
                <a:t>をあおって</a:t>
              </a:r>
              <a:r>
                <a:rPr kumimoji="0" lang="ja-JP" altLang="en-US" sz="1200" dirty="0" smtClean="0">
                  <a:solidFill>
                    <a:srgbClr val="000000"/>
                  </a:solidFill>
                </a:rPr>
                <a:t>くる</a:t>
              </a:r>
              <a:endParaRPr kumimoji="0" lang="en-US" altLang="ja-JP" sz="1200" dirty="0">
                <a:solidFill>
                  <a:srgbClr val="000000"/>
                </a:solidFill>
              </a:endParaRPr>
            </a:p>
          </p:txBody>
        </p:sp>
        <p:sp>
          <p:nvSpPr>
            <p:cNvPr id="69" name="正方形/長方形 68"/>
            <p:cNvSpPr/>
            <p:nvPr/>
          </p:nvSpPr>
          <p:spPr>
            <a:xfrm>
              <a:off x="4951413" y="5322888"/>
              <a:ext cx="4752975" cy="1044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fontAlgn="auto">
                <a:lnSpc>
                  <a:spcPct val="110000"/>
                </a:lnSpc>
                <a:spcBef>
                  <a:spcPts val="0"/>
                </a:spcBef>
                <a:spcAft>
                  <a:spcPts val="0"/>
                </a:spcAft>
                <a:buFont typeface="Wingdings" pitchFamily="2" charset="2"/>
                <a:buChar char="l"/>
                <a:defRPr/>
              </a:pPr>
              <a:r>
                <a:rPr kumimoji="0" lang="ja-JP" altLang="en-US" sz="1200" dirty="0" smtClean="0">
                  <a:solidFill>
                    <a:srgbClr val="000000"/>
                  </a:solidFill>
                </a:rPr>
                <a:t>はじめだけでまたすぐに元</a:t>
              </a:r>
              <a:r>
                <a:rPr kumimoji="0" lang="ja-JP" altLang="en-US" sz="1200" dirty="0">
                  <a:solidFill>
                    <a:srgbClr val="000000"/>
                  </a:solidFill>
                </a:rPr>
                <a:t>に</a:t>
              </a:r>
              <a:r>
                <a:rPr kumimoji="0" lang="ja-JP" altLang="en-US" sz="1200" dirty="0" smtClean="0">
                  <a:solidFill>
                    <a:srgbClr val="000000"/>
                  </a:solidFill>
                </a:rPr>
                <a:t>戻ってしまった</a:t>
              </a:r>
              <a:endParaRPr kumimoji="0" lang="en-US" altLang="ja-JP" sz="1200" dirty="0">
                <a:solidFill>
                  <a:srgbClr val="000000"/>
                </a:solidFill>
              </a:endParaRPr>
            </a:p>
            <a:p>
              <a:pPr marL="228600" indent="-228600" fontAlgn="auto">
                <a:lnSpc>
                  <a:spcPct val="110000"/>
                </a:lnSpc>
                <a:spcBef>
                  <a:spcPts val="0"/>
                </a:spcBef>
                <a:spcAft>
                  <a:spcPts val="0"/>
                </a:spcAft>
                <a:buFont typeface="Wingdings" pitchFamily="2" charset="2"/>
                <a:buChar char="l"/>
                <a:defRPr/>
              </a:pPr>
              <a:r>
                <a:rPr kumimoji="0" lang="ja-JP" altLang="en-US" sz="1200" dirty="0" smtClean="0">
                  <a:solidFill>
                    <a:srgbClr val="000000"/>
                  </a:solidFill>
                </a:rPr>
                <a:t>無理</a:t>
              </a:r>
              <a:r>
                <a:rPr kumimoji="0" lang="ja-JP" altLang="en-US" sz="1200" dirty="0">
                  <a:solidFill>
                    <a:srgbClr val="000000"/>
                  </a:solidFill>
                </a:rPr>
                <a:t>の一点張りで聞く耳を持って</a:t>
              </a:r>
              <a:r>
                <a:rPr kumimoji="0" lang="ja-JP" altLang="en-US" sz="1200" dirty="0" smtClean="0">
                  <a:solidFill>
                    <a:srgbClr val="000000"/>
                  </a:solidFill>
                </a:rPr>
                <a:t>くれない</a:t>
              </a:r>
              <a:endParaRPr kumimoji="0" lang="en-US" altLang="ja-JP" sz="1200" dirty="0">
                <a:solidFill>
                  <a:srgbClr val="000000"/>
                </a:solidFill>
              </a:endParaRPr>
            </a:p>
            <a:p>
              <a:pPr marL="228600" indent="-228600" fontAlgn="auto">
                <a:lnSpc>
                  <a:spcPct val="110000"/>
                </a:lnSpc>
                <a:spcBef>
                  <a:spcPts val="0"/>
                </a:spcBef>
                <a:spcAft>
                  <a:spcPts val="0"/>
                </a:spcAft>
                <a:buFont typeface="ＭＳ Ｐゴシック" pitchFamily="50" charset="-128"/>
                <a:buChar char="※"/>
                <a:defRPr/>
              </a:pPr>
              <a:r>
                <a:rPr kumimoji="0" lang="ja-JP" altLang="en-US" sz="1200" dirty="0" smtClean="0">
                  <a:solidFill>
                    <a:srgbClr val="000000"/>
                  </a:solidFill>
                </a:rPr>
                <a:t>転職先はあなたを評価し、信頼して内定を頂いている状況ですので、ご不安にならず、</a:t>
              </a:r>
              <a:r>
                <a:rPr kumimoji="0" lang="ja-JP" altLang="en-US" sz="1200" dirty="0">
                  <a:solidFill>
                    <a:srgbClr val="000000"/>
                  </a:solidFill>
                </a:rPr>
                <a:t>何で転職したいのかをもう一度考えてみましょう</a:t>
              </a:r>
              <a:r>
                <a:rPr kumimoji="0" lang="ja-JP" altLang="en-US" sz="1200" dirty="0" smtClean="0">
                  <a:solidFill>
                    <a:srgbClr val="000000"/>
                  </a:solidFill>
                </a:rPr>
                <a:t>。不安点などがあればいつでもコンサルタント</a:t>
              </a:r>
              <a:r>
                <a:rPr kumimoji="0" lang="ja-JP" altLang="en-US" sz="1200" dirty="0">
                  <a:solidFill>
                    <a:srgbClr val="000000"/>
                  </a:solidFill>
                </a:rPr>
                <a:t>にご相談ください。</a:t>
              </a:r>
              <a:endParaRPr kumimoji="0" lang="en-US" altLang="ja-JP" sz="1200" dirty="0">
                <a:solidFill>
                  <a:srgbClr val="000000"/>
                </a:solidFill>
              </a:endParaRPr>
            </a:p>
          </p:txBody>
        </p:sp>
        <p:sp>
          <p:nvSpPr>
            <p:cNvPr id="71" name="正方形/長方形 70"/>
            <p:cNvSpPr/>
            <p:nvPr/>
          </p:nvSpPr>
          <p:spPr>
            <a:xfrm>
              <a:off x="215900" y="5322888"/>
              <a:ext cx="169863" cy="1044000"/>
            </a:xfrm>
            <a:prstGeom prst="rect">
              <a:avLst/>
            </a:prstGeom>
            <a:solidFill>
              <a:srgbClr val="FF6600"/>
            </a:solidFill>
            <a:ln w="127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ja-JP" sz="1400" b="1" dirty="0">
                  <a:solidFill>
                    <a:schemeClr val="bg1"/>
                  </a:solidFill>
                </a:rPr>
                <a:t>4</a:t>
              </a:r>
              <a:endParaRPr lang="ja-JP" altLang="en-US" sz="1400" b="1" dirty="0">
                <a:solidFill>
                  <a:schemeClr val="bg1"/>
                </a:solidFill>
              </a:endParaRPr>
            </a:p>
          </p:txBody>
        </p:sp>
      </p:grpSp>
      <p:cxnSp>
        <p:nvCxnSpPr>
          <p:cNvPr id="73" name="直線コネクタ 72"/>
          <p:cNvCxnSpPr/>
          <p:nvPr/>
        </p:nvCxnSpPr>
        <p:spPr>
          <a:xfrm flipH="1">
            <a:off x="381000" y="5504055"/>
            <a:ext cx="9324975" cy="0"/>
          </a:xfrm>
          <a:prstGeom prst="line">
            <a:avLst/>
          </a:prstGeom>
          <a:solidFill>
            <a:schemeClr val="bg1"/>
          </a:solidFill>
          <a:ln w="12700">
            <a:solidFill>
              <a:srgbClr val="FF6600"/>
            </a:solidFill>
            <a:prstDash val="dash"/>
          </a:ln>
        </p:spPr>
        <p:style>
          <a:lnRef idx="1">
            <a:schemeClr val="accent1"/>
          </a:lnRef>
          <a:fillRef idx="0">
            <a:schemeClr val="accent1"/>
          </a:fillRef>
          <a:effectRef idx="0">
            <a:schemeClr val="accent1"/>
          </a:effectRef>
          <a:fontRef idx="minor">
            <a:schemeClr val="tx1"/>
          </a:fontRef>
        </p:style>
      </p:cxnSp>
      <p:cxnSp>
        <p:nvCxnSpPr>
          <p:cNvPr id="74" name="直線コネクタ 73"/>
          <p:cNvCxnSpPr/>
          <p:nvPr/>
        </p:nvCxnSpPr>
        <p:spPr>
          <a:xfrm flipH="1">
            <a:off x="381000" y="6669360"/>
            <a:ext cx="9324975" cy="0"/>
          </a:xfrm>
          <a:prstGeom prst="line">
            <a:avLst/>
          </a:prstGeom>
          <a:solidFill>
            <a:schemeClr val="bg1"/>
          </a:solidFill>
          <a:ln w="12700">
            <a:solidFill>
              <a:srgbClr val="FF6600"/>
            </a:solidFill>
            <a:prstDash val="dash"/>
          </a:ln>
        </p:spPr>
        <p:style>
          <a:lnRef idx="1">
            <a:schemeClr val="accent1"/>
          </a:lnRef>
          <a:fillRef idx="0">
            <a:schemeClr val="accent1"/>
          </a:fillRef>
          <a:effectRef idx="0">
            <a:schemeClr val="accent1"/>
          </a:effectRef>
          <a:fontRef idx="minor">
            <a:schemeClr val="tx1"/>
          </a:fontRef>
        </p:style>
      </p:cxnSp>
      <p:sp>
        <p:nvSpPr>
          <p:cNvPr id="76" name="正方形/長方形 75"/>
          <p:cNvSpPr/>
          <p:nvPr/>
        </p:nvSpPr>
        <p:spPr bwMode="auto">
          <a:xfrm>
            <a:off x="177800" y="736600"/>
            <a:ext cx="9455150" cy="684000"/>
          </a:xfrm>
          <a:prstGeom prst="rect">
            <a:avLst/>
          </a:prstGeom>
          <a:solidFill>
            <a:schemeClr val="bg1"/>
          </a:solidFill>
          <a:ln w="9525" cap="flat" cmpd="sng" algn="ctr">
            <a:solidFill>
              <a:srgbClr val="FF6600"/>
            </a:solidFill>
            <a:prstDash val="solid"/>
            <a:round/>
            <a:headEnd type="none" w="med" len="med"/>
            <a:tailEnd type="none" w="med" len="med"/>
          </a:ln>
          <a:effectLst>
            <a:outerShdw dist="50800" dir="2700000" algn="tl" rotWithShape="0">
              <a:srgbClr val="FF6600">
                <a:alpha val="40000"/>
              </a:srgbClr>
            </a:outerShdw>
          </a:effectLst>
        </p:spPr>
        <p:txBody>
          <a:bodyPr tIns="72000" bIns="72000" anchor="ctr"/>
          <a:lstStyle/>
          <a:p>
            <a:pPr>
              <a:defRPr/>
            </a:pPr>
            <a:r>
              <a:rPr lang="ja-JP" altLang="en-US" sz="1600" dirty="0" smtClean="0">
                <a:latin typeface="+mn-lt"/>
              </a:rPr>
              <a:t>退職手続き時には看護部長や</a:t>
            </a:r>
            <a:r>
              <a:rPr lang="ja-JP" altLang="en-US" sz="1600" dirty="0" smtClean="0"/>
              <a:t>事務長</a:t>
            </a:r>
            <a:r>
              <a:rPr lang="ja-JP" altLang="en-US" sz="1600" dirty="0" smtClean="0">
                <a:latin typeface="+mn-lt"/>
              </a:rPr>
              <a:t>などから</a:t>
            </a:r>
            <a:r>
              <a:rPr lang="ja-JP" altLang="en-US" sz="1600" dirty="0" smtClean="0"/>
              <a:t>様々な方法で引き留めを受ける可能性があります。もちろん本当に対応してもらえるケースもありますが、その場しのぎに終わるケースもあるので、慎重に見</a:t>
            </a:r>
            <a:r>
              <a:rPr lang="ja-JP" altLang="en-US" sz="1600" dirty="0" smtClean="0">
                <a:latin typeface="+mn-lt"/>
              </a:rPr>
              <a:t>極めましょう。</a:t>
            </a:r>
            <a:endParaRPr lang="en-US" altLang="ja-JP" sz="1600" dirty="0">
              <a:latin typeface="+mn-lt"/>
            </a:endParaRPr>
          </a:p>
        </p:txBody>
      </p:sp>
      <p:sp>
        <p:nvSpPr>
          <p:cNvPr id="40" name="スライド番号プレースホルダ 18"/>
          <p:cNvSpPr>
            <a:spLocks noGrp="1"/>
          </p:cNvSpPr>
          <p:nvPr>
            <p:ph type="sldNum" sz="quarter" idx="4294967295"/>
          </p:nvPr>
        </p:nvSpPr>
        <p:spPr>
          <a:xfrm>
            <a:off x="9320213" y="6713538"/>
            <a:ext cx="585787" cy="144462"/>
          </a:xfrm>
          <a:prstGeom prst="rect">
            <a:avLst/>
          </a:prstGeom>
        </p:spPr>
        <p:txBody>
          <a:bodyPr/>
          <a:lstStyle/>
          <a:p>
            <a:pPr>
              <a:defRPr/>
            </a:pPr>
            <a:fld id="{89A2A523-9739-41FF-B6D4-D82590BE0C4E}" type="slidenum">
              <a:rPr lang="ja-JP" altLang="en-US" sz="1000" b="1" smtClean="0"/>
              <a:pPr>
                <a:defRPr/>
              </a:pPr>
              <a:t>7</a:t>
            </a:fld>
            <a:endParaRPr lang="ja-JP" altLang="en-US" sz="1000" b="1"/>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0488" y="139700"/>
            <a:ext cx="8462962" cy="431800"/>
          </a:xfrm>
        </p:spPr>
        <p:txBody>
          <a:bodyPr rtlCol="0"/>
          <a:lstStyle/>
          <a:p>
            <a:pPr eaLnBrk="1" fontAlgn="auto" hangingPunct="1">
              <a:spcAft>
                <a:spcPts val="0"/>
              </a:spcAft>
              <a:defRPr/>
            </a:pPr>
            <a:r>
              <a:rPr lang="en-US" altLang="ja-JP" dirty="0" smtClean="0"/>
              <a:t>5.</a:t>
            </a:r>
            <a:r>
              <a:rPr lang="ja-JP" altLang="en-US" dirty="0" smtClean="0"/>
              <a:t> 退職届の書き方</a:t>
            </a:r>
            <a:endParaRPr lang="ja-JP" altLang="en-US" dirty="0"/>
          </a:p>
        </p:txBody>
      </p:sp>
      <p:sp>
        <p:nvSpPr>
          <p:cNvPr id="1028" name="テキスト ボックス 61"/>
          <p:cNvSpPr txBox="1">
            <a:spLocks noChangeArrowheads="1"/>
          </p:cNvSpPr>
          <p:nvPr/>
        </p:nvSpPr>
        <p:spPr bwMode="auto">
          <a:xfrm>
            <a:off x="4665662" y="908050"/>
            <a:ext cx="2016000" cy="339725"/>
          </a:xfrm>
          <a:prstGeom prst="rect">
            <a:avLst/>
          </a:prstGeom>
          <a:noFill/>
          <a:ln w="9525">
            <a:noFill/>
            <a:miter lim="800000"/>
            <a:headEnd/>
            <a:tailEnd/>
          </a:ln>
        </p:spPr>
        <p:txBody>
          <a:bodyPr>
            <a:spAutoFit/>
          </a:bodyPr>
          <a:lstStyle/>
          <a:p>
            <a:pPr>
              <a:defRPr/>
            </a:pPr>
            <a:r>
              <a:rPr lang="ja-JP" altLang="en-US" sz="1600" dirty="0" smtClean="0">
                <a:latin typeface="+mj-ea"/>
                <a:ea typeface="+mj-ea"/>
              </a:rPr>
              <a:t>＜書き方</a:t>
            </a:r>
            <a:r>
              <a:rPr lang="ja-JP" altLang="en-US" sz="1600" dirty="0">
                <a:latin typeface="+mj-ea"/>
                <a:ea typeface="+mj-ea"/>
              </a:rPr>
              <a:t>の</a:t>
            </a:r>
            <a:r>
              <a:rPr lang="ja-JP" altLang="en-US" sz="1600" dirty="0" smtClean="0">
                <a:latin typeface="+mj-ea"/>
                <a:ea typeface="+mj-ea"/>
              </a:rPr>
              <a:t>注意点＞</a:t>
            </a:r>
            <a:endParaRPr lang="ja-JP" altLang="en-US" sz="1600" dirty="0">
              <a:latin typeface="+mj-ea"/>
              <a:ea typeface="+mj-ea"/>
            </a:endParaRPr>
          </a:p>
        </p:txBody>
      </p:sp>
      <p:sp>
        <p:nvSpPr>
          <p:cNvPr id="19" name="スライド番号プレースホルダ 18"/>
          <p:cNvSpPr>
            <a:spLocks noGrp="1"/>
          </p:cNvSpPr>
          <p:nvPr>
            <p:ph type="sldNum" sz="quarter" idx="4294967295"/>
          </p:nvPr>
        </p:nvSpPr>
        <p:spPr>
          <a:xfrm>
            <a:off x="9320213" y="6713538"/>
            <a:ext cx="585787" cy="144462"/>
          </a:xfrm>
          <a:prstGeom prst="rect">
            <a:avLst/>
          </a:prstGeom>
        </p:spPr>
        <p:txBody>
          <a:bodyPr/>
          <a:lstStyle/>
          <a:p>
            <a:pPr>
              <a:defRPr/>
            </a:pPr>
            <a:fld id="{89A2A523-9739-41FF-B6D4-D82590BE0C4E}" type="slidenum">
              <a:rPr lang="ja-JP" altLang="en-US" sz="1000" b="1" smtClean="0"/>
              <a:pPr>
                <a:defRPr/>
              </a:pPr>
              <a:t>8</a:t>
            </a:fld>
            <a:endParaRPr lang="ja-JP" altLang="en-US" sz="1000" b="1"/>
          </a:p>
        </p:txBody>
      </p:sp>
      <p:sp>
        <p:nvSpPr>
          <p:cNvPr id="20" name="正方形/長方形 19"/>
          <p:cNvSpPr/>
          <p:nvPr/>
        </p:nvSpPr>
        <p:spPr>
          <a:xfrm>
            <a:off x="164912" y="908720"/>
            <a:ext cx="3996000" cy="5760000"/>
          </a:xfrm>
          <a:prstGeom prst="rect">
            <a:avLst/>
          </a:prstGeom>
          <a:solidFill>
            <a:schemeClr val="bg1"/>
          </a:solidFill>
          <a:ln w="1270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vert="eaVert" anchor="t"/>
          <a:lstStyle/>
          <a:p>
            <a:pPr fontAlgn="auto">
              <a:spcBef>
                <a:spcPts val="0"/>
              </a:spcBef>
              <a:spcAft>
                <a:spcPts val="0"/>
              </a:spcAft>
              <a:defRPr/>
            </a:pPr>
            <a:r>
              <a:rPr lang="ja-JP" altLang="en-US" sz="1200" dirty="0" smtClean="0">
                <a:solidFill>
                  <a:schemeClr val="tx1"/>
                </a:solidFill>
              </a:rPr>
              <a:t>　　　　　　　　　　　　　　　　　　　　　</a:t>
            </a:r>
            <a:r>
              <a:rPr lang="en-US" altLang="ja-JP" sz="1200" dirty="0" smtClean="0">
                <a:solidFill>
                  <a:schemeClr val="tx1"/>
                </a:solidFill>
              </a:rPr>
              <a:t>※</a:t>
            </a:r>
            <a:r>
              <a:rPr lang="ja-JP" altLang="en-US" sz="1200" dirty="0" smtClean="0">
                <a:solidFill>
                  <a:schemeClr val="tx1"/>
                </a:solidFill>
              </a:rPr>
              <a:t>①退職願</a:t>
            </a:r>
            <a:endParaRPr lang="en-US" altLang="ja-JP" sz="1200" dirty="0" smtClean="0">
              <a:solidFill>
                <a:schemeClr val="tx1"/>
              </a:solidFill>
            </a:endParaRPr>
          </a:p>
          <a:p>
            <a:pPr fontAlgn="auto">
              <a:spcBef>
                <a:spcPts val="0"/>
              </a:spcBef>
              <a:spcAft>
                <a:spcPts val="0"/>
              </a:spcAft>
              <a:defRPr/>
            </a:pPr>
            <a:endParaRPr lang="en-US" altLang="ja-JP" sz="1200" dirty="0" smtClean="0">
              <a:solidFill>
                <a:schemeClr val="tx1"/>
              </a:solidFill>
            </a:endParaRPr>
          </a:p>
          <a:p>
            <a:pPr fontAlgn="auto">
              <a:spcBef>
                <a:spcPts val="0"/>
              </a:spcBef>
              <a:spcAft>
                <a:spcPts val="0"/>
              </a:spcAft>
              <a:defRPr/>
            </a:pPr>
            <a:endParaRPr lang="en-US" altLang="ja-JP" sz="1200" dirty="0" smtClean="0">
              <a:solidFill>
                <a:schemeClr val="tx1"/>
              </a:solidFill>
            </a:endParaRPr>
          </a:p>
          <a:p>
            <a:pPr algn="ctr" fontAlgn="auto">
              <a:spcBef>
                <a:spcPts val="0"/>
              </a:spcBef>
              <a:spcAft>
                <a:spcPts val="0"/>
              </a:spcAft>
              <a:defRPr/>
            </a:pPr>
            <a:r>
              <a:rPr lang="ja-JP" altLang="en-US" sz="1200" dirty="0" smtClean="0">
                <a:solidFill>
                  <a:schemeClr val="tx1"/>
                </a:solidFill>
              </a:rPr>
              <a:t>　　　　　　　　　　　　　　　　　　　　　　　　　　　　　　　　　　　</a:t>
            </a:r>
            <a:r>
              <a:rPr lang="en-US" altLang="ja-JP" sz="1200" dirty="0" smtClean="0">
                <a:solidFill>
                  <a:schemeClr val="tx1"/>
                </a:solidFill>
              </a:rPr>
              <a:t>※</a:t>
            </a:r>
            <a:r>
              <a:rPr lang="ja-JP" altLang="en-US" sz="1200" dirty="0" smtClean="0">
                <a:solidFill>
                  <a:schemeClr val="tx1"/>
                </a:solidFill>
              </a:rPr>
              <a:t>②私事</a:t>
            </a:r>
            <a:endParaRPr lang="en-US" altLang="ja-JP" sz="1200" dirty="0" smtClean="0">
              <a:solidFill>
                <a:schemeClr val="tx1"/>
              </a:solidFill>
            </a:endParaRPr>
          </a:p>
          <a:p>
            <a:pPr algn="ctr" fontAlgn="auto">
              <a:spcBef>
                <a:spcPts val="0"/>
              </a:spcBef>
              <a:spcAft>
                <a:spcPts val="0"/>
              </a:spcAft>
              <a:defRPr/>
            </a:pPr>
            <a:endParaRPr lang="en-US" altLang="ja-JP" sz="1200" dirty="0" smtClean="0">
              <a:solidFill>
                <a:schemeClr val="tx1"/>
              </a:solidFill>
            </a:endParaRPr>
          </a:p>
          <a:p>
            <a:pPr fontAlgn="auto">
              <a:spcBef>
                <a:spcPts val="0"/>
              </a:spcBef>
              <a:spcAft>
                <a:spcPts val="0"/>
              </a:spcAft>
              <a:defRPr/>
            </a:pPr>
            <a:endParaRPr lang="en-US" altLang="ja-JP" sz="1200" dirty="0" smtClean="0">
              <a:solidFill>
                <a:schemeClr val="tx1"/>
              </a:solidFill>
            </a:endParaRPr>
          </a:p>
          <a:p>
            <a:pPr fontAlgn="auto">
              <a:spcBef>
                <a:spcPts val="0"/>
              </a:spcBef>
              <a:spcAft>
                <a:spcPts val="0"/>
              </a:spcAft>
              <a:defRPr/>
            </a:pPr>
            <a:endParaRPr lang="en-US" altLang="ja-JP" sz="1200" dirty="0" smtClean="0">
              <a:solidFill>
                <a:schemeClr val="tx1"/>
              </a:solidFill>
            </a:endParaRPr>
          </a:p>
          <a:p>
            <a:pPr fontAlgn="auto">
              <a:spcBef>
                <a:spcPts val="0"/>
              </a:spcBef>
              <a:spcAft>
                <a:spcPts val="0"/>
              </a:spcAft>
              <a:defRPr/>
            </a:pPr>
            <a:r>
              <a:rPr lang="en-US" altLang="ja-JP" sz="1200" dirty="0" smtClean="0">
                <a:solidFill>
                  <a:schemeClr val="tx1"/>
                </a:solidFill>
              </a:rPr>
              <a:t>※</a:t>
            </a:r>
            <a:r>
              <a:rPr lang="ja-JP" altLang="en-US" sz="1200" dirty="0" smtClean="0">
                <a:solidFill>
                  <a:schemeClr val="tx1"/>
                </a:solidFill>
              </a:rPr>
              <a:t>③　この度一身上の都合により、平成　●●　年　 ●●　月　●●　日をもちまして</a:t>
            </a:r>
            <a:endParaRPr lang="en-US" altLang="ja-JP" sz="1200" dirty="0" smtClean="0">
              <a:solidFill>
                <a:schemeClr val="tx1"/>
              </a:solidFill>
            </a:endParaRPr>
          </a:p>
          <a:p>
            <a:pPr fontAlgn="auto">
              <a:spcBef>
                <a:spcPts val="0"/>
              </a:spcBef>
              <a:spcAft>
                <a:spcPts val="0"/>
              </a:spcAft>
              <a:defRPr/>
            </a:pPr>
            <a:r>
              <a:rPr lang="ja-JP" altLang="en-US" sz="1200" dirty="0" smtClean="0">
                <a:solidFill>
                  <a:schemeClr val="tx1"/>
                </a:solidFill>
              </a:rPr>
              <a:t>退職したく、ここにお願い申し上げます。</a:t>
            </a:r>
            <a:endParaRPr lang="en-US" altLang="ja-JP" sz="1200" dirty="0" smtClean="0">
              <a:solidFill>
                <a:schemeClr val="tx1"/>
              </a:solidFill>
            </a:endParaRPr>
          </a:p>
          <a:p>
            <a:pPr fontAlgn="auto">
              <a:spcBef>
                <a:spcPts val="0"/>
              </a:spcBef>
              <a:spcAft>
                <a:spcPts val="0"/>
              </a:spcAft>
              <a:defRPr/>
            </a:pPr>
            <a:endParaRPr lang="en-US" altLang="ja-JP" sz="1200" dirty="0" smtClean="0">
              <a:solidFill>
                <a:schemeClr val="tx1"/>
              </a:solidFill>
            </a:endParaRPr>
          </a:p>
          <a:p>
            <a:pPr fontAlgn="auto">
              <a:spcBef>
                <a:spcPts val="0"/>
              </a:spcBef>
              <a:spcAft>
                <a:spcPts val="0"/>
              </a:spcAft>
              <a:defRPr/>
            </a:pPr>
            <a:endParaRPr lang="en-US" altLang="ja-JP" sz="1200" dirty="0" smtClean="0">
              <a:solidFill>
                <a:schemeClr val="tx1"/>
              </a:solidFill>
            </a:endParaRPr>
          </a:p>
          <a:p>
            <a:pPr fontAlgn="auto">
              <a:spcBef>
                <a:spcPts val="0"/>
              </a:spcBef>
              <a:spcAft>
                <a:spcPts val="0"/>
              </a:spcAft>
              <a:defRPr/>
            </a:pPr>
            <a:endParaRPr lang="en-US" altLang="ja-JP" sz="1200" dirty="0" smtClean="0">
              <a:solidFill>
                <a:schemeClr val="tx1"/>
              </a:solidFill>
            </a:endParaRPr>
          </a:p>
          <a:p>
            <a:pPr algn="ctr" fontAlgn="auto">
              <a:spcBef>
                <a:spcPts val="0"/>
              </a:spcBef>
              <a:spcAft>
                <a:spcPts val="0"/>
              </a:spcAft>
              <a:defRPr/>
            </a:pPr>
            <a:r>
              <a:rPr lang="en-US" altLang="ja-JP" sz="1200" dirty="0" smtClean="0">
                <a:solidFill>
                  <a:schemeClr val="tx1"/>
                </a:solidFill>
              </a:rPr>
              <a:t>※</a:t>
            </a:r>
            <a:r>
              <a:rPr lang="ja-JP" altLang="en-US" sz="1200" dirty="0" smtClean="0">
                <a:solidFill>
                  <a:schemeClr val="tx1"/>
                </a:solidFill>
              </a:rPr>
              <a:t>④平成　●●　年　 ●●　月　●●　日</a:t>
            </a:r>
            <a:endParaRPr lang="en-US" altLang="ja-JP" sz="1200" dirty="0" smtClean="0">
              <a:solidFill>
                <a:schemeClr val="tx1"/>
              </a:solidFill>
            </a:endParaRPr>
          </a:p>
          <a:p>
            <a:pPr fontAlgn="auto">
              <a:spcBef>
                <a:spcPts val="0"/>
              </a:spcBef>
              <a:spcAft>
                <a:spcPts val="0"/>
              </a:spcAft>
              <a:defRPr/>
            </a:pPr>
            <a:endParaRPr lang="en-US" altLang="ja-JP" sz="1200" dirty="0" smtClean="0">
              <a:solidFill>
                <a:schemeClr val="tx1"/>
              </a:solidFill>
            </a:endParaRPr>
          </a:p>
          <a:p>
            <a:pPr algn="ctr" fontAlgn="auto">
              <a:spcBef>
                <a:spcPts val="0"/>
              </a:spcBef>
              <a:spcAft>
                <a:spcPts val="0"/>
              </a:spcAft>
              <a:defRPr/>
            </a:pPr>
            <a:r>
              <a:rPr lang="en-US" altLang="ja-JP" sz="1200" dirty="0" smtClean="0">
                <a:solidFill>
                  <a:schemeClr val="tx1"/>
                </a:solidFill>
              </a:rPr>
              <a:t>※</a:t>
            </a:r>
            <a:r>
              <a:rPr lang="ja-JP" altLang="en-US" sz="1200" dirty="0" smtClean="0">
                <a:solidFill>
                  <a:schemeClr val="tx1"/>
                </a:solidFill>
              </a:rPr>
              <a:t>⑤看護部</a:t>
            </a:r>
            <a:endParaRPr lang="en-US" altLang="ja-JP" sz="1200" dirty="0" smtClean="0">
              <a:solidFill>
                <a:schemeClr val="tx1"/>
              </a:solidFill>
            </a:endParaRPr>
          </a:p>
          <a:p>
            <a:pPr algn="ctr" fontAlgn="auto">
              <a:spcBef>
                <a:spcPts val="0"/>
              </a:spcBef>
              <a:spcAft>
                <a:spcPts val="0"/>
              </a:spcAft>
              <a:defRPr/>
            </a:pPr>
            <a:r>
              <a:rPr lang="ja-JP" altLang="en-US" sz="1200" dirty="0" smtClean="0">
                <a:solidFill>
                  <a:schemeClr val="tx1"/>
                </a:solidFill>
              </a:rPr>
              <a:t>　　　　　　　　　　　●●</a:t>
            </a:r>
            <a:r>
              <a:rPr lang="ja-JP" altLang="en-US" sz="1200" dirty="0">
                <a:solidFill>
                  <a:schemeClr val="tx1"/>
                </a:solidFill>
              </a:rPr>
              <a:t>　</a:t>
            </a:r>
            <a:r>
              <a:rPr lang="ja-JP" altLang="en-US" sz="1200" dirty="0" smtClean="0">
                <a:solidFill>
                  <a:schemeClr val="tx1"/>
                </a:solidFill>
              </a:rPr>
              <a:t>●●　印</a:t>
            </a:r>
            <a:endParaRPr lang="en-US" altLang="ja-JP" sz="1200" dirty="0" smtClean="0">
              <a:solidFill>
                <a:schemeClr val="tx1"/>
              </a:solidFill>
            </a:endParaRPr>
          </a:p>
          <a:p>
            <a:pPr fontAlgn="auto">
              <a:spcBef>
                <a:spcPts val="0"/>
              </a:spcBef>
              <a:spcAft>
                <a:spcPts val="0"/>
              </a:spcAft>
              <a:defRPr/>
            </a:pPr>
            <a:endParaRPr lang="en-US" altLang="ja-JP" sz="1200" dirty="0" smtClean="0">
              <a:solidFill>
                <a:schemeClr val="tx1"/>
              </a:solidFill>
            </a:endParaRPr>
          </a:p>
          <a:p>
            <a:pPr fontAlgn="auto">
              <a:spcBef>
                <a:spcPts val="0"/>
              </a:spcBef>
              <a:spcAft>
                <a:spcPts val="0"/>
              </a:spcAft>
              <a:defRPr/>
            </a:pPr>
            <a:endParaRPr lang="en-US" altLang="ja-JP" sz="1200" dirty="0" smtClean="0">
              <a:solidFill>
                <a:schemeClr val="tx1"/>
              </a:solidFill>
            </a:endParaRPr>
          </a:p>
          <a:p>
            <a:pPr fontAlgn="auto">
              <a:spcBef>
                <a:spcPts val="0"/>
              </a:spcBef>
              <a:spcAft>
                <a:spcPts val="0"/>
              </a:spcAft>
              <a:defRPr/>
            </a:pPr>
            <a:endParaRPr lang="en-US" altLang="ja-JP" sz="1200" dirty="0" smtClean="0">
              <a:solidFill>
                <a:schemeClr val="tx1"/>
              </a:solidFill>
            </a:endParaRPr>
          </a:p>
          <a:p>
            <a:pPr fontAlgn="auto">
              <a:spcBef>
                <a:spcPts val="0"/>
              </a:spcBef>
              <a:spcAft>
                <a:spcPts val="0"/>
              </a:spcAft>
              <a:defRPr/>
            </a:pPr>
            <a:r>
              <a:rPr lang="en-US" altLang="ja-JP" sz="1200" dirty="0" smtClean="0">
                <a:solidFill>
                  <a:schemeClr val="tx1"/>
                </a:solidFill>
              </a:rPr>
              <a:t>※</a:t>
            </a:r>
            <a:r>
              <a:rPr lang="ja-JP" altLang="en-US" sz="1200" dirty="0" smtClean="0">
                <a:solidFill>
                  <a:schemeClr val="tx1"/>
                </a:solidFill>
              </a:rPr>
              <a:t>⑥●●病院</a:t>
            </a:r>
            <a:endParaRPr lang="en-US" altLang="ja-JP" sz="1200" dirty="0" smtClean="0">
              <a:solidFill>
                <a:schemeClr val="tx1"/>
              </a:solidFill>
            </a:endParaRPr>
          </a:p>
          <a:p>
            <a:pPr fontAlgn="auto">
              <a:spcBef>
                <a:spcPts val="0"/>
              </a:spcBef>
              <a:spcAft>
                <a:spcPts val="0"/>
              </a:spcAft>
              <a:defRPr/>
            </a:pPr>
            <a:r>
              <a:rPr lang="ja-JP" altLang="en-US" sz="1200" dirty="0" smtClean="0">
                <a:solidFill>
                  <a:schemeClr val="tx1"/>
                </a:solidFill>
              </a:rPr>
              <a:t>　　　　院長　　●●　●●　様</a:t>
            </a:r>
            <a:endParaRPr lang="en-US" altLang="ja-JP" sz="1200" dirty="0" smtClean="0">
              <a:solidFill>
                <a:schemeClr val="tx1"/>
              </a:solidFill>
            </a:endParaRPr>
          </a:p>
        </p:txBody>
      </p:sp>
      <p:grpSp>
        <p:nvGrpSpPr>
          <p:cNvPr id="40" name="グループ化 39"/>
          <p:cNvGrpSpPr/>
          <p:nvPr/>
        </p:nvGrpSpPr>
        <p:grpSpPr>
          <a:xfrm>
            <a:off x="4340992" y="1268760"/>
            <a:ext cx="5292528" cy="324000"/>
            <a:chOff x="4340992" y="1268760"/>
            <a:chExt cx="5292528" cy="324000"/>
          </a:xfrm>
        </p:grpSpPr>
        <p:sp>
          <p:nvSpPr>
            <p:cNvPr id="21" name="正方形/長方形 20"/>
            <p:cNvSpPr/>
            <p:nvPr/>
          </p:nvSpPr>
          <p:spPr bwMode="auto">
            <a:xfrm>
              <a:off x="4880992" y="1268760"/>
              <a:ext cx="4752528"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ja-JP" altLang="en-US" sz="1400" dirty="0" smtClean="0">
                  <a:latin typeface="+mj-ea"/>
                </a:rPr>
                <a:t>冒頭に「退職願」と書く。「退職届」でもかまいません。</a:t>
              </a:r>
              <a:endPar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endParaRPr>
            </a:p>
          </p:txBody>
        </p:sp>
        <p:sp>
          <p:nvSpPr>
            <p:cNvPr id="28" name="正方形/長方形 27"/>
            <p:cNvSpPr/>
            <p:nvPr/>
          </p:nvSpPr>
          <p:spPr bwMode="auto">
            <a:xfrm>
              <a:off x="4340992" y="1268760"/>
              <a:ext cx="54000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defRPr/>
              </a:pPr>
              <a:r>
                <a:rPr lang="en-US" altLang="ja-JP" sz="1400" dirty="0" smtClean="0">
                  <a:latin typeface="+mj-ea"/>
                </a:rPr>
                <a:t>※</a:t>
              </a:r>
              <a:r>
                <a:rPr lang="ja-JP" altLang="en-US" sz="1400" dirty="0" smtClean="0">
                  <a:latin typeface="+mj-ea"/>
                </a:rPr>
                <a:t>①</a:t>
              </a:r>
              <a:endParaRPr lang="ja-JP" altLang="en-US" sz="1400" dirty="0">
                <a:latin typeface="+mj-ea"/>
              </a:endParaRPr>
            </a:p>
          </p:txBody>
        </p:sp>
      </p:grpSp>
      <p:grpSp>
        <p:nvGrpSpPr>
          <p:cNvPr id="36" name="グループ化 35"/>
          <p:cNvGrpSpPr/>
          <p:nvPr/>
        </p:nvGrpSpPr>
        <p:grpSpPr>
          <a:xfrm>
            <a:off x="4340992" y="1650407"/>
            <a:ext cx="5292528" cy="324000"/>
            <a:chOff x="4340992" y="2900936"/>
            <a:chExt cx="5292528" cy="324000"/>
          </a:xfrm>
        </p:grpSpPr>
        <p:sp>
          <p:nvSpPr>
            <p:cNvPr id="22" name="正方形/長方形 21"/>
            <p:cNvSpPr/>
            <p:nvPr/>
          </p:nvSpPr>
          <p:spPr bwMode="auto">
            <a:xfrm>
              <a:off x="4880992" y="2900936"/>
              <a:ext cx="4752528"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defRPr/>
              </a:pPr>
              <a:r>
                <a:rPr lang="ja-JP" altLang="en-US" sz="1400" dirty="0" smtClean="0">
                  <a:latin typeface="+mj-ea"/>
                </a:rPr>
                <a:t>最初の行には「私事」「私議」などと記載する。</a:t>
              </a:r>
              <a:endParaRPr lang="ja-JP" altLang="en-US" sz="1400" dirty="0">
                <a:latin typeface="+mj-ea"/>
              </a:endParaRPr>
            </a:p>
          </p:txBody>
        </p:sp>
        <p:sp>
          <p:nvSpPr>
            <p:cNvPr id="29" name="正方形/長方形 28"/>
            <p:cNvSpPr/>
            <p:nvPr/>
          </p:nvSpPr>
          <p:spPr bwMode="auto">
            <a:xfrm>
              <a:off x="4340992" y="2900936"/>
              <a:ext cx="54000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defRPr/>
              </a:pPr>
              <a:r>
                <a:rPr lang="en-US" altLang="ja-JP" sz="1400" dirty="0" smtClean="0">
                  <a:latin typeface="+mj-ea"/>
                </a:rPr>
                <a:t>※</a:t>
              </a:r>
              <a:r>
                <a:rPr lang="ja-JP" altLang="en-US" sz="1400" dirty="0" smtClean="0">
                  <a:latin typeface="+mj-ea"/>
                </a:rPr>
                <a:t>②</a:t>
              </a:r>
              <a:endParaRPr lang="ja-JP" altLang="en-US" sz="1400" dirty="0">
                <a:latin typeface="+mj-ea"/>
              </a:endParaRPr>
            </a:p>
          </p:txBody>
        </p:sp>
      </p:grpSp>
      <p:grpSp>
        <p:nvGrpSpPr>
          <p:cNvPr id="39" name="グループ化 38"/>
          <p:cNvGrpSpPr/>
          <p:nvPr/>
        </p:nvGrpSpPr>
        <p:grpSpPr>
          <a:xfrm>
            <a:off x="4340992" y="2032054"/>
            <a:ext cx="5292528" cy="468000"/>
            <a:chOff x="4340992" y="1640804"/>
            <a:chExt cx="5292528" cy="468000"/>
          </a:xfrm>
        </p:grpSpPr>
        <p:sp>
          <p:nvSpPr>
            <p:cNvPr id="23" name="正方形/長方形 22"/>
            <p:cNvSpPr/>
            <p:nvPr/>
          </p:nvSpPr>
          <p:spPr bwMode="auto">
            <a:xfrm>
              <a:off x="4880992" y="1640804"/>
              <a:ext cx="4752528" cy="468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defRPr/>
              </a:pPr>
              <a:r>
                <a:rPr lang="ja-JP" altLang="en-US" sz="1400" dirty="0" smtClean="0">
                  <a:latin typeface="+mj-ea"/>
                </a:rPr>
                <a:t>退職理由は「一身上の都合」とし、具体的な理由を書く必要はありません。また退職日付も記載します。</a:t>
              </a:r>
              <a:endParaRPr lang="ja-JP" altLang="en-US" sz="1400" dirty="0">
                <a:latin typeface="+mj-ea"/>
              </a:endParaRPr>
            </a:p>
          </p:txBody>
        </p:sp>
        <p:sp>
          <p:nvSpPr>
            <p:cNvPr id="30" name="正方形/長方形 29"/>
            <p:cNvSpPr/>
            <p:nvPr/>
          </p:nvSpPr>
          <p:spPr bwMode="auto">
            <a:xfrm>
              <a:off x="4340992" y="1640804"/>
              <a:ext cx="540000" cy="468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defRPr/>
              </a:pPr>
              <a:r>
                <a:rPr lang="en-US" altLang="ja-JP" sz="1400" dirty="0" smtClean="0">
                  <a:latin typeface="+mj-ea"/>
                </a:rPr>
                <a:t>※</a:t>
              </a:r>
              <a:r>
                <a:rPr lang="ja-JP" altLang="en-US" sz="1400" dirty="0" smtClean="0">
                  <a:latin typeface="+mj-ea"/>
                </a:rPr>
                <a:t>③</a:t>
              </a:r>
              <a:endParaRPr lang="ja-JP" altLang="en-US" sz="1400" dirty="0">
                <a:latin typeface="+mj-ea"/>
              </a:endParaRPr>
            </a:p>
          </p:txBody>
        </p:sp>
      </p:grpSp>
      <p:grpSp>
        <p:nvGrpSpPr>
          <p:cNvPr id="37" name="グループ化 36"/>
          <p:cNvGrpSpPr/>
          <p:nvPr/>
        </p:nvGrpSpPr>
        <p:grpSpPr>
          <a:xfrm>
            <a:off x="4340992" y="2557701"/>
            <a:ext cx="5292528" cy="324000"/>
            <a:chOff x="4340992" y="2528892"/>
            <a:chExt cx="5292528" cy="324000"/>
          </a:xfrm>
        </p:grpSpPr>
        <p:sp>
          <p:nvSpPr>
            <p:cNvPr id="25" name="正方形/長方形 24"/>
            <p:cNvSpPr/>
            <p:nvPr/>
          </p:nvSpPr>
          <p:spPr bwMode="auto">
            <a:xfrm>
              <a:off x="4880992" y="2528892"/>
              <a:ext cx="4752528"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defRPr/>
              </a:pPr>
              <a:r>
                <a:rPr lang="ja-JP" altLang="en-US" sz="1400" dirty="0" smtClean="0">
                  <a:latin typeface="+mj-ea"/>
                </a:rPr>
                <a:t>届出年月日は提出する日に合わせる。</a:t>
              </a:r>
              <a:endParaRPr lang="ja-JP" altLang="en-US" sz="1400" dirty="0">
                <a:latin typeface="+mj-ea"/>
              </a:endParaRPr>
            </a:p>
          </p:txBody>
        </p:sp>
        <p:sp>
          <p:nvSpPr>
            <p:cNvPr id="32" name="正方形/長方形 31"/>
            <p:cNvSpPr/>
            <p:nvPr/>
          </p:nvSpPr>
          <p:spPr bwMode="auto">
            <a:xfrm>
              <a:off x="4340992" y="2528892"/>
              <a:ext cx="54000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defRPr/>
              </a:pPr>
              <a:r>
                <a:rPr lang="en-US" altLang="ja-JP" sz="1400" dirty="0" smtClean="0">
                  <a:latin typeface="+mj-ea"/>
                </a:rPr>
                <a:t>※</a:t>
              </a:r>
              <a:r>
                <a:rPr lang="ja-JP" altLang="en-US" sz="1400" dirty="0" smtClean="0">
                  <a:latin typeface="+mj-ea"/>
                </a:rPr>
                <a:t>④</a:t>
              </a:r>
              <a:endParaRPr lang="ja-JP" altLang="en-US" sz="1400" dirty="0">
                <a:latin typeface="+mj-ea"/>
              </a:endParaRPr>
            </a:p>
          </p:txBody>
        </p:sp>
      </p:grpSp>
      <p:grpSp>
        <p:nvGrpSpPr>
          <p:cNvPr id="42" name="グループ化 41"/>
          <p:cNvGrpSpPr/>
          <p:nvPr/>
        </p:nvGrpSpPr>
        <p:grpSpPr>
          <a:xfrm>
            <a:off x="4340992" y="2939348"/>
            <a:ext cx="5292528" cy="324000"/>
            <a:chOff x="4340992" y="3272980"/>
            <a:chExt cx="5292528" cy="324000"/>
          </a:xfrm>
        </p:grpSpPr>
        <p:sp>
          <p:nvSpPr>
            <p:cNvPr id="26" name="正方形/長方形 25"/>
            <p:cNvSpPr/>
            <p:nvPr/>
          </p:nvSpPr>
          <p:spPr bwMode="auto">
            <a:xfrm>
              <a:off x="4880992" y="3272980"/>
              <a:ext cx="4752528"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defRPr/>
              </a:pPr>
              <a:r>
                <a:rPr lang="ja-JP" altLang="en-US" sz="1400" dirty="0" smtClean="0">
                  <a:latin typeface="+mj-ea"/>
                </a:rPr>
                <a:t>自分の名前の前に所属部課名を付け、押印します。</a:t>
              </a:r>
              <a:endParaRPr lang="ja-JP" altLang="en-US" sz="1400" dirty="0">
                <a:latin typeface="+mj-ea"/>
              </a:endParaRPr>
            </a:p>
          </p:txBody>
        </p:sp>
        <p:sp>
          <p:nvSpPr>
            <p:cNvPr id="33" name="正方形/長方形 32"/>
            <p:cNvSpPr/>
            <p:nvPr/>
          </p:nvSpPr>
          <p:spPr bwMode="auto">
            <a:xfrm>
              <a:off x="4340992" y="3272980"/>
              <a:ext cx="54000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defRPr/>
              </a:pPr>
              <a:r>
                <a:rPr lang="en-US" altLang="ja-JP" sz="1400" dirty="0" smtClean="0">
                  <a:latin typeface="+mj-ea"/>
                </a:rPr>
                <a:t>※</a:t>
              </a:r>
              <a:r>
                <a:rPr lang="ja-JP" altLang="en-US" sz="1400" dirty="0" smtClean="0">
                  <a:latin typeface="+mj-ea"/>
                </a:rPr>
                <a:t>⑤</a:t>
              </a:r>
              <a:endParaRPr lang="ja-JP" altLang="en-US" sz="1400" dirty="0">
                <a:latin typeface="+mj-ea"/>
              </a:endParaRPr>
            </a:p>
          </p:txBody>
        </p:sp>
      </p:grpSp>
      <p:grpSp>
        <p:nvGrpSpPr>
          <p:cNvPr id="41" name="グループ化 40"/>
          <p:cNvGrpSpPr/>
          <p:nvPr/>
        </p:nvGrpSpPr>
        <p:grpSpPr>
          <a:xfrm>
            <a:off x="4340992" y="3320996"/>
            <a:ext cx="5292528" cy="504000"/>
            <a:chOff x="4340992" y="3645024"/>
            <a:chExt cx="5292528" cy="504000"/>
          </a:xfrm>
        </p:grpSpPr>
        <p:sp>
          <p:nvSpPr>
            <p:cNvPr id="27" name="正方形/長方形 26"/>
            <p:cNvSpPr/>
            <p:nvPr/>
          </p:nvSpPr>
          <p:spPr bwMode="auto">
            <a:xfrm>
              <a:off x="4880992" y="3645024"/>
              <a:ext cx="4752528" cy="50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defRPr/>
              </a:pPr>
              <a:r>
                <a:rPr lang="ja-JP" altLang="en-US" sz="1400" dirty="0" smtClean="0">
                  <a:latin typeface="+mj-ea"/>
                </a:rPr>
                <a:t>提出するのは直属の上司でも、宛名は院長名にします。</a:t>
              </a:r>
              <a:endParaRPr lang="en-US" altLang="ja-JP" sz="1400" dirty="0" smtClean="0">
                <a:latin typeface="+mj-ea"/>
              </a:endParaRPr>
            </a:p>
            <a:p>
              <a:pPr>
                <a:defRPr/>
              </a:pPr>
              <a:r>
                <a:rPr lang="ja-JP" altLang="en-US" sz="1400" dirty="0" smtClean="0">
                  <a:latin typeface="+mj-ea"/>
                </a:rPr>
                <a:t>様を忘れずに付けてください。</a:t>
              </a:r>
              <a:endParaRPr lang="ja-JP" altLang="en-US" sz="1400" dirty="0">
                <a:latin typeface="+mj-ea"/>
              </a:endParaRPr>
            </a:p>
          </p:txBody>
        </p:sp>
        <p:sp>
          <p:nvSpPr>
            <p:cNvPr id="34" name="正方形/長方形 33"/>
            <p:cNvSpPr/>
            <p:nvPr/>
          </p:nvSpPr>
          <p:spPr bwMode="auto">
            <a:xfrm>
              <a:off x="4340992" y="3645024"/>
              <a:ext cx="540000" cy="50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defRPr/>
              </a:pPr>
              <a:r>
                <a:rPr lang="en-US" altLang="ja-JP" sz="1400" dirty="0" smtClean="0">
                  <a:latin typeface="+mj-ea"/>
                </a:rPr>
                <a:t>※</a:t>
              </a:r>
              <a:r>
                <a:rPr lang="ja-JP" altLang="en-US" sz="1400" dirty="0" smtClean="0">
                  <a:latin typeface="+mj-ea"/>
                </a:rPr>
                <a:t>⑥</a:t>
              </a:r>
              <a:endParaRPr lang="ja-JP" altLang="en-US" sz="1400" dirty="0">
                <a:latin typeface="+mj-ea"/>
              </a:endParaRP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0488" y="139700"/>
            <a:ext cx="8462962" cy="431800"/>
          </a:xfrm>
        </p:spPr>
        <p:txBody>
          <a:bodyPr rtlCol="0"/>
          <a:lstStyle/>
          <a:p>
            <a:pPr eaLnBrk="1" fontAlgn="auto" hangingPunct="1">
              <a:spcAft>
                <a:spcPts val="0"/>
              </a:spcAft>
              <a:defRPr/>
            </a:pPr>
            <a:r>
              <a:rPr lang="en-US" altLang="ja-JP" dirty="0" smtClean="0"/>
              <a:t>6.</a:t>
            </a:r>
            <a:r>
              <a:rPr lang="ja-JP" altLang="en-US" dirty="0" smtClean="0"/>
              <a:t> よくある質問</a:t>
            </a:r>
            <a:endParaRPr lang="ja-JP" altLang="en-US" dirty="0"/>
          </a:p>
        </p:txBody>
      </p:sp>
      <p:cxnSp>
        <p:nvCxnSpPr>
          <p:cNvPr id="124" name="直線コネクタ 123"/>
          <p:cNvCxnSpPr/>
          <p:nvPr/>
        </p:nvCxnSpPr>
        <p:spPr>
          <a:xfrm flipH="1">
            <a:off x="381528" y="2220905"/>
            <a:ext cx="9324000" cy="0"/>
          </a:xfrm>
          <a:prstGeom prst="line">
            <a:avLst/>
          </a:prstGeom>
          <a:solidFill>
            <a:schemeClr val="bg1"/>
          </a:solidFill>
          <a:ln w="12700">
            <a:solidFill>
              <a:srgbClr val="FF6600"/>
            </a:solidFill>
            <a:prstDash val="dash"/>
          </a:ln>
        </p:spPr>
        <p:style>
          <a:lnRef idx="1">
            <a:schemeClr val="accent1"/>
          </a:lnRef>
          <a:fillRef idx="0">
            <a:schemeClr val="accent1"/>
          </a:fillRef>
          <a:effectRef idx="0">
            <a:schemeClr val="accent1"/>
          </a:effectRef>
          <a:fontRef idx="minor">
            <a:schemeClr val="tx1"/>
          </a:fontRef>
        </p:style>
      </p:cxnSp>
      <p:sp>
        <p:nvSpPr>
          <p:cNvPr id="39" name="スライド番号プレースホルダ 38"/>
          <p:cNvSpPr>
            <a:spLocks noGrp="1"/>
          </p:cNvSpPr>
          <p:nvPr>
            <p:ph type="sldNum" sz="quarter" idx="4294967295"/>
          </p:nvPr>
        </p:nvSpPr>
        <p:spPr>
          <a:xfrm>
            <a:off x="9320213" y="6713538"/>
            <a:ext cx="585787" cy="144462"/>
          </a:xfrm>
          <a:prstGeom prst="rect">
            <a:avLst/>
          </a:prstGeom>
        </p:spPr>
        <p:txBody>
          <a:bodyPr/>
          <a:lstStyle/>
          <a:p>
            <a:pPr>
              <a:defRPr/>
            </a:pPr>
            <a:fld id="{EAD70359-BB7F-4679-967C-14A46C56B681}" type="slidenum">
              <a:rPr lang="ja-JP" altLang="en-US" sz="1000" b="1" smtClean="0"/>
              <a:pPr>
                <a:defRPr/>
              </a:pPr>
              <a:t>9</a:t>
            </a:fld>
            <a:endParaRPr lang="ja-JP" altLang="en-US" sz="1000" b="1" dirty="0"/>
          </a:p>
        </p:txBody>
      </p:sp>
      <p:grpSp>
        <p:nvGrpSpPr>
          <p:cNvPr id="40" name="グループ化 11"/>
          <p:cNvGrpSpPr/>
          <p:nvPr/>
        </p:nvGrpSpPr>
        <p:grpSpPr>
          <a:xfrm>
            <a:off x="199932" y="764648"/>
            <a:ext cx="4464000" cy="324000"/>
            <a:chOff x="539552" y="1484784"/>
            <a:chExt cx="3348000" cy="324000"/>
          </a:xfrm>
        </p:grpSpPr>
        <p:sp>
          <p:nvSpPr>
            <p:cNvPr id="41" name="正方形/長方形 40"/>
            <p:cNvSpPr/>
            <p:nvPr/>
          </p:nvSpPr>
          <p:spPr bwMode="auto">
            <a:xfrm>
              <a:off x="539552" y="1484784"/>
              <a:ext cx="334800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400" b="1" dirty="0" smtClean="0">
                  <a:latin typeface="Calibri" pitchFamily="34" charset="0"/>
                  <a:ea typeface="ＭＳ Ｐゴシック" pitchFamily="50" charset="-128"/>
                </a:rPr>
                <a:t>よくある質問</a:t>
              </a:r>
              <a:endParaRPr kumimoji="1" lang="ja-JP" altLang="en-US" sz="1400" b="1" i="0" u="none" strike="noStrike" cap="none" normalizeH="0" baseline="0" dirty="0" smtClean="0">
                <a:ln>
                  <a:noFill/>
                </a:ln>
                <a:solidFill>
                  <a:schemeClr val="tx1"/>
                </a:solidFill>
                <a:effectLst/>
                <a:latin typeface="Calibri" pitchFamily="34" charset="0"/>
                <a:ea typeface="ＭＳ Ｐゴシック" pitchFamily="50" charset="-128"/>
              </a:endParaRPr>
            </a:p>
          </p:txBody>
        </p:sp>
        <p:cxnSp>
          <p:nvCxnSpPr>
            <p:cNvPr id="42" name="直線コネクタ 41"/>
            <p:cNvCxnSpPr/>
            <p:nvPr/>
          </p:nvCxnSpPr>
          <p:spPr bwMode="auto">
            <a:xfrm>
              <a:off x="539552" y="1808784"/>
              <a:ext cx="3348000" cy="0"/>
            </a:xfrm>
            <a:prstGeom prst="line">
              <a:avLst/>
            </a:prstGeom>
            <a:solidFill>
              <a:schemeClr val="accent1"/>
            </a:solidFill>
            <a:ln w="19050" cap="flat" cmpd="sng" algn="ctr">
              <a:solidFill>
                <a:srgbClr val="FF6600"/>
              </a:solidFill>
              <a:prstDash val="solid"/>
              <a:round/>
              <a:headEnd type="none" w="med" len="med"/>
              <a:tailEnd type="none" w="med" len="med"/>
            </a:ln>
            <a:effectLst/>
          </p:spPr>
        </p:cxnSp>
      </p:grpSp>
      <p:grpSp>
        <p:nvGrpSpPr>
          <p:cNvPr id="43" name="グループ化 11"/>
          <p:cNvGrpSpPr/>
          <p:nvPr/>
        </p:nvGrpSpPr>
        <p:grpSpPr>
          <a:xfrm>
            <a:off x="4951940" y="764648"/>
            <a:ext cx="4752000" cy="324000"/>
            <a:chOff x="539552" y="1484784"/>
            <a:chExt cx="3348000" cy="324000"/>
          </a:xfrm>
        </p:grpSpPr>
        <p:sp>
          <p:nvSpPr>
            <p:cNvPr id="44" name="正方形/長方形 43"/>
            <p:cNvSpPr/>
            <p:nvPr/>
          </p:nvSpPr>
          <p:spPr bwMode="auto">
            <a:xfrm>
              <a:off x="539552" y="1484784"/>
              <a:ext cx="3348000" cy="324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ja-JP" altLang="en-US" sz="1400" b="1" dirty="0" smtClean="0">
                  <a:latin typeface="Calibri" pitchFamily="34" charset="0"/>
                  <a:ea typeface="ＭＳ Ｐゴシック" pitchFamily="50" charset="-128"/>
                </a:rPr>
                <a:t>回答</a:t>
              </a:r>
              <a:endParaRPr kumimoji="1" lang="ja-JP" altLang="en-US" sz="1400" b="1" i="0" u="none" strike="noStrike" cap="none" normalizeH="0" baseline="0" dirty="0" smtClean="0">
                <a:ln>
                  <a:noFill/>
                </a:ln>
                <a:solidFill>
                  <a:schemeClr val="tx1"/>
                </a:solidFill>
                <a:effectLst/>
                <a:latin typeface="Calibri" pitchFamily="34" charset="0"/>
                <a:ea typeface="ＭＳ Ｐゴシック" pitchFamily="50" charset="-128"/>
              </a:endParaRPr>
            </a:p>
          </p:txBody>
        </p:sp>
        <p:cxnSp>
          <p:nvCxnSpPr>
            <p:cNvPr id="45" name="直線コネクタ 44"/>
            <p:cNvCxnSpPr/>
            <p:nvPr/>
          </p:nvCxnSpPr>
          <p:spPr bwMode="auto">
            <a:xfrm>
              <a:off x="539552" y="1808784"/>
              <a:ext cx="3348000" cy="0"/>
            </a:xfrm>
            <a:prstGeom prst="line">
              <a:avLst/>
            </a:prstGeom>
            <a:solidFill>
              <a:schemeClr val="accent1"/>
            </a:solidFill>
            <a:ln w="19050" cap="flat" cmpd="sng" algn="ctr">
              <a:solidFill>
                <a:srgbClr val="FF6600"/>
              </a:solidFill>
              <a:prstDash val="solid"/>
              <a:round/>
              <a:headEnd type="none" w="med" len="med"/>
              <a:tailEnd type="none" w="med" len="med"/>
            </a:ln>
            <a:effectLst/>
          </p:spPr>
        </p:cxnSp>
      </p:grpSp>
      <p:grpSp>
        <p:nvGrpSpPr>
          <p:cNvPr id="50" name="グループ化 49"/>
          <p:cNvGrpSpPr/>
          <p:nvPr/>
        </p:nvGrpSpPr>
        <p:grpSpPr>
          <a:xfrm>
            <a:off x="201520" y="1160848"/>
            <a:ext cx="9504008" cy="1008000"/>
            <a:chOff x="199932" y="1160848"/>
            <a:chExt cx="9504008" cy="900000"/>
          </a:xfrm>
        </p:grpSpPr>
        <p:sp>
          <p:nvSpPr>
            <p:cNvPr id="46" name="正方形/長方形 45"/>
            <p:cNvSpPr/>
            <p:nvPr/>
          </p:nvSpPr>
          <p:spPr>
            <a:xfrm>
              <a:off x="381528" y="1160848"/>
              <a:ext cx="4284000" cy="900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10000"/>
                </a:lnSpc>
                <a:spcBef>
                  <a:spcPts val="0"/>
                </a:spcBef>
                <a:spcAft>
                  <a:spcPts val="0"/>
                </a:spcAft>
                <a:defRPr/>
              </a:pPr>
              <a:r>
                <a:rPr kumimoji="0" lang="ja-JP" altLang="en-US" sz="1400" dirty="0" smtClean="0">
                  <a:solidFill>
                    <a:srgbClr val="000000"/>
                  </a:solidFill>
                </a:rPr>
                <a:t>いつ頃から退職手続きを開始すればいいですか？</a:t>
              </a:r>
              <a:endParaRPr kumimoji="0" lang="en-US" altLang="ja-JP" sz="1400" dirty="0">
                <a:solidFill>
                  <a:srgbClr val="000000"/>
                </a:solidFill>
              </a:endParaRPr>
            </a:p>
          </p:txBody>
        </p:sp>
        <p:sp>
          <p:nvSpPr>
            <p:cNvPr id="47" name="正方形/長方形 46"/>
            <p:cNvSpPr/>
            <p:nvPr/>
          </p:nvSpPr>
          <p:spPr>
            <a:xfrm>
              <a:off x="4951940" y="1160848"/>
              <a:ext cx="4752000" cy="900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10000"/>
                </a:lnSpc>
                <a:spcBef>
                  <a:spcPts val="0"/>
                </a:spcBef>
                <a:spcAft>
                  <a:spcPts val="0"/>
                </a:spcAft>
                <a:defRPr/>
              </a:pPr>
              <a:r>
                <a:rPr kumimoji="0" lang="ja-JP" altLang="en-US" sz="1200" dirty="0" smtClean="0">
                  <a:solidFill>
                    <a:srgbClr val="000000"/>
                  </a:solidFill>
                </a:rPr>
                <a:t>退職希望日の</a:t>
              </a:r>
              <a:r>
                <a:rPr kumimoji="0" lang="en-US" altLang="ja-JP" sz="1200" dirty="0" smtClean="0">
                  <a:solidFill>
                    <a:srgbClr val="000000"/>
                  </a:solidFill>
                </a:rPr>
                <a:t>6</a:t>
              </a:r>
              <a:r>
                <a:rPr kumimoji="0" lang="ja-JP" altLang="en-US" sz="1200" dirty="0" smtClean="0">
                  <a:solidFill>
                    <a:srgbClr val="000000"/>
                  </a:solidFill>
                </a:rPr>
                <a:t>～</a:t>
              </a:r>
              <a:r>
                <a:rPr kumimoji="0" lang="en-US" altLang="ja-JP" sz="1200" dirty="0" smtClean="0">
                  <a:solidFill>
                    <a:srgbClr val="000000"/>
                  </a:solidFill>
                </a:rPr>
                <a:t>3</a:t>
              </a:r>
              <a:r>
                <a:rPr kumimoji="0" lang="ja-JP" altLang="en-US" sz="1200" dirty="0" smtClean="0">
                  <a:solidFill>
                    <a:srgbClr val="000000"/>
                  </a:solidFill>
                </a:rPr>
                <a:t>ヵ月前ぐらい前がベストです。</a:t>
              </a:r>
              <a:endParaRPr kumimoji="0" lang="en-US" altLang="ja-JP" sz="1200" dirty="0" smtClean="0">
                <a:solidFill>
                  <a:srgbClr val="000000"/>
                </a:solidFill>
              </a:endParaRPr>
            </a:p>
            <a:p>
              <a:pPr fontAlgn="auto">
                <a:lnSpc>
                  <a:spcPct val="110000"/>
                </a:lnSpc>
                <a:spcBef>
                  <a:spcPts val="0"/>
                </a:spcBef>
                <a:spcAft>
                  <a:spcPts val="0"/>
                </a:spcAft>
                <a:defRPr/>
              </a:pPr>
              <a:r>
                <a:rPr kumimoji="0" lang="ja-JP" altLang="en-US" sz="1200" dirty="0" smtClean="0">
                  <a:solidFill>
                    <a:srgbClr val="000000"/>
                  </a:solidFill>
                </a:rPr>
                <a:t>「言いづらい」や「早く伝えると働きづらい」からと言って、直前まで隠しておくと、逆に今の職場と新しい職場の両方に迷惑をかけてしまうことになるので、正直にすぐ話しましょう。</a:t>
              </a:r>
              <a:endParaRPr kumimoji="0" lang="en-US" altLang="ja-JP" sz="1200" dirty="0" smtClean="0">
                <a:solidFill>
                  <a:srgbClr val="000000"/>
                </a:solidFill>
              </a:endParaRPr>
            </a:p>
          </p:txBody>
        </p:sp>
        <p:cxnSp>
          <p:nvCxnSpPr>
            <p:cNvPr id="48" name="直線矢印コネクタ 47"/>
            <p:cNvCxnSpPr>
              <a:stCxn id="46" idx="3"/>
              <a:endCxn id="47" idx="1"/>
            </p:cNvCxnSpPr>
            <p:nvPr/>
          </p:nvCxnSpPr>
          <p:spPr>
            <a:xfrm>
              <a:off x="4665528" y="1610848"/>
              <a:ext cx="286412" cy="1588"/>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49" name="正方形/長方形 48"/>
            <p:cNvSpPr/>
            <p:nvPr/>
          </p:nvSpPr>
          <p:spPr>
            <a:xfrm>
              <a:off x="199932" y="1160848"/>
              <a:ext cx="180000" cy="900000"/>
            </a:xfrm>
            <a:prstGeom prst="rect">
              <a:avLst/>
            </a:prstGeom>
            <a:solidFill>
              <a:srgbClr val="FF6600"/>
            </a:solidFill>
            <a:ln w="127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smtClean="0">
                  <a:solidFill>
                    <a:schemeClr val="bg1"/>
                  </a:solidFill>
                </a:rPr>
                <a:t>1</a:t>
              </a:r>
              <a:endParaRPr kumimoji="1" lang="ja-JP" altLang="en-US" sz="1400" b="1" dirty="0">
                <a:solidFill>
                  <a:schemeClr val="bg1"/>
                </a:solidFill>
              </a:endParaRPr>
            </a:p>
          </p:txBody>
        </p:sp>
      </p:grpSp>
      <p:grpSp>
        <p:nvGrpSpPr>
          <p:cNvPr id="51" name="グループ化 50"/>
          <p:cNvGrpSpPr/>
          <p:nvPr/>
        </p:nvGrpSpPr>
        <p:grpSpPr>
          <a:xfrm>
            <a:off x="199932" y="5609304"/>
            <a:ext cx="9504008" cy="1008000"/>
            <a:chOff x="199932" y="1160848"/>
            <a:chExt cx="9504008" cy="900000"/>
          </a:xfrm>
        </p:grpSpPr>
        <p:sp>
          <p:nvSpPr>
            <p:cNvPr id="52" name="正方形/長方形 51"/>
            <p:cNvSpPr/>
            <p:nvPr/>
          </p:nvSpPr>
          <p:spPr>
            <a:xfrm>
              <a:off x="381528" y="1160848"/>
              <a:ext cx="4284000" cy="900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0" lang="ja-JP" altLang="en-US" sz="1400" dirty="0" smtClean="0">
                  <a:solidFill>
                    <a:srgbClr val="000000"/>
                  </a:solidFill>
                  <a:latin typeface="Calibri" pitchFamily="34" charset="0"/>
                </a:rPr>
                <a:t>有給消化は出来ますか？</a:t>
              </a:r>
              <a:endParaRPr kumimoji="0" lang="en-US" altLang="ja-JP" sz="1400" dirty="0">
                <a:solidFill>
                  <a:srgbClr val="000000"/>
                </a:solidFill>
                <a:latin typeface="Calibri" pitchFamily="34" charset="0"/>
              </a:endParaRPr>
            </a:p>
          </p:txBody>
        </p:sp>
        <p:sp>
          <p:nvSpPr>
            <p:cNvPr id="53" name="正方形/長方形 52"/>
            <p:cNvSpPr/>
            <p:nvPr/>
          </p:nvSpPr>
          <p:spPr>
            <a:xfrm>
              <a:off x="4951940" y="1160848"/>
              <a:ext cx="4752000" cy="900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10000"/>
                </a:lnSpc>
                <a:spcBef>
                  <a:spcPts val="0"/>
                </a:spcBef>
                <a:spcAft>
                  <a:spcPts val="0"/>
                </a:spcAft>
                <a:defRPr/>
              </a:pPr>
              <a:r>
                <a:rPr kumimoji="0" lang="ja-JP" altLang="en-US" sz="1200" dirty="0" smtClean="0">
                  <a:solidFill>
                    <a:srgbClr val="000000"/>
                  </a:solidFill>
                </a:rPr>
                <a:t>有給消化は出来ます。</a:t>
              </a:r>
              <a:endParaRPr kumimoji="0" lang="en-US" altLang="ja-JP" sz="1200" dirty="0" smtClean="0">
                <a:solidFill>
                  <a:srgbClr val="000000"/>
                </a:solidFill>
              </a:endParaRPr>
            </a:p>
            <a:p>
              <a:pPr fontAlgn="auto">
                <a:lnSpc>
                  <a:spcPct val="110000"/>
                </a:lnSpc>
                <a:spcBef>
                  <a:spcPts val="0"/>
                </a:spcBef>
                <a:spcAft>
                  <a:spcPts val="0"/>
                </a:spcAft>
                <a:defRPr/>
              </a:pPr>
              <a:r>
                <a:rPr kumimoji="0" lang="ja-JP" altLang="en-US" sz="1200" dirty="0" smtClean="0">
                  <a:solidFill>
                    <a:srgbClr val="000000"/>
                  </a:solidFill>
                </a:rPr>
                <a:t>ただし有給を消化することにより退職予定日が伸び、転職先の入職予定日に影響を与えぬようにご注意ください。</a:t>
              </a:r>
              <a:endParaRPr kumimoji="0" lang="en-US" altLang="ja-JP" sz="1200" dirty="0" smtClean="0">
                <a:solidFill>
                  <a:srgbClr val="000000"/>
                </a:solidFill>
              </a:endParaRPr>
            </a:p>
            <a:p>
              <a:pPr fontAlgn="auto">
                <a:lnSpc>
                  <a:spcPct val="110000"/>
                </a:lnSpc>
                <a:spcBef>
                  <a:spcPts val="0"/>
                </a:spcBef>
                <a:spcAft>
                  <a:spcPts val="0"/>
                </a:spcAft>
                <a:defRPr/>
              </a:pPr>
              <a:r>
                <a:rPr kumimoji="0" lang="ja-JP" altLang="en-US" sz="1200" dirty="0" smtClean="0">
                  <a:solidFill>
                    <a:srgbClr val="000000"/>
                  </a:solidFill>
                </a:rPr>
                <a:t>また最終出勤日と退職日は異なります。</a:t>
              </a:r>
              <a:endParaRPr kumimoji="0" lang="en-US" altLang="ja-JP" sz="1200" dirty="0" smtClean="0">
                <a:solidFill>
                  <a:srgbClr val="000000"/>
                </a:solidFill>
              </a:endParaRPr>
            </a:p>
            <a:p>
              <a:pPr fontAlgn="auto">
                <a:lnSpc>
                  <a:spcPct val="110000"/>
                </a:lnSpc>
                <a:spcBef>
                  <a:spcPts val="0"/>
                </a:spcBef>
                <a:spcAft>
                  <a:spcPts val="0"/>
                </a:spcAft>
                <a:defRPr/>
              </a:pPr>
              <a:r>
                <a:rPr kumimoji="0" lang="ja-JP" altLang="en-US" sz="1200" dirty="0" smtClean="0">
                  <a:solidFill>
                    <a:srgbClr val="000000"/>
                  </a:solidFill>
                </a:rPr>
                <a:t>詳しくは</a:t>
              </a:r>
              <a:r>
                <a:rPr kumimoji="0" lang="en-US" altLang="ja-JP" sz="1200" dirty="0" smtClean="0">
                  <a:solidFill>
                    <a:srgbClr val="000000"/>
                  </a:solidFill>
                </a:rPr>
                <a:t>5</a:t>
              </a:r>
              <a:r>
                <a:rPr kumimoji="0" lang="ja-JP" altLang="en-US" sz="1200" dirty="0" smtClean="0">
                  <a:solidFill>
                    <a:srgbClr val="000000"/>
                  </a:solidFill>
                </a:rPr>
                <a:t>ページをご覧ください。</a:t>
              </a:r>
              <a:endParaRPr kumimoji="0" lang="en-US" altLang="ja-JP" sz="1200" dirty="0">
                <a:solidFill>
                  <a:srgbClr val="000000"/>
                </a:solidFill>
              </a:endParaRPr>
            </a:p>
          </p:txBody>
        </p:sp>
        <p:cxnSp>
          <p:nvCxnSpPr>
            <p:cNvPr id="54" name="直線矢印コネクタ 53"/>
            <p:cNvCxnSpPr>
              <a:stCxn id="52" idx="3"/>
              <a:endCxn id="53" idx="1"/>
            </p:cNvCxnSpPr>
            <p:nvPr/>
          </p:nvCxnSpPr>
          <p:spPr>
            <a:xfrm>
              <a:off x="4665528" y="1610848"/>
              <a:ext cx="286412" cy="1588"/>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55" name="正方形/長方形 54"/>
            <p:cNvSpPr/>
            <p:nvPr/>
          </p:nvSpPr>
          <p:spPr>
            <a:xfrm>
              <a:off x="199932" y="1160848"/>
              <a:ext cx="180000" cy="900000"/>
            </a:xfrm>
            <a:prstGeom prst="rect">
              <a:avLst/>
            </a:prstGeom>
            <a:solidFill>
              <a:srgbClr val="FF6600"/>
            </a:solidFill>
            <a:ln w="127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smtClean="0">
                  <a:solidFill>
                    <a:schemeClr val="bg1"/>
                  </a:solidFill>
                </a:rPr>
                <a:t>5</a:t>
              </a:r>
              <a:endParaRPr kumimoji="1" lang="ja-JP" altLang="en-US" sz="1400" b="1" dirty="0">
                <a:solidFill>
                  <a:schemeClr val="bg1"/>
                </a:solidFill>
              </a:endParaRPr>
            </a:p>
          </p:txBody>
        </p:sp>
      </p:grpSp>
      <p:grpSp>
        <p:nvGrpSpPr>
          <p:cNvPr id="56" name="グループ化 55"/>
          <p:cNvGrpSpPr/>
          <p:nvPr/>
        </p:nvGrpSpPr>
        <p:grpSpPr>
          <a:xfrm>
            <a:off x="199932" y="2272962"/>
            <a:ext cx="9504008" cy="1008000"/>
            <a:chOff x="199932" y="1160848"/>
            <a:chExt cx="9504008" cy="900000"/>
          </a:xfrm>
        </p:grpSpPr>
        <p:sp>
          <p:nvSpPr>
            <p:cNvPr id="57" name="正方形/長方形 56"/>
            <p:cNvSpPr/>
            <p:nvPr/>
          </p:nvSpPr>
          <p:spPr>
            <a:xfrm>
              <a:off x="381528" y="1160848"/>
              <a:ext cx="4284000" cy="900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0" lang="ja-JP" altLang="en-US" sz="1400" dirty="0" smtClean="0">
                  <a:solidFill>
                    <a:srgbClr val="000000"/>
                  </a:solidFill>
                  <a:latin typeface="Calibri" pitchFamily="34" charset="0"/>
                </a:rPr>
                <a:t>最初に退職の意向を伝えるのは誰がいいですか？</a:t>
              </a:r>
              <a:endParaRPr kumimoji="0" lang="en-US" altLang="ja-JP" sz="1400" dirty="0">
                <a:solidFill>
                  <a:srgbClr val="000000"/>
                </a:solidFill>
                <a:latin typeface="Calibri" pitchFamily="34" charset="0"/>
              </a:endParaRPr>
            </a:p>
          </p:txBody>
        </p:sp>
        <p:sp>
          <p:nvSpPr>
            <p:cNvPr id="58" name="正方形/長方形 57"/>
            <p:cNvSpPr/>
            <p:nvPr/>
          </p:nvSpPr>
          <p:spPr>
            <a:xfrm>
              <a:off x="4951940" y="1160848"/>
              <a:ext cx="4752000" cy="900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10000"/>
                </a:lnSpc>
                <a:spcBef>
                  <a:spcPts val="0"/>
                </a:spcBef>
                <a:spcAft>
                  <a:spcPts val="0"/>
                </a:spcAft>
                <a:defRPr/>
              </a:pPr>
              <a:r>
                <a:rPr kumimoji="0" lang="ja-JP" altLang="en-US" sz="1200" dirty="0" smtClean="0">
                  <a:solidFill>
                    <a:srgbClr val="000000"/>
                  </a:solidFill>
                </a:rPr>
                <a:t>必ず直属の上司に伝えましょう。</a:t>
              </a:r>
              <a:endParaRPr kumimoji="0" lang="en-US" altLang="ja-JP" sz="1200" dirty="0" smtClean="0">
                <a:solidFill>
                  <a:srgbClr val="000000"/>
                </a:solidFill>
              </a:endParaRPr>
            </a:p>
            <a:p>
              <a:pPr fontAlgn="auto">
                <a:lnSpc>
                  <a:spcPct val="110000"/>
                </a:lnSpc>
                <a:spcBef>
                  <a:spcPts val="0"/>
                </a:spcBef>
                <a:spcAft>
                  <a:spcPts val="0"/>
                </a:spcAft>
                <a:defRPr/>
              </a:pPr>
              <a:r>
                <a:rPr kumimoji="0" lang="ja-JP" altLang="en-US" sz="1200" dirty="0" smtClean="0">
                  <a:solidFill>
                    <a:srgbClr val="000000"/>
                  </a:solidFill>
                </a:rPr>
                <a:t>同僚やさらに上の上司へ先に伝わってしまうと、感情的なしこりが残り退職手続きがスムーズに進まなくなる恐れがあります。</a:t>
              </a:r>
              <a:endParaRPr kumimoji="0" lang="en-US" altLang="ja-JP" sz="1200" dirty="0" smtClean="0">
                <a:solidFill>
                  <a:srgbClr val="000000"/>
                </a:solidFill>
              </a:endParaRPr>
            </a:p>
            <a:p>
              <a:pPr fontAlgn="auto">
                <a:lnSpc>
                  <a:spcPct val="110000"/>
                </a:lnSpc>
                <a:spcBef>
                  <a:spcPts val="0"/>
                </a:spcBef>
                <a:spcAft>
                  <a:spcPts val="0"/>
                </a:spcAft>
                <a:defRPr/>
              </a:pPr>
              <a:r>
                <a:rPr kumimoji="0" lang="ja-JP" altLang="en-US" sz="1200" dirty="0" smtClean="0">
                  <a:solidFill>
                    <a:srgbClr val="000000"/>
                  </a:solidFill>
                </a:rPr>
                <a:t>詳しくは</a:t>
              </a:r>
              <a:r>
                <a:rPr kumimoji="0" lang="en-US" altLang="ja-JP" sz="1200" dirty="0" smtClean="0">
                  <a:solidFill>
                    <a:srgbClr val="000000"/>
                  </a:solidFill>
                </a:rPr>
                <a:t>5</a:t>
              </a:r>
              <a:r>
                <a:rPr kumimoji="0" lang="ja-JP" altLang="en-US" sz="1200" dirty="0" smtClean="0">
                  <a:solidFill>
                    <a:srgbClr val="000000"/>
                  </a:solidFill>
                </a:rPr>
                <a:t>ページをご覧ください。</a:t>
              </a:r>
              <a:endParaRPr kumimoji="0" lang="en-US" altLang="ja-JP" sz="1200" dirty="0">
                <a:solidFill>
                  <a:srgbClr val="000000"/>
                </a:solidFill>
              </a:endParaRPr>
            </a:p>
          </p:txBody>
        </p:sp>
        <p:cxnSp>
          <p:nvCxnSpPr>
            <p:cNvPr id="59" name="直線矢印コネクタ 58"/>
            <p:cNvCxnSpPr>
              <a:stCxn id="57" idx="3"/>
              <a:endCxn id="58" idx="1"/>
            </p:cNvCxnSpPr>
            <p:nvPr/>
          </p:nvCxnSpPr>
          <p:spPr>
            <a:xfrm>
              <a:off x="4665528" y="1610848"/>
              <a:ext cx="286412" cy="1588"/>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60" name="正方形/長方形 59"/>
            <p:cNvSpPr/>
            <p:nvPr/>
          </p:nvSpPr>
          <p:spPr>
            <a:xfrm>
              <a:off x="199932" y="1160848"/>
              <a:ext cx="180000" cy="900000"/>
            </a:xfrm>
            <a:prstGeom prst="rect">
              <a:avLst/>
            </a:prstGeom>
            <a:solidFill>
              <a:srgbClr val="FF6600"/>
            </a:solidFill>
            <a:ln w="127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smtClean="0">
                  <a:solidFill>
                    <a:schemeClr val="bg1"/>
                  </a:solidFill>
                </a:rPr>
                <a:t>2</a:t>
              </a:r>
              <a:endParaRPr kumimoji="1" lang="ja-JP" altLang="en-US" sz="1400" b="1" dirty="0">
                <a:solidFill>
                  <a:schemeClr val="bg1"/>
                </a:solidFill>
              </a:endParaRPr>
            </a:p>
          </p:txBody>
        </p:sp>
      </p:grpSp>
      <p:grpSp>
        <p:nvGrpSpPr>
          <p:cNvPr id="62" name="グループ化 61"/>
          <p:cNvGrpSpPr/>
          <p:nvPr/>
        </p:nvGrpSpPr>
        <p:grpSpPr>
          <a:xfrm>
            <a:off x="199932" y="3385076"/>
            <a:ext cx="9504008" cy="1008000"/>
            <a:chOff x="199932" y="1160848"/>
            <a:chExt cx="9504008" cy="900000"/>
          </a:xfrm>
        </p:grpSpPr>
        <p:sp>
          <p:nvSpPr>
            <p:cNvPr id="63" name="正方形/長方形 62"/>
            <p:cNvSpPr/>
            <p:nvPr/>
          </p:nvSpPr>
          <p:spPr>
            <a:xfrm>
              <a:off x="381528" y="1160848"/>
              <a:ext cx="4284000" cy="900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0" lang="ja-JP" altLang="en-US" sz="1400" dirty="0" smtClean="0">
                  <a:solidFill>
                    <a:srgbClr val="000000"/>
                  </a:solidFill>
                  <a:latin typeface="Calibri" pitchFamily="34" charset="0"/>
                </a:rPr>
                <a:t>退職日にもらうべき書類はありますか？</a:t>
              </a:r>
              <a:endParaRPr kumimoji="0" lang="en-US" altLang="ja-JP" sz="1400" dirty="0">
                <a:solidFill>
                  <a:srgbClr val="000000"/>
                </a:solidFill>
                <a:latin typeface="Calibri" pitchFamily="34" charset="0"/>
              </a:endParaRPr>
            </a:p>
          </p:txBody>
        </p:sp>
        <p:sp>
          <p:nvSpPr>
            <p:cNvPr id="64" name="正方形/長方形 63"/>
            <p:cNvSpPr/>
            <p:nvPr/>
          </p:nvSpPr>
          <p:spPr>
            <a:xfrm>
              <a:off x="4951940" y="1160848"/>
              <a:ext cx="4752000" cy="900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10000"/>
                </a:lnSpc>
                <a:spcBef>
                  <a:spcPts val="0"/>
                </a:spcBef>
                <a:spcAft>
                  <a:spcPts val="0"/>
                </a:spcAft>
                <a:defRPr/>
              </a:pPr>
              <a:r>
                <a:rPr kumimoji="0" lang="ja-JP" altLang="en-US" sz="1200" dirty="0" smtClean="0">
                  <a:solidFill>
                    <a:srgbClr val="000000"/>
                  </a:solidFill>
                </a:rPr>
                <a:t>雇用保険、健康保険、税金関係で必要な書類がそれぞれございます。詳しくは</a:t>
              </a:r>
              <a:r>
                <a:rPr kumimoji="0" lang="en-US" altLang="ja-JP" sz="1200" dirty="0" smtClean="0">
                  <a:solidFill>
                    <a:srgbClr val="000000"/>
                  </a:solidFill>
                </a:rPr>
                <a:t>6</a:t>
              </a:r>
              <a:r>
                <a:rPr kumimoji="0" lang="ja-JP" altLang="en-US" sz="1200" dirty="0" smtClean="0">
                  <a:solidFill>
                    <a:srgbClr val="000000"/>
                  </a:solidFill>
                </a:rPr>
                <a:t>ページをご覧ください。</a:t>
              </a:r>
              <a:endParaRPr kumimoji="0" lang="en-US" altLang="ja-JP" sz="1200" dirty="0">
                <a:solidFill>
                  <a:srgbClr val="000000"/>
                </a:solidFill>
              </a:endParaRPr>
            </a:p>
          </p:txBody>
        </p:sp>
        <p:cxnSp>
          <p:nvCxnSpPr>
            <p:cNvPr id="65" name="直線矢印コネクタ 64"/>
            <p:cNvCxnSpPr>
              <a:stCxn id="63" idx="3"/>
              <a:endCxn id="64" idx="1"/>
            </p:cNvCxnSpPr>
            <p:nvPr/>
          </p:nvCxnSpPr>
          <p:spPr>
            <a:xfrm>
              <a:off x="4665528" y="1610848"/>
              <a:ext cx="286412" cy="1588"/>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66" name="正方形/長方形 65"/>
            <p:cNvSpPr/>
            <p:nvPr/>
          </p:nvSpPr>
          <p:spPr>
            <a:xfrm>
              <a:off x="199932" y="1160848"/>
              <a:ext cx="180000" cy="900000"/>
            </a:xfrm>
            <a:prstGeom prst="rect">
              <a:avLst/>
            </a:prstGeom>
            <a:solidFill>
              <a:srgbClr val="FF6600"/>
            </a:solidFill>
            <a:ln w="127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smtClean="0">
                  <a:solidFill>
                    <a:schemeClr val="bg1"/>
                  </a:solidFill>
                </a:rPr>
                <a:t>3</a:t>
              </a:r>
              <a:endParaRPr kumimoji="1" lang="ja-JP" altLang="en-US" sz="1400" b="1" dirty="0">
                <a:solidFill>
                  <a:schemeClr val="bg1"/>
                </a:solidFill>
              </a:endParaRPr>
            </a:p>
          </p:txBody>
        </p:sp>
      </p:grpSp>
      <p:grpSp>
        <p:nvGrpSpPr>
          <p:cNvPr id="67" name="グループ化 66"/>
          <p:cNvGrpSpPr/>
          <p:nvPr/>
        </p:nvGrpSpPr>
        <p:grpSpPr>
          <a:xfrm>
            <a:off x="199932" y="4497190"/>
            <a:ext cx="9504008" cy="1008000"/>
            <a:chOff x="199932" y="1160848"/>
            <a:chExt cx="9504008" cy="900000"/>
          </a:xfrm>
        </p:grpSpPr>
        <p:sp>
          <p:nvSpPr>
            <p:cNvPr id="68" name="正方形/長方形 67"/>
            <p:cNvSpPr/>
            <p:nvPr/>
          </p:nvSpPr>
          <p:spPr>
            <a:xfrm>
              <a:off x="381528" y="1160848"/>
              <a:ext cx="4284000" cy="900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0" lang="ja-JP" altLang="en-US" sz="1400" dirty="0" smtClean="0">
                  <a:solidFill>
                    <a:srgbClr val="000000"/>
                  </a:solidFill>
                  <a:latin typeface="Calibri" pitchFamily="34" charset="0"/>
                </a:rPr>
                <a:t>退職願（届）はどう書けばいいのですか？</a:t>
              </a:r>
              <a:endParaRPr kumimoji="0" lang="en-US" altLang="ja-JP" sz="1400" dirty="0">
                <a:solidFill>
                  <a:srgbClr val="000000"/>
                </a:solidFill>
                <a:latin typeface="Calibri" pitchFamily="34" charset="0"/>
              </a:endParaRPr>
            </a:p>
          </p:txBody>
        </p:sp>
        <p:sp>
          <p:nvSpPr>
            <p:cNvPr id="69" name="正方形/長方形 68"/>
            <p:cNvSpPr/>
            <p:nvPr/>
          </p:nvSpPr>
          <p:spPr>
            <a:xfrm>
              <a:off x="4951940" y="1160848"/>
              <a:ext cx="4752000" cy="900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kumimoji="0" lang="en-US" altLang="ja-JP" sz="1200" dirty="0" smtClean="0">
                  <a:solidFill>
                    <a:srgbClr val="000000"/>
                  </a:solidFill>
                </a:rPr>
                <a:t>7</a:t>
              </a:r>
              <a:r>
                <a:rPr kumimoji="0" lang="ja-JP" altLang="en-US" sz="1200" dirty="0" smtClean="0">
                  <a:solidFill>
                    <a:srgbClr val="000000"/>
                  </a:solidFill>
                </a:rPr>
                <a:t>ページにサンプルと注意点を記載しておりますのでご活用ください。</a:t>
              </a:r>
              <a:endParaRPr kumimoji="0" lang="en-US" altLang="ja-JP" sz="1200" dirty="0" smtClean="0">
                <a:solidFill>
                  <a:srgbClr val="000000"/>
                </a:solidFill>
              </a:endParaRPr>
            </a:p>
            <a:p>
              <a:pPr>
                <a:lnSpc>
                  <a:spcPct val="110000"/>
                </a:lnSpc>
              </a:pPr>
              <a:r>
                <a:rPr kumimoji="0" lang="ja-JP" altLang="en-US" sz="1200" dirty="0" smtClean="0">
                  <a:solidFill>
                    <a:srgbClr val="000000"/>
                  </a:solidFill>
                </a:rPr>
                <a:t>勤務先指定の書式で提出を求められる場合もありますが、指定の書類を受けとることに時間がかかり、退職期間を先延ばしにされる場合もありますので、一旦自身の書式で提出し、受理をしてもらいましょう。</a:t>
              </a:r>
              <a:endParaRPr kumimoji="0" lang="en-US" altLang="ja-JP" sz="1200" dirty="0">
                <a:solidFill>
                  <a:srgbClr val="000000"/>
                </a:solidFill>
              </a:endParaRPr>
            </a:p>
          </p:txBody>
        </p:sp>
        <p:cxnSp>
          <p:nvCxnSpPr>
            <p:cNvPr id="70" name="直線矢印コネクタ 69"/>
            <p:cNvCxnSpPr>
              <a:stCxn id="68" idx="3"/>
              <a:endCxn id="69" idx="1"/>
            </p:cNvCxnSpPr>
            <p:nvPr/>
          </p:nvCxnSpPr>
          <p:spPr>
            <a:xfrm>
              <a:off x="4665528" y="1610848"/>
              <a:ext cx="286412" cy="1588"/>
            </a:xfrm>
            <a:prstGeom prst="straightConnector1">
              <a:avLst/>
            </a:prstGeom>
            <a:ln w="28575">
              <a:solidFill>
                <a:srgbClr val="FF6600"/>
              </a:solidFill>
              <a:tailEnd type="arrow"/>
            </a:ln>
          </p:spPr>
          <p:style>
            <a:lnRef idx="1">
              <a:schemeClr val="accent1"/>
            </a:lnRef>
            <a:fillRef idx="0">
              <a:schemeClr val="accent1"/>
            </a:fillRef>
            <a:effectRef idx="0">
              <a:schemeClr val="accent1"/>
            </a:effectRef>
            <a:fontRef idx="minor">
              <a:schemeClr val="tx1"/>
            </a:fontRef>
          </p:style>
        </p:cxnSp>
        <p:sp>
          <p:nvSpPr>
            <p:cNvPr id="71" name="正方形/長方形 70"/>
            <p:cNvSpPr/>
            <p:nvPr/>
          </p:nvSpPr>
          <p:spPr>
            <a:xfrm>
              <a:off x="199932" y="1160848"/>
              <a:ext cx="180000" cy="900000"/>
            </a:xfrm>
            <a:prstGeom prst="rect">
              <a:avLst/>
            </a:prstGeom>
            <a:solidFill>
              <a:srgbClr val="FF6600"/>
            </a:solidFill>
            <a:ln w="12700">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smtClean="0">
                  <a:solidFill>
                    <a:schemeClr val="bg1"/>
                  </a:solidFill>
                </a:rPr>
                <a:t>4</a:t>
              </a:r>
              <a:endParaRPr kumimoji="1" lang="ja-JP" altLang="en-US" sz="1400" b="1" dirty="0">
                <a:solidFill>
                  <a:schemeClr val="bg1"/>
                </a:solidFill>
              </a:endParaRPr>
            </a:p>
          </p:txBody>
        </p:sp>
      </p:grpSp>
      <p:cxnSp>
        <p:nvCxnSpPr>
          <p:cNvPr id="72" name="直線コネクタ 71"/>
          <p:cNvCxnSpPr/>
          <p:nvPr/>
        </p:nvCxnSpPr>
        <p:spPr>
          <a:xfrm flipH="1">
            <a:off x="381528" y="3333019"/>
            <a:ext cx="9324000" cy="0"/>
          </a:xfrm>
          <a:prstGeom prst="line">
            <a:avLst/>
          </a:prstGeom>
          <a:solidFill>
            <a:schemeClr val="bg1"/>
          </a:solidFill>
          <a:ln w="12700">
            <a:solidFill>
              <a:srgbClr val="FF6600"/>
            </a:solidFill>
            <a:prstDash val="dash"/>
          </a:ln>
        </p:spPr>
        <p:style>
          <a:lnRef idx="1">
            <a:schemeClr val="accent1"/>
          </a:lnRef>
          <a:fillRef idx="0">
            <a:schemeClr val="accent1"/>
          </a:fillRef>
          <a:effectRef idx="0">
            <a:schemeClr val="accent1"/>
          </a:effectRef>
          <a:fontRef idx="minor">
            <a:schemeClr val="tx1"/>
          </a:fontRef>
        </p:style>
      </p:cxnSp>
      <p:cxnSp>
        <p:nvCxnSpPr>
          <p:cNvPr id="73" name="直線コネクタ 72"/>
          <p:cNvCxnSpPr/>
          <p:nvPr/>
        </p:nvCxnSpPr>
        <p:spPr>
          <a:xfrm flipH="1">
            <a:off x="381528" y="4445133"/>
            <a:ext cx="9324000" cy="0"/>
          </a:xfrm>
          <a:prstGeom prst="line">
            <a:avLst/>
          </a:prstGeom>
          <a:solidFill>
            <a:schemeClr val="bg1"/>
          </a:solidFill>
          <a:ln w="12700">
            <a:solidFill>
              <a:srgbClr val="FF6600"/>
            </a:solidFill>
            <a:prstDash val="dash"/>
          </a:ln>
        </p:spPr>
        <p:style>
          <a:lnRef idx="1">
            <a:schemeClr val="accent1"/>
          </a:lnRef>
          <a:fillRef idx="0">
            <a:schemeClr val="accent1"/>
          </a:fillRef>
          <a:effectRef idx="0">
            <a:schemeClr val="accent1"/>
          </a:effectRef>
          <a:fontRef idx="minor">
            <a:schemeClr val="tx1"/>
          </a:fontRef>
        </p:style>
      </p:cxnSp>
      <p:cxnSp>
        <p:nvCxnSpPr>
          <p:cNvPr id="74" name="直線コネクタ 73"/>
          <p:cNvCxnSpPr/>
          <p:nvPr/>
        </p:nvCxnSpPr>
        <p:spPr>
          <a:xfrm flipH="1">
            <a:off x="381528" y="5557247"/>
            <a:ext cx="9324000" cy="0"/>
          </a:xfrm>
          <a:prstGeom prst="line">
            <a:avLst/>
          </a:prstGeom>
          <a:solidFill>
            <a:schemeClr val="bg1"/>
          </a:solidFill>
          <a:ln w="12700">
            <a:solidFill>
              <a:srgbClr val="FF6600"/>
            </a:solidFill>
            <a:prstDash val="dash"/>
          </a:ln>
        </p:spPr>
        <p:style>
          <a:lnRef idx="1">
            <a:schemeClr val="accent1"/>
          </a:lnRef>
          <a:fillRef idx="0">
            <a:schemeClr val="accent1"/>
          </a:fillRef>
          <a:effectRef idx="0">
            <a:schemeClr val="accent1"/>
          </a:effectRef>
          <a:fontRef idx="minor">
            <a:schemeClr val="tx1"/>
          </a:fontRef>
        </p:style>
      </p:cxnSp>
      <p:cxnSp>
        <p:nvCxnSpPr>
          <p:cNvPr id="75" name="直線コネクタ 74"/>
          <p:cNvCxnSpPr/>
          <p:nvPr/>
        </p:nvCxnSpPr>
        <p:spPr>
          <a:xfrm flipH="1">
            <a:off x="381528" y="6669360"/>
            <a:ext cx="9324000" cy="0"/>
          </a:xfrm>
          <a:prstGeom prst="line">
            <a:avLst/>
          </a:prstGeom>
          <a:solidFill>
            <a:schemeClr val="bg1"/>
          </a:solidFill>
          <a:ln w="12700">
            <a:solidFill>
              <a:srgbClr val="FF660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0488" y="139700"/>
            <a:ext cx="8462962" cy="431800"/>
          </a:xfrm>
        </p:spPr>
        <p:txBody>
          <a:bodyPr rtlCol="0"/>
          <a:lstStyle/>
          <a:p>
            <a:pPr eaLnBrk="1" fontAlgn="auto" hangingPunct="1">
              <a:spcAft>
                <a:spcPts val="0"/>
              </a:spcAft>
              <a:defRPr/>
            </a:pPr>
            <a:r>
              <a:rPr lang="en-US" altLang="ja-JP" dirty="0" smtClean="0"/>
              <a:t>7.</a:t>
            </a:r>
            <a:r>
              <a:rPr lang="ja-JP" altLang="en-US" dirty="0" smtClean="0"/>
              <a:t> 困った時の連絡先</a:t>
            </a:r>
            <a:endParaRPr lang="ja-JP" altLang="en-US" dirty="0"/>
          </a:p>
        </p:txBody>
      </p:sp>
      <p:sp>
        <p:nvSpPr>
          <p:cNvPr id="7" name="スライド番号プレースホルダ 6"/>
          <p:cNvSpPr>
            <a:spLocks noGrp="1"/>
          </p:cNvSpPr>
          <p:nvPr>
            <p:ph type="sldNum" sz="quarter" idx="4294967295"/>
          </p:nvPr>
        </p:nvSpPr>
        <p:spPr>
          <a:xfrm>
            <a:off x="9320213" y="6713538"/>
            <a:ext cx="585787" cy="144462"/>
          </a:xfrm>
          <a:prstGeom prst="rect">
            <a:avLst/>
          </a:prstGeom>
        </p:spPr>
        <p:txBody>
          <a:bodyPr/>
          <a:lstStyle/>
          <a:p>
            <a:pPr>
              <a:defRPr/>
            </a:pPr>
            <a:fld id="{1998E378-D34F-4691-ACAC-E7B21BCAD3C8}" type="slidenum">
              <a:rPr lang="ja-JP" altLang="en-US" smtClean="0"/>
              <a:pPr>
                <a:defRPr/>
              </a:pPr>
              <a:t>10</a:t>
            </a:fld>
            <a:endParaRPr lang="ja-JP" altLang="en-US"/>
          </a:p>
        </p:txBody>
      </p:sp>
      <p:sp>
        <p:nvSpPr>
          <p:cNvPr id="8" name="正方形/長方形 7"/>
          <p:cNvSpPr/>
          <p:nvPr/>
        </p:nvSpPr>
        <p:spPr bwMode="auto">
          <a:xfrm>
            <a:off x="2432824" y="908720"/>
            <a:ext cx="828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tabLst/>
            </a:pPr>
            <a:r>
              <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rPr>
              <a:t>会社名</a:t>
            </a:r>
          </a:p>
        </p:txBody>
      </p:sp>
      <p:sp>
        <p:nvSpPr>
          <p:cNvPr id="9" name="正方形/長方形 8"/>
          <p:cNvSpPr/>
          <p:nvPr/>
        </p:nvSpPr>
        <p:spPr bwMode="auto">
          <a:xfrm>
            <a:off x="2432824" y="1292763"/>
            <a:ext cx="828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tabLst/>
            </a:pPr>
            <a:r>
              <a:rPr lang="ja-JP" altLang="en-US" sz="1400" dirty="0" smtClean="0">
                <a:latin typeface="Calibri" pitchFamily="34" charset="0"/>
                <a:ea typeface="ＭＳ Ｐゴシック" pitchFamily="50" charset="-128"/>
              </a:rPr>
              <a:t>所在地</a:t>
            </a:r>
            <a:endPar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endParaRPr>
          </a:p>
        </p:txBody>
      </p:sp>
      <p:sp>
        <p:nvSpPr>
          <p:cNvPr id="10" name="正方形/長方形 9"/>
          <p:cNvSpPr/>
          <p:nvPr/>
        </p:nvSpPr>
        <p:spPr bwMode="auto">
          <a:xfrm>
            <a:off x="2432824" y="1676806"/>
            <a:ext cx="828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tabLst/>
            </a:pPr>
            <a:r>
              <a:rPr lang="ja-JP" altLang="en-US" sz="1400" dirty="0" smtClean="0">
                <a:latin typeface="Calibri" pitchFamily="34" charset="0"/>
                <a:ea typeface="ＭＳ Ｐゴシック" pitchFamily="50" charset="-128"/>
              </a:rPr>
              <a:t>氏名</a:t>
            </a:r>
            <a:endPar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endParaRPr>
          </a:p>
        </p:txBody>
      </p:sp>
      <p:sp>
        <p:nvSpPr>
          <p:cNvPr id="11" name="正方形/長方形 10"/>
          <p:cNvSpPr/>
          <p:nvPr/>
        </p:nvSpPr>
        <p:spPr bwMode="auto">
          <a:xfrm>
            <a:off x="2432824" y="2060848"/>
            <a:ext cx="828000" cy="1728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tabLst/>
            </a:pPr>
            <a:r>
              <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rPr>
              <a:t>連絡先</a:t>
            </a:r>
          </a:p>
        </p:txBody>
      </p:sp>
      <p:sp>
        <p:nvSpPr>
          <p:cNvPr id="12" name="正方形/長方形 11"/>
          <p:cNvSpPr/>
          <p:nvPr/>
        </p:nvSpPr>
        <p:spPr bwMode="auto">
          <a:xfrm>
            <a:off x="3296816" y="908720"/>
            <a:ext cx="6228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tabLst/>
            </a:pPr>
            <a:r>
              <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rPr>
              <a:t>株式会社 </a:t>
            </a:r>
            <a:r>
              <a:rPr kumimoji="1" lang="ja-JP" altLang="en-US" sz="1400" b="0" i="0" u="none" strike="noStrike" cap="none" normalizeH="0" dirty="0" smtClean="0">
                <a:ln>
                  <a:noFill/>
                </a:ln>
                <a:solidFill>
                  <a:schemeClr val="tx1"/>
                </a:solidFill>
                <a:effectLst/>
                <a:latin typeface="Calibri" pitchFamily="34" charset="0"/>
                <a:ea typeface="ＭＳ Ｐゴシック" pitchFamily="50" charset="-128"/>
              </a:rPr>
              <a:t> </a:t>
            </a:r>
            <a:r>
              <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rPr>
              <a:t>エス・エム・エス   </a:t>
            </a:r>
            <a:r>
              <a:rPr lang="ja-JP" altLang="en-US" sz="1400" dirty="0" smtClean="0">
                <a:latin typeface="Calibri" pitchFamily="34" charset="0"/>
                <a:ea typeface="ＭＳ Ｐゴシック" pitchFamily="50" charset="-128"/>
              </a:rPr>
              <a:t>横浜事業所</a:t>
            </a:r>
            <a:endPar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endParaRPr>
          </a:p>
        </p:txBody>
      </p:sp>
      <p:sp>
        <p:nvSpPr>
          <p:cNvPr id="13" name="正方形/長方形 12"/>
          <p:cNvSpPr/>
          <p:nvPr/>
        </p:nvSpPr>
        <p:spPr bwMode="auto">
          <a:xfrm>
            <a:off x="3296816" y="1292763"/>
            <a:ext cx="6228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tabLst/>
            </a:pPr>
            <a:r>
              <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rPr>
              <a:t>神奈川県横浜市西区北幸</a:t>
            </a:r>
            <a:r>
              <a:rPr kumimoji="1" lang="en-US" altLang="ja-JP" sz="1400" b="0" i="0" u="none" strike="noStrike" cap="none" normalizeH="0" baseline="0" dirty="0" smtClean="0">
                <a:ln>
                  <a:noFill/>
                </a:ln>
                <a:solidFill>
                  <a:schemeClr val="tx1"/>
                </a:solidFill>
                <a:effectLst/>
                <a:latin typeface="Calibri" pitchFamily="34" charset="0"/>
                <a:ea typeface="ＭＳ Ｐゴシック" pitchFamily="50" charset="-128"/>
              </a:rPr>
              <a:t>1-11-15</a:t>
            </a:r>
            <a:r>
              <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rPr>
              <a:t>横浜ＳＴビル</a:t>
            </a:r>
            <a:r>
              <a:rPr kumimoji="1" lang="en-US" altLang="ja-JP" sz="1400" b="0" i="0" u="none" strike="noStrike" cap="none" normalizeH="0" baseline="0" dirty="0" smtClean="0">
                <a:ln>
                  <a:noFill/>
                </a:ln>
                <a:solidFill>
                  <a:schemeClr val="tx1"/>
                </a:solidFill>
                <a:effectLst/>
                <a:latin typeface="Calibri" pitchFamily="34" charset="0"/>
                <a:ea typeface="ＭＳ Ｐゴシック" pitchFamily="50" charset="-128"/>
              </a:rPr>
              <a:t>11</a:t>
            </a:r>
            <a:r>
              <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rPr>
              <a:t>Ｆ</a:t>
            </a:r>
          </a:p>
        </p:txBody>
      </p:sp>
      <p:sp>
        <p:nvSpPr>
          <p:cNvPr id="14" name="正方形/長方形 13"/>
          <p:cNvSpPr/>
          <p:nvPr/>
        </p:nvSpPr>
        <p:spPr bwMode="auto">
          <a:xfrm>
            <a:off x="3296816" y="1676806"/>
            <a:ext cx="6228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tabLst/>
            </a:pPr>
            <a:r>
              <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rPr>
              <a:t>工藤　静恵　（くどう　しずえ）</a:t>
            </a:r>
          </a:p>
        </p:txBody>
      </p:sp>
      <p:sp>
        <p:nvSpPr>
          <p:cNvPr id="16" name="正方形/長方形 15"/>
          <p:cNvSpPr/>
          <p:nvPr/>
        </p:nvSpPr>
        <p:spPr bwMode="auto">
          <a:xfrm>
            <a:off x="3296816" y="3465040"/>
            <a:ext cx="1620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tabLst/>
            </a:pPr>
            <a:r>
              <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rPr>
              <a:t>携帯メールアドレス</a:t>
            </a:r>
          </a:p>
        </p:txBody>
      </p:sp>
      <p:sp>
        <p:nvSpPr>
          <p:cNvPr id="17" name="正方形/長方形 16"/>
          <p:cNvSpPr/>
          <p:nvPr/>
        </p:nvSpPr>
        <p:spPr bwMode="auto">
          <a:xfrm>
            <a:off x="3296816" y="3113992"/>
            <a:ext cx="1620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tabLst/>
            </a:pPr>
            <a:r>
              <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rPr>
              <a:t>携帯番号</a:t>
            </a:r>
          </a:p>
        </p:txBody>
      </p:sp>
      <p:sp>
        <p:nvSpPr>
          <p:cNvPr id="18" name="正方形/長方形 17"/>
          <p:cNvSpPr/>
          <p:nvPr/>
        </p:nvSpPr>
        <p:spPr bwMode="auto">
          <a:xfrm>
            <a:off x="3296816" y="2060848"/>
            <a:ext cx="1620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tabLst/>
            </a:pPr>
            <a:r>
              <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rPr>
              <a:t>電話番号</a:t>
            </a:r>
          </a:p>
        </p:txBody>
      </p:sp>
      <p:sp>
        <p:nvSpPr>
          <p:cNvPr id="19" name="正方形/長方形 18"/>
          <p:cNvSpPr/>
          <p:nvPr/>
        </p:nvSpPr>
        <p:spPr bwMode="auto">
          <a:xfrm>
            <a:off x="3296816" y="2411896"/>
            <a:ext cx="1620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tabLst/>
            </a:pPr>
            <a:r>
              <a:rPr kumimoji="1" lang="en-US" altLang="ja-JP" sz="1400" b="0" i="0" u="none" strike="noStrike" cap="none" normalizeH="0" baseline="0" dirty="0" smtClean="0">
                <a:ln>
                  <a:noFill/>
                </a:ln>
                <a:solidFill>
                  <a:schemeClr val="tx1"/>
                </a:solidFill>
                <a:effectLst/>
                <a:latin typeface="Calibri" pitchFamily="34" charset="0"/>
                <a:ea typeface="ＭＳ Ｐゴシック" pitchFamily="50" charset="-128"/>
              </a:rPr>
              <a:t>FAX</a:t>
            </a:r>
            <a:r>
              <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rPr>
              <a:t>番号</a:t>
            </a:r>
          </a:p>
        </p:txBody>
      </p:sp>
      <p:sp>
        <p:nvSpPr>
          <p:cNvPr id="20" name="正方形/長方形 19"/>
          <p:cNvSpPr/>
          <p:nvPr/>
        </p:nvSpPr>
        <p:spPr bwMode="auto">
          <a:xfrm>
            <a:off x="3296816" y="2762944"/>
            <a:ext cx="1620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tabLst/>
            </a:pPr>
            <a:r>
              <a:rPr kumimoji="1" lang="en-US" altLang="ja-JP" sz="1400" b="0" i="0" u="none" strike="noStrike" cap="none" normalizeH="0" baseline="0" dirty="0" smtClean="0">
                <a:ln>
                  <a:noFill/>
                </a:ln>
                <a:solidFill>
                  <a:schemeClr val="tx1"/>
                </a:solidFill>
                <a:effectLst/>
                <a:latin typeface="Calibri" pitchFamily="34" charset="0"/>
                <a:ea typeface="ＭＳ Ｐゴシック" pitchFamily="50" charset="-128"/>
              </a:rPr>
              <a:t>PC</a:t>
            </a:r>
            <a:r>
              <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rPr>
              <a:t>メールアドレス</a:t>
            </a:r>
          </a:p>
        </p:txBody>
      </p:sp>
      <p:sp>
        <p:nvSpPr>
          <p:cNvPr id="21" name="正方形/長方形 20"/>
          <p:cNvSpPr/>
          <p:nvPr/>
        </p:nvSpPr>
        <p:spPr bwMode="auto">
          <a:xfrm>
            <a:off x="4928908" y="3420132"/>
            <a:ext cx="3096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r>
              <a:rPr lang="en-US" altLang="ja-JP" sz="1400" dirty="0" smtClean="0"/>
              <a:t>shizue-kudo</a:t>
            </a:r>
            <a:r>
              <a:rPr lang="en-US" altLang="ja-JP" sz="1400" u="sng" dirty="0" smtClean="0">
                <a:solidFill>
                  <a:srgbClr val="0000FF"/>
                </a:solidFill>
              </a:rPr>
              <a:t>.bm-sms@ezweb.ne.jp</a:t>
            </a:r>
            <a:endParaRPr lang="en-US" altLang="ja-JP" sz="1400" u="sng" dirty="0">
              <a:solidFill>
                <a:srgbClr val="0000FF"/>
              </a:solidFill>
            </a:endParaRPr>
          </a:p>
        </p:txBody>
      </p:sp>
      <p:sp>
        <p:nvSpPr>
          <p:cNvPr id="22" name="正方形/長方形 21"/>
          <p:cNvSpPr/>
          <p:nvPr/>
        </p:nvSpPr>
        <p:spPr bwMode="auto">
          <a:xfrm>
            <a:off x="4917176" y="3113992"/>
            <a:ext cx="3096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en-US" altLang="ja-JP" sz="1400" dirty="0" smtClean="0"/>
              <a:t>080-3914-5923</a:t>
            </a:r>
          </a:p>
        </p:txBody>
      </p:sp>
      <p:sp>
        <p:nvSpPr>
          <p:cNvPr id="23" name="正方形/長方形 22"/>
          <p:cNvSpPr/>
          <p:nvPr/>
        </p:nvSpPr>
        <p:spPr bwMode="auto">
          <a:xfrm>
            <a:off x="4917176" y="2060848"/>
            <a:ext cx="3096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en-US" altLang="ja-JP" sz="1400" dirty="0" smtClean="0"/>
              <a:t>045-290-7045</a:t>
            </a:r>
            <a:endPar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endParaRPr>
          </a:p>
        </p:txBody>
      </p:sp>
      <p:sp>
        <p:nvSpPr>
          <p:cNvPr id="24" name="正方形/長方形 23"/>
          <p:cNvSpPr/>
          <p:nvPr/>
        </p:nvSpPr>
        <p:spPr bwMode="auto">
          <a:xfrm>
            <a:off x="4917176" y="2411896"/>
            <a:ext cx="3096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en-US" altLang="ja-JP" sz="1400" dirty="0" smtClean="0"/>
              <a:t>045-324-6001</a:t>
            </a:r>
            <a:endPar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endParaRPr>
          </a:p>
        </p:txBody>
      </p:sp>
      <p:sp>
        <p:nvSpPr>
          <p:cNvPr id="25" name="正方形/長方形 24"/>
          <p:cNvSpPr/>
          <p:nvPr/>
        </p:nvSpPr>
        <p:spPr bwMode="auto">
          <a:xfrm>
            <a:off x="4917176" y="2762944"/>
            <a:ext cx="3096000" cy="324000"/>
          </a:xfrm>
          <a:prstGeom prst="rect">
            <a:avLst/>
          </a:prstGeom>
          <a:solidFill>
            <a:schemeClr val="bg1"/>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fontAlgn="base">
              <a:spcBef>
                <a:spcPct val="0"/>
              </a:spcBef>
              <a:spcAft>
                <a:spcPct val="0"/>
              </a:spcAft>
            </a:pPr>
            <a:r>
              <a:rPr lang="en-US" altLang="ja-JP" sz="1400" dirty="0" smtClean="0">
                <a:hlinkClick r:id="rId3"/>
              </a:rPr>
              <a:t>shizue-kudo@bm-sms.co.jp</a:t>
            </a:r>
            <a:endParaRPr kumimoji="1" lang="ja-JP" altLang="en-US" sz="1400" b="0" i="0" u="none" strike="noStrike" cap="none" normalizeH="0" baseline="0" dirty="0" smtClean="0">
              <a:ln>
                <a:noFill/>
              </a:ln>
              <a:solidFill>
                <a:schemeClr val="tx1"/>
              </a:solidFill>
              <a:effectLst/>
              <a:latin typeface="Calibri" pitchFamily="34" charset="0"/>
              <a:ea typeface="ＭＳ Ｐゴシック" pitchFamily="50" charset="-128"/>
            </a:endParaRPr>
          </a:p>
        </p:txBody>
      </p:sp>
      <p:sp>
        <p:nvSpPr>
          <p:cNvPr id="26" name="正方形/長方形 25"/>
          <p:cNvSpPr/>
          <p:nvPr/>
        </p:nvSpPr>
        <p:spPr bwMode="auto">
          <a:xfrm>
            <a:off x="272480" y="3969152"/>
            <a:ext cx="9145016" cy="8280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defRPr/>
            </a:pPr>
            <a:r>
              <a:rPr lang="en-US" altLang="ja-JP" sz="1600" dirty="0" smtClean="0"/>
              <a:t>9</a:t>
            </a:r>
            <a:r>
              <a:rPr lang="ja-JP" altLang="en-US" sz="1600" dirty="0" smtClean="0"/>
              <a:t>時</a:t>
            </a:r>
            <a:r>
              <a:rPr lang="en-US" altLang="ja-JP" sz="1600" dirty="0" smtClean="0"/>
              <a:t>30</a:t>
            </a:r>
            <a:r>
              <a:rPr lang="ja-JP" altLang="en-US" sz="1600" dirty="0" smtClean="0"/>
              <a:t>分～</a:t>
            </a:r>
            <a:r>
              <a:rPr lang="en-US" altLang="ja-JP" sz="1600" dirty="0" smtClean="0"/>
              <a:t>20</a:t>
            </a:r>
            <a:r>
              <a:rPr lang="ja-JP" altLang="en-US" sz="1600" dirty="0" smtClean="0"/>
              <a:t>時過ぎの間はお電話が繋がりますので、気軽にご連絡下さい。</a:t>
            </a:r>
            <a:endParaRPr lang="en-US" altLang="ja-JP" sz="1600" dirty="0" smtClean="0"/>
          </a:p>
          <a:p>
            <a:pPr algn="ctr">
              <a:defRPr/>
            </a:pPr>
            <a:r>
              <a:rPr lang="ja-JP" altLang="en-US" sz="1600" dirty="0" smtClean="0"/>
              <a:t>また転職を検討している友人がいらっしゃいましたら、いつでもご紹介下さい。</a:t>
            </a:r>
            <a:endParaRPr lang="en-US" altLang="ja-JP" sz="16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normAutofit/>
          </a:bodyPr>
          <a:lstStyle/>
          <a:p>
            <a:r>
              <a:rPr lang="en-US" altLang="ja-JP" sz="2800" dirty="0" smtClean="0"/>
              <a:t>End of Documents</a:t>
            </a:r>
            <a:endParaRPr kumimoji="1" lang="ja-JP" altLang="en-US" sz="2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MS(オレンジ色）">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1">
      <a:majorFont>
        <a:latin typeface="Calibri"/>
        <a:ea typeface="ＭＳ Ｐゴシック"/>
        <a:cs typeface=""/>
      </a:majorFont>
      <a:minorFont>
        <a:latin typeface="Calibri"/>
        <a:ea typeface="ＭＳ Ｐゴシック"/>
        <a:cs typeface=""/>
      </a:minorFont>
    </a:fontScheme>
    <a:fmtScheme name="エコロジー">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SMS(オレンジ色）</Template>
  <TotalTime>12608</TotalTime>
  <Words>1919</Words>
  <Application>Microsoft Office PowerPoint</Application>
  <PresentationFormat>A4 210 x 297 mm</PresentationFormat>
  <Paragraphs>259</Paragraphs>
  <Slides>11</Slides>
  <Notes>11</Notes>
  <HiddenSlides>0</HiddenSlides>
  <MMClips>0</MMClips>
  <ScaleCrop>false</ScaleCrop>
  <HeadingPairs>
    <vt:vector size="4" baseType="variant">
      <vt:variant>
        <vt:lpstr>テーマ</vt:lpstr>
      </vt:variant>
      <vt:variant>
        <vt:i4>1</vt:i4>
      </vt:variant>
      <vt:variant>
        <vt:lpstr>スライド タイトル</vt:lpstr>
      </vt:variant>
      <vt:variant>
        <vt:i4>11</vt:i4>
      </vt:variant>
    </vt:vector>
  </HeadingPairs>
  <TitlesOfParts>
    <vt:vector size="12" baseType="lpstr">
      <vt:lpstr>SMS(オレンジ色）</vt:lpstr>
      <vt:lpstr>内定から入職までのご案内</vt:lpstr>
      <vt:lpstr>目次</vt:lpstr>
      <vt:lpstr>1. まずはじめに</vt:lpstr>
      <vt:lpstr>2. 内定から入職までの流れ</vt:lpstr>
      <vt:lpstr>3. 各項目のチェックポイント－B. 退職手続き</vt:lpstr>
      <vt:lpstr>3. 各項目のチェックポイント－C. 退職</vt:lpstr>
      <vt:lpstr>4. 退職手続き時のよくある事例</vt:lpstr>
      <vt:lpstr>5. 退職届の書き方</vt:lpstr>
      <vt:lpstr>6. よくある質問</vt:lpstr>
      <vt:lpstr>7. 困った時の連絡先</vt:lpstr>
      <vt:lpstr>End of Documents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NJB週次進捗会議資料</dc:title>
  <dc:creator>naoya-yamaguchi</dc:creator>
  <cp:lastModifiedBy>Administrator</cp:lastModifiedBy>
  <cp:revision>1311</cp:revision>
  <dcterms:created xsi:type="dcterms:W3CDTF">2010-10-07T08:19:07Z</dcterms:created>
  <dcterms:modified xsi:type="dcterms:W3CDTF">2013-12-06T10:57:27Z</dcterms:modified>
</cp:coreProperties>
</file>