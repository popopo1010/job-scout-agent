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xls" ContentType="application/vnd.ms-excel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7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6" r:id="rId2"/>
    <p:sldMasterId id="2147483700" r:id="rId3"/>
    <p:sldMasterId id="2147483721" r:id="rId4"/>
    <p:sldMasterId id="2147483728" r:id="rId5"/>
    <p:sldMasterId id="2147483735" r:id="rId6"/>
    <p:sldMasterId id="2147483742" r:id="rId7"/>
    <p:sldMasterId id="2147483777" r:id="rId8"/>
  </p:sldMasterIdLst>
  <p:notesMasterIdLst>
    <p:notesMasterId r:id="rId30"/>
  </p:notesMasterIdLst>
  <p:sldIdLst>
    <p:sldId id="257" r:id="rId9"/>
    <p:sldId id="275" r:id="rId10"/>
    <p:sldId id="350" r:id="rId11"/>
    <p:sldId id="260" r:id="rId12"/>
    <p:sldId id="277" r:id="rId13"/>
    <p:sldId id="261" r:id="rId14"/>
    <p:sldId id="259" r:id="rId15"/>
    <p:sldId id="351" r:id="rId16"/>
    <p:sldId id="273" r:id="rId17"/>
    <p:sldId id="266" r:id="rId18"/>
    <p:sldId id="262" r:id="rId19"/>
    <p:sldId id="269" r:id="rId20"/>
    <p:sldId id="274" r:id="rId21"/>
    <p:sldId id="352" r:id="rId22"/>
    <p:sldId id="278" r:id="rId23"/>
    <p:sldId id="279" r:id="rId24"/>
    <p:sldId id="280" r:id="rId25"/>
    <p:sldId id="281" r:id="rId26"/>
    <p:sldId id="348" r:id="rId27"/>
    <p:sldId id="349" r:id="rId28"/>
    <p:sldId id="353" r:id="rId2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5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90FFA4-AE5F-4212-8122-B757E0C483D5}" type="doc">
      <dgm:prSet loTypeId="urn:microsoft.com/office/officeart/2005/8/layout/cycle5" loCatId="cycl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kumimoji="1" lang="ja-JP" altLang="en-US"/>
        </a:p>
      </dgm:t>
    </dgm:pt>
    <dgm:pt modelId="{9EDEE204-E3D2-42AB-AC1A-16CAC56CB125}">
      <dgm:prSet phldrT="[テキスト]" custT="1"/>
      <dgm:spPr/>
      <dgm:t>
        <a:bodyPr/>
        <a:lstStyle/>
        <a:p>
          <a:r>
            <a:rPr kumimoji="1" lang="ja-JP" altLang="en-US" sz="1200" b="1" dirty="0" smtClean="0"/>
            <a:t>離職・人材不足</a:t>
          </a:r>
          <a:r>
            <a:rPr kumimoji="1" lang="en-US" altLang="ja-JP" sz="1200" b="1" dirty="0" smtClean="0"/>
            <a:t/>
          </a:r>
          <a:br>
            <a:rPr kumimoji="1" lang="en-US" altLang="ja-JP" sz="1200" b="1" dirty="0" smtClean="0"/>
          </a:br>
          <a:r>
            <a:rPr kumimoji="1" lang="ja-JP" altLang="en-US" sz="1200" b="1" dirty="0" smtClean="0"/>
            <a:t>（採用・定着）</a:t>
          </a:r>
          <a:endParaRPr kumimoji="1" lang="ja-JP" altLang="en-US" sz="1200" b="1" dirty="0"/>
        </a:p>
      </dgm:t>
    </dgm:pt>
    <dgm:pt modelId="{F60D17CB-4993-457E-9806-C0BA7AC6DF32}" type="parTrans" cxnId="{91955CEF-26CC-46FC-8518-780E0B7850D8}">
      <dgm:prSet/>
      <dgm:spPr/>
      <dgm:t>
        <a:bodyPr/>
        <a:lstStyle/>
        <a:p>
          <a:endParaRPr kumimoji="1" lang="ja-JP" altLang="en-US" sz="1800" b="1"/>
        </a:p>
      </dgm:t>
    </dgm:pt>
    <dgm:pt modelId="{7497C669-1EEB-4514-B6E0-AA5DAE2C0889}" type="sibTrans" cxnId="{91955CEF-26CC-46FC-8518-780E0B7850D8}">
      <dgm:prSet/>
      <dgm:spPr/>
      <dgm:t>
        <a:bodyPr/>
        <a:lstStyle/>
        <a:p>
          <a:endParaRPr kumimoji="1" lang="ja-JP" altLang="en-US" sz="1800" b="1"/>
        </a:p>
      </dgm:t>
    </dgm:pt>
    <dgm:pt modelId="{2042C187-B353-464B-921B-953B6E688D96}">
      <dgm:prSet phldrT="[テキスト]" custT="1"/>
      <dgm:spPr/>
      <dgm:t>
        <a:bodyPr/>
        <a:lstStyle/>
        <a:p>
          <a:r>
            <a:rPr kumimoji="1" lang="ja-JP" altLang="en-US" sz="1200" b="1" dirty="0" smtClean="0"/>
            <a:t>サービス提供量</a:t>
          </a:r>
          <a:r>
            <a:rPr kumimoji="1" lang="en-US" altLang="ja-JP" sz="1200" b="1" dirty="0" smtClean="0"/>
            <a:t/>
          </a:r>
          <a:br>
            <a:rPr kumimoji="1" lang="en-US" altLang="ja-JP" sz="1200" b="1" dirty="0" smtClean="0"/>
          </a:br>
          <a:r>
            <a:rPr kumimoji="1" lang="ja-JP" altLang="en-US" sz="1200" b="1" dirty="0" smtClean="0"/>
            <a:t>の低迷</a:t>
          </a:r>
          <a:endParaRPr kumimoji="1" lang="ja-JP" altLang="en-US" sz="1200" b="1" dirty="0"/>
        </a:p>
      </dgm:t>
    </dgm:pt>
    <dgm:pt modelId="{00B77981-0AB2-46CE-A5B2-AA09FAD89619}" type="parTrans" cxnId="{CF568BF7-FB33-47CF-986F-D5DF8ACF3110}">
      <dgm:prSet/>
      <dgm:spPr/>
      <dgm:t>
        <a:bodyPr/>
        <a:lstStyle/>
        <a:p>
          <a:endParaRPr kumimoji="1" lang="ja-JP" altLang="en-US" sz="1800" b="1"/>
        </a:p>
      </dgm:t>
    </dgm:pt>
    <dgm:pt modelId="{FED7C539-214D-4EA7-9C54-1ECEB8D78C2F}" type="sibTrans" cxnId="{CF568BF7-FB33-47CF-986F-D5DF8ACF3110}">
      <dgm:prSet/>
      <dgm:spPr/>
      <dgm:t>
        <a:bodyPr/>
        <a:lstStyle/>
        <a:p>
          <a:endParaRPr kumimoji="1" lang="ja-JP" altLang="en-US" sz="1800" b="1"/>
        </a:p>
      </dgm:t>
    </dgm:pt>
    <dgm:pt modelId="{4CDD852A-4890-40DA-88BA-2DD7F6F99323}">
      <dgm:prSet phldrT="[テキスト]" custT="1"/>
      <dgm:spPr/>
      <dgm:t>
        <a:bodyPr/>
        <a:lstStyle/>
        <a:p>
          <a:r>
            <a:rPr kumimoji="1" lang="ja-JP" altLang="en-US" sz="1200" b="1" dirty="0" smtClean="0"/>
            <a:t>事業</a:t>
          </a:r>
          <a:r>
            <a:rPr kumimoji="1" lang="ja-JP" altLang="en-US" sz="1200" b="1" smtClean="0"/>
            <a:t>収入の</a:t>
          </a:r>
          <a:r>
            <a:rPr kumimoji="1" lang="en-US" altLang="ja-JP" sz="1200" b="1" smtClean="0"/>
            <a:t/>
          </a:r>
          <a:br>
            <a:rPr kumimoji="1" lang="en-US" altLang="ja-JP" sz="1200" b="1" smtClean="0"/>
          </a:br>
          <a:r>
            <a:rPr kumimoji="1" lang="ja-JP" altLang="en-US" sz="1200" b="1" smtClean="0"/>
            <a:t>低迷</a:t>
          </a:r>
          <a:endParaRPr kumimoji="1" lang="ja-JP" altLang="en-US" sz="1200" b="1" dirty="0"/>
        </a:p>
      </dgm:t>
    </dgm:pt>
    <dgm:pt modelId="{68142B09-3A9F-4965-8346-9EAC93FDFCAB}" type="parTrans" cxnId="{9A62415A-B17E-4526-BB19-0CB4FCA65822}">
      <dgm:prSet/>
      <dgm:spPr/>
      <dgm:t>
        <a:bodyPr/>
        <a:lstStyle/>
        <a:p>
          <a:endParaRPr kumimoji="1" lang="ja-JP" altLang="en-US" sz="1800" b="1"/>
        </a:p>
      </dgm:t>
    </dgm:pt>
    <dgm:pt modelId="{A512E39B-BDF6-4E58-8409-39CF0381D7D0}" type="sibTrans" cxnId="{9A62415A-B17E-4526-BB19-0CB4FCA65822}">
      <dgm:prSet/>
      <dgm:spPr/>
      <dgm:t>
        <a:bodyPr/>
        <a:lstStyle/>
        <a:p>
          <a:endParaRPr kumimoji="1" lang="ja-JP" altLang="en-US" sz="1800" b="1"/>
        </a:p>
      </dgm:t>
    </dgm:pt>
    <dgm:pt modelId="{484B85C4-4F61-47AB-BDDF-43B2F334AD43}">
      <dgm:prSet phldrT="[テキスト]" custT="1"/>
      <dgm:spPr/>
      <dgm:t>
        <a:bodyPr/>
        <a:lstStyle/>
        <a:p>
          <a:r>
            <a:rPr kumimoji="1" lang="ja-JP" altLang="en-US" sz="1200" b="1" dirty="0" smtClean="0"/>
            <a:t>就労環境の</a:t>
          </a:r>
          <a:r>
            <a:rPr kumimoji="1" lang="en-US" altLang="ja-JP" sz="1200" b="1" dirty="0" smtClean="0"/>
            <a:t/>
          </a:r>
          <a:br>
            <a:rPr kumimoji="1" lang="en-US" altLang="ja-JP" sz="1200" b="1" dirty="0" smtClean="0"/>
          </a:br>
          <a:r>
            <a:rPr kumimoji="1" lang="ja-JP" altLang="en-US" sz="1200" b="1" dirty="0" smtClean="0"/>
            <a:t>悪化</a:t>
          </a:r>
          <a:endParaRPr kumimoji="1" lang="ja-JP" altLang="en-US" sz="1200" b="1" dirty="0"/>
        </a:p>
      </dgm:t>
    </dgm:pt>
    <dgm:pt modelId="{7AA459F5-86BF-4180-93A8-509BC094A0C0}" type="parTrans" cxnId="{0CF13EA0-2198-44B8-84F5-D38DA09BDE7B}">
      <dgm:prSet/>
      <dgm:spPr/>
      <dgm:t>
        <a:bodyPr/>
        <a:lstStyle/>
        <a:p>
          <a:endParaRPr kumimoji="1" lang="ja-JP" altLang="en-US" sz="1800" b="1"/>
        </a:p>
      </dgm:t>
    </dgm:pt>
    <dgm:pt modelId="{DB1B56AE-5C1D-4E09-9B4B-6F34DD70F5CF}" type="sibTrans" cxnId="{0CF13EA0-2198-44B8-84F5-D38DA09BDE7B}">
      <dgm:prSet/>
      <dgm:spPr/>
      <dgm:t>
        <a:bodyPr/>
        <a:lstStyle/>
        <a:p>
          <a:endParaRPr kumimoji="1" lang="ja-JP" altLang="en-US" sz="1800" b="1"/>
        </a:p>
      </dgm:t>
    </dgm:pt>
    <dgm:pt modelId="{9CEA4E5F-415A-43E2-B41B-B1CF2ADB5970}" type="pres">
      <dgm:prSet presAssocID="{2590FFA4-AE5F-4212-8122-B757E0C483D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kumimoji="1" lang="ja-JP" altLang="en-US"/>
        </a:p>
      </dgm:t>
    </dgm:pt>
    <dgm:pt modelId="{A6DBF93E-E691-4FC7-84D3-422E69BBF91D}" type="pres">
      <dgm:prSet presAssocID="{9EDEE204-E3D2-42AB-AC1A-16CAC56CB12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kumimoji="1" lang="ja-JP" altLang="en-US"/>
        </a:p>
      </dgm:t>
    </dgm:pt>
    <dgm:pt modelId="{3754C17F-BF4C-46FF-9BBB-106C89F6E2F1}" type="pres">
      <dgm:prSet presAssocID="{9EDEE204-E3D2-42AB-AC1A-16CAC56CB125}" presName="spNode" presStyleCnt="0"/>
      <dgm:spPr/>
    </dgm:pt>
    <dgm:pt modelId="{2BE836BA-FBB8-4496-B6D5-454B2DABE294}" type="pres">
      <dgm:prSet presAssocID="{7497C669-1EEB-4514-B6E0-AA5DAE2C0889}" presName="sibTrans" presStyleLbl="sibTrans1D1" presStyleIdx="0" presStyleCnt="4"/>
      <dgm:spPr/>
      <dgm:t>
        <a:bodyPr/>
        <a:lstStyle/>
        <a:p>
          <a:endParaRPr kumimoji="1" lang="ja-JP" altLang="en-US"/>
        </a:p>
      </dgm:t>
    </dgm:pt>
    <dgm:pt modelId="{081F2735-C779-48CB-9BE9-130F1A24BD28}" type="pres">
      <dgm:prSet presAssocID="{2042C187-B353-464B-921B-953B6E688D96}" presName="node" presStyleLbl="node1" presStyleIdx="1" presStyleCnt="4" custRadScaleRad="99436" custRadScaleInc="847">
        <dgm:presLayoutVars>
          <dgm:bulletEnabled val="1"/>
        </dgm:presLayoutVars>
      </dgm:prSet>
      <dgm:spPr/>
      <dgm:t>
        <a:bodyPr/>
        <a:lstStyle/>
        <a:p>
          <a:endParaRPr kumimoji="1" lang="ja-JP" altLang="en-US"/>
        </a:p>
      </dgm:t>
    </dgm:pt>
    <dgm:pt modelId="{1C560692-AD9C-4B01-B28D-5D81A464C10B}" type="pres">
      <dgm:prSet presAssocID="{2042C187-B353-464B-921B-953B6E688D96}" presName="spNode" presStyleCnt="0"/>
      <dgm:spPr/>
    </dgm:pt>
    <dgm:pt modelId="{38DEFC6C-89BA-4519-8DB9-26D712F8B4B2}" type="pres">
      <dgm:prSet presAssocID="{FED7C539-214D-4EA7-9C54-1ECEB8D78C2F}" presName="sibTrans" presStyleLbl="sibTrans1D1" presStyleIdx="1" presStyleCnt="4"/>
      <dgm:spPr/>
      <dgm:t>
        <a:bodyPr/>
        <a:lstStyle/>
        <a:p>
          <a:endParaRPr kumimoji="1" lang="ja-JP" altLang="en-US"/>
        </a:p>
      </dgm:t>
    </dgm:pt>
    <dgm:pt modelId="{78F0FDB9-5316-46C7-93BF-C4DCA5C86BED}" type="pres">
      <dgm:prSet presAssocID="{4CDD852A-4890-40DA-88BA-2DD7F6F9932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kumimoji="1" lang="ja-JP" altLang="en-US"/>
        </a:p>
      </dgm:t>
    </dgm:pt>
    <dgm:pt modelId="{C15B742B-47D8-4A10-A92C-68A017DE4A1B}" type="pres">
      <dgm:prSet presAssocID="{4CDD852A-4890-40DA-88BA-2DD7F6F99323}" presName="spNode" presStyleCnt="0"/>
      <dgm:spPr/>
    </dgm:pt>
    <dgm:pt modelId="{52D2A474-0E8C-448D-A540-37D6807571D1}" type="pres">
      <dgm:prSet presAssocID="{A512E39B-BDF6-4E58-8409-39CF0381D7D0}" presName="sibTrans" presStyleLbl="sibTrans1D1" presStyleIdx="2" presStyleCnt="4"/>
      <dgm:spPr/>
      <dgm:t>
        <a:bodyPr/>
        <a:lstStyle/>
        <a:p>
          <a:endParaRPr kumimoji="1" lang="ja-JP" altLang="en-US"/>
        </a:p>
      </dgm:t>
    </dgm:pt>
    <dgm:pt modelId="{EA951FFD-1FBB-4E17-914A-5F138D12DC1C}" type="pres">
      <dgm:prSet presAssocID="{484B85C4-4F61-47AB-BDDF-43B2F334AD43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kumimoji="1" lang="ja-JP" altLang="en-US"/>
        </a:p>
      </dgm:t>
    </dgm:pt>
    <dgm:pt modelId="{256252D8-9CC4-46D3-BE38-12BA2FEB087F}" type="pres">
      <dgm:prSet presAssocID="{484B85C4-4F61-47AB-BDDF-43B2F334AD43}" presName="spNode" presStyleCnt="0"/>
      <dgm:spPr/>
    </dgm:pt>
    <dgm:pt modelId="{5CE33B6A-CCC6-4AF4-BF2D-D567171892D0}" type="pres">
      <dgm:prSet presAssocID="{DB1B56AE-5C1D-4E09-9B4B-6F34DD70F5CF}" presName="sibTrans" presStyleLbl="sibTrans1D1" presStyleIdx="3" presStyleCnt="4"/>
      <dgm:spPr/>
      <dgm:t>
        <a:bodyPr/>
        <a:lstStyle/>
        <a:p>
          <a:endParaRPr kumimoji="1" lang="ja-JP" altLang="en-US"/>
        </a:p>
      </dgm:t>
    </dgm:pt>
  </dgm:ptLst>
  <dgm:cxnLst>
    <dgm:cxn modelId="{52F7CFD3-C822-4504-B81E-C5061CB83FA9}" type="presOf" srcId="{DB1B56AE-5C1D-4E09-9B4B-6F34DD70F5CF}" destId="{5CE33B6A-CCC6-4AF4-BF2D-D567171892D0}" srcOrd="0" destOrd="0" presId="urn:microsoft.com/office/officeart/2005/8/layout/cycle5"/>
    <dgm:cxn modelId="{0F7EF719-BE7D-4E11-A491-3B8E7847D275}" type="presOf" srcId="{2042C187-B353-464B-921B-953B6E688D96}" destId="{081F2735-C779-48CB-9BE9-130F1A24BD28}" srcOrd="0" destOrd="0" presId="urn:microsoft.com/office/officeart/2005/8/layout/cycle5"/>
    <dgm:cxn modelId="{0CF13EA0-2198-44B8-84F5-D38DA09BDE7B}" srcId="{2590FFA4-AE5F-4212-8122-B757E0C483D5}" destId="{484B85C4-4F61-47AB-BDDF-43B2F334AD43}" srcOrd="3" destOrd="0" parTransId="{7AA459F5-86BF-4180-93A8-509BC094A0C0}" sibTransId="{DB1B56AE-5C1D-4E09-9B4B-6F34DD70F5CF}"/>
    <dgm:cxn modelId="{91955CEF-26CC-46FC-8518-780E0B7850D8}" srcId="{2590FFA4-AE5F-4212-8122-B757E0C483D5}" destId="{9EDEE204-E3D2-42AB-AC1A-16CAC56CB125}" srcOrd="0" destOrd="0" parTransId="{F60D17CB-4993-457E-9806-C0BA7AC6DF32}" sibTransId="{7497C669-1EEB-4514-B6E0-AA5DAE2C0889}"/>
    <dgm:cxn modelId="{EB1945AD-A5AF-44C9-B831-EED4F9EF3655}" type="presOf" srcId="{9EDEE204-E3D2-42AB-AC1A-16CAC56CB125}" destId="{A6DBF93E-E691-4FC7-84D3-422E69BBF91D}" srcOrd="0" destOrd="0" presId="urn:microsoft.com/office/officeart/2005/8/layout/cycle5"/>
    <dgm:cxn modelId="{02E55EFD-BB56-4037-A020-A0946BAD41AC}" type="presOf" srcId="{A512E39B-BDF6-4E58-8409-39CF0381D7D0}" destId="{52D2A474-0E8C-448D-A540-37D6807571D1}" srcOrd="0" destOrd="0" presId="urn:microsoft.com/office/officeart/2005/8/layout/cycle5"/>
    <dgm:cxn modelId="{9A62415A-B17E-4526-BB19-0CB4FCA65822}" srcId="{2590FFA4-AE5F-4212-8122-B757E0C483D5}" destId="{4CDD852A-4890-40DA-88BA-2DD7F6F99323}" srcOrd="2" destOrd="0" parTransId="{68142B09-3A9F-4965-8346-9EAC93FDFCAB}" sibTransId="{A512E39B-BDF6-4E58-8409-39CF0381D7D0}"/>
    <dgm:cxn modelId="{8706ED5F-1D61-4217-B2AC-C6475553B83A}" type="presOf" srcId="{FED7C539-214D-4EA7-9C54-1ECEB8D78C2F}" destId="{38DEFC6C-89BA-4519-8DB9-26D712F8B4B2}" srcOrd="0" destOrd="0" presId="urn:microsoft.com/office/officeart/2005/8/layout/cycle5"/>
    <dgm:cxn modelId="{9EC2FDCD-3A56-4E4D-A17D-A516B0FC9BFD}" type="presOf" srcId="{484B85C4-4F61-47AB-BDDF-43B2F334AD43}" destId="{EA951FFD-1FBB-4E17-914A-5F138D12DC1C}" srcOrd="0" destOrd="0" presId="urn:microsoft.com/office/officeart/2005/8/layout/cycle5"/>
    <dgm:cxn modelId="{A217E9EF-B6F8-4EAB-B3F4-F579F77B51FD}" type="presOf" srcId="{2590FFA4-AE5F-4212-8122-B757E0C483D5}" destId="{9CEA4E5F-415A-43E2-B41B-B1CF2ADB5970}" srcOrd="0" destOrd="0" presId="urn:microsoft.com/office/officeart/2005/8/layout/cycle5"/>
    <dgm:cxn modelId="{DF316A46-6647-4B62-AB50-9CE3FD732A60}" type="presOf" srcId="{7497C669-1EEB-4514-B6E0-AA5DAE2C0889}" destId="{2BE836BA-FBB8-4496-B6D5-454B2DABE294}" srcOrd="0" destOrd="0" presId="urn:microsoft.com/office/officeart/2005/8/layout/cycle5"/>
    <dgm:cxn modelId="{CF568BF7-FB33-47CF-986F-D5DF8ACF3110}" srcId="{2590FFA4-AE5F-4212-8122-B757E0C483D5}" destId="{2042C187-B353-464B-921B-953B6E688D96}" srcOrd="1" destOrd="0" parTransId="{00B77981-0AB2-46CE-A5B2-AA09FAD89619}" sibTransId="{FED7C539-214D-4EA7-9C54-1ECEB8D78C2F}"/>
    <dgm:cxn modelId="{30CDD7CF-BD5D-41F0-8568-CC476EA13AD6}" type="presOf" srcId="{4CDD852A-4890-40DA-88BA-2DD7F6F99323}" destId="{78F0FDB9-5316-46C7-93BF-C4DCA5C86BED}" srcOrd="0" destOrd="0" presId="urn:microsoft.com/office/officeart/2005/8/layout/cycle5"/>
    <dgm:cxn modelId="{0CF4EB82-7295-436F-BB68-7B3F1CFE16C7}" type="presParOf" srcId="{9CEA4E5F-415A-43E2-B41B-B1CF2ADB5970}" destId="{A6DBF93E-E691-4FC7-84D3-422E69BBF91D}" srcOrd="0" destOrd="0" presId="urn:microsoft.com/office/officeart/2005/8/layout/cycle5"/>
    <dgm:cxn modelId="{84B2532F-6A4A-4E74-9912-23A4C5BD8CB0}" type="presParOf" srcId="{9CEA4E5F-415A-43E2-B41B-B1CF2ADB5970}" destId="{3754C17F-BF4C-46FF-9BBB-106C89F6E2F1}" srcOrd="1" destOrd="0" presId="urn:microsoft.com/office/officeart/2005/8/layout/cycle5"/>
    <dgm:cxn modelId="{980770C7-3467-4A0E-B50E-D10318560BC1}" type="presParOf" srcId="{9CEA4E5F-415A-43E2-B41B-B1CF2ADB5970}" destId="{2BE836BA-FBB8-4496-B6D5-454B2DABE294}" srcOrd="2" destOrd="0" presId="urn:microsoft.com/office/officeart/2005/8/layout/cycle5"/>
    <dgm:cxn modelId="{BDAFBA26-5F11-42C0-A378-12AACEB1B851}" type="presParOf" srcId="{9CEA4E5F-415A-43E2-B41B-B1CF2ADB5970}" destId="{081F2735-C779-48CB-9BE9-130F1A24BD28}" srcOrd="3" destOrd="0" presId="urn:microsoft.com/office/officeart/2005/8/layout/cycle5"/>
    <dgm:cxn modelId="{5FB25D1C-FD30-403D-A271-4A0E34003E84}" type="presParOf" srcId="{9CEA4E5F-415A-43E2-B41B-B1CF2ADB5970}" destId="{1C560692-AD9C-4B01-B28D-5D81A464C10B}" srcOrd="4" destOrd="0" presId="urn:microsoft.com/office/officeart/2005/8/layout/cycle5"/>
    <dgm:cxn modelId="{61DE8EE2-E244-4835-9CDC-67FA89955C27}" type="presParOf" srcId="{9CEA4E5F-415A-43E2-B41B-B1CF2ADB5970}" destId="{38DEFC6C-89BA-4519-8DB9-26D712F8B4B2}" srcOrd="5" destOrd="0" presId="urn:microsoft.com/office/officeart/2005/8/layout/cycle5"/>
    <dgm:cxn modelId="{DAE60719-D4B6-4937-886F-D232B98B6F58}" type="presParOf" srcId="{9CEA4E5F-415A-43E2-B41B-B1CF2ADB5970}" destId="{78F0FDB9-5316-46C7-93BF-C4DCA5C86BED}" srcOrd="6" destOrd="0" presId="urn:microsoft.com/office/officeart/2005/8/layout/cycle5"/>
    <dgm:cxn modelId="{C3792215-AAA4-4915-B783-180699F4983D}" type="presParOf" srcId="{9CEA4E5F-415A-43E2-B41B-B1CF2ADB5970}" destId="{C15B742B-47D8-4A10-A92C-68A017DE4A1B}" srcOrd="7" destOrd="0" presId="urn:microsoft.com/office/officeart/2005/8/layout/cycle5"/>
    <dgm:cxn modelId="{3F5587D7-380C-40D2-96E8-A8F09A1CDBCC}" type="presParOf" srcId="{9CEA4E5F-415A-43E2-B41B-B1CF2ADB5970}" destId="{52D2A474-0E8C-448D-A540-37D6807571D1}" srcOrd="8" destOrd="0" presId="urn:microsoft.com/office/officeart/2005/8/layout/cycle5"/>
    <dgm:cxn modelId="{0D8553AE-98C0-4303-BE01-C88884EB6BA2}" type="presParOf" srcId="{9CEA4E5F-415A-43E2-B41B-B1CF2ADB5970}" destId="{EA951FFD-1FBB-4E17-914A-5F138D12DC1C}" srcOrd="9" destOrd="0" presId="urn:microsoft.com/office/officeart/2005/8/layout/cycle5"/>
    <dgm:cxn modelId="{231136AD-907B-4485-8E5A-9B84BB8F1E56}" type="presParOf" srcId="{9CEA4E5F-415A-43E2-B41B-B1CF2ADB5970}" destId="{256252D8-9CC4-46D3-BE38-12BA2FEB087F}" srcOrd="10" destOrd="0" presId="urn:microsoft.com/office/officeart/2005/8/layout/cycle5"/>
    <dgm:cxn modelId="{6E4A5737-BEE8-41AB-A0C6-9F7C796FD238}" type="presParOf" srcId="{9CEA4E5F-415A-43E2-B41B-B1CF2ADB5970}" destId="{5CE33B6A-CCC6-4AF4-BF2D-D567171892D0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DBF93E-E691-4FC7-84D3-422E69BBF91D}">
      <dsp:nvSpPr>
        <dsp:cNvPr id="0" name=""/>
        <dsp:cNvSpPr/>
      </dsp:nvSpPr>
      <dsp:spPr>
        <a:xfrm>
          <a:off x="1354793" y="1515"/>
          <a:ext cx="1245676" cy="80968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1200" b="1" kern="1200" dirty="0" smtClean="0"/>
            <a:t>離職・人材不足</a:t>
          </a:r>
          <a:r>
            <a:rPr kumimoji="1" lang="en-US" altLang="ja-JP" sz="1200" b="1" kern="1200" dirty="0" smtClean="0"/>
            <a:t/>
          </a:r>
          <a:br>
            <a:rPr kumimoji="1" lang="en-US" altLang="ja-JP" sz="1200" b="1" kern="1200" dirty="0" smtClean="0"/>
          </a:br>
          <a:r>
            <a:rPr kumimoji="1" lang="ja-JP" altLang="en-US" sz="1200" b="1" kern="1200" dirty="0" smtClean="0"/>
            <a:t>（採用・定着）</a:t>
          </a:r>
          <a:endParaRPr kumimoji="1" lang="ja-JP" altLang="en-US" sz="1200" b="1" kern="1200" dirty="0"/>
        </a:p>
      </dsp:txBody>
      <dsp:txXfrm>
        <a:off x="1394319" y="41041"/>
        <a:ext cx="1166624" cy="730637"/>
      </dsp:txXfrm>
    </dsp:sp>
    <dsp:sp modelId="{2BE836BA-FBB8-4496-B6D5-454B2DABE294}">
      <dsp:nvSpPr>
        <dsp:cNvPr id="0" name=""/>
        <dsp:cNvSpPr/>
      </dsp:nvSpPr>
      <dsp:spPr>
        <a:xfrm>
          <a:off x="630557" y="401330"/>
          <a:ext cx="2675215" cy="2675215"/>
        </a:xfrm>
        <a:custGeom>
          <a:avLst/>
          <a:gdLst/>
          <a:ahLst/>
          <a:cxnLst/>
          <a:rect l="0" t="0" r="0" b="0"/>
          <a:pathLst>
            <a:path>
              <a:moveTo>
                <a:pt x="2141081" y="268203"/>
              </a:moveTo>
              <a:arcTo wR="1337607" hR="1337607" stAng="18415115" swAng="1634775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1F2735-C779-48CB-9BE9-130F1A24BD28}">
      <dsp:nvSpPr>
        <dsp:cNvPr id="0" name=""/>
        <dsp:cNvSpPr/>
      </dsp:nvSpPr>
      <dsp:spPr>
        <a:xfrm>
          <a:off x="2684844" y="1345021"/>
          <a:ext cx="1245676" cy="80968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1200" b="1" kern="1200" dirty="0" smtClean="0"/>
            <a:t>サービス提供量</a:t>
          </a:r>
          <a:r>
            <a:rPr kumimoji="1" lang="en-US" altLang="ja-JP" sz="1200" b="1" kern="1200" dirty="0" smtClean="0"/>
            <a:t/>
          </a:r>
          <a:br>
            <a:rPr kumimoji="1" lang="en-US" altLang="ja-JP" sz="1200" b="1" kern="1200" dirty="0" smtClean="0"/>
          </a:br>
          <a:r>
            <a:rPr kumimoji="1" lang="ja-JP" altLang="en-US" sz="1200" b="1" kern="1200" dirty="0" smtClean="0"/>
            <a:t>の低迷</a:t>
          </a:r>
          <a:endParaRPr kumimoji="1" lang="ja-JP" altLang="en-US" sz="1200" b="1" kern="1200" dirty="0"/>
        </a:p>
      </dsp:txBody>
      <dsp:txXfrm>
        <a:off x="2724370" y="1384547"/>
        <a:ext cx="1166624" cy="730637"/>
      </dsp:txXfrm>
    </dsp:sp>
    <dsp:sp modelId="{38DEFC6C-89BA-4519-8DB9-26D712F8B4B2}">
      <dsp:nvSpPr>
        <dsp:cNvPr id="0" name=""/>
        <dsp:cNvSpPr/>
      </dsp:nvSpPr>
      <dsp:spPr>
        <a:xfrm>
          <a:off x="630467" y="411437"/>
          <a:ext cx="2675215" cy="2675215"/>
        </a:xfrm>
        <a:custGeom>
          <a:avLst/>
          <a:gdLst/>
          <a:ahLst/>
          <a:cxnLst/>
          <a:rect l="0" t="0" r="0" b="0"/>
          <a:pathLst>
            <a:path>
              <a:moveTo>
                <a:pt x="2537126" y="1929511"/>
              </a:moveTo>
              <a:arcTo wR="1337607" hR="1337607" stAng="1575845" swAng="1614686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0FDB9-5316-46C7-93BF-C4DCA5C86BED}">
      <dsp:nvSpPr>
        <dsp:cNvPr id="0" name=""/>
        <dsp:cNvSpPr/>
      </dsp:nvSpPr>
      <dsp:spPr>
        <a:xfrm>
          <a:off x="1354793" y="2676731"/>
          <a:ext cx="1245676" cy="80968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1200" b="1" kern="1200" dirty="0" smtClean="0"/>
            <a:t>事業</a:t>
          </a:r>
          <a:r>
            <a:rPr kumimoji="1" lang="ja-JP" altLang="en-US" sz="1200" b="1" kern="1200" smtClean="0"/>
            <a:t>収入の</a:t>
          </a:r>
          <a:r>
            <a:rPr kumimoji="1" lang="en-US" altLang="ja-JP" sz="1200" b="1" kern="1200" smtClean="0"/>
            <a:t/>
          </a:r>
          <a:br>
            <a:rPr kumimoji="1" lang="en-US" altLang="ja-JP" sz="1200" b="1" kern="1200" smtClean="0"/>
          </a:br>
          <a:r>
            <a:rPr kumimoji="1" lang="ja-JP" altLang="en-US" sz="1200" b="1" kern="1200" smtClean="0"/>
            <a:t>低迷</a:t>
          </a:r>
          <a:endParaRPr kumimoji="1" lang="ja-JP" altLang="en-US" sz="1200" b="1" kern="1200" dirty="0"/>
        </a:p>
      </dsp:txBody>
      <dsp:txXfrm>
        <a:off x="1394319" y="2716257"/>
        <a:ext cx="1166624" cy="730637"/>
      </dsp:txXfrm>
    </dsp:sp>
    <dsp:sp modelId="{52D2A474-0E8C-448D-A540-37D6807571D1}">
      <dsp:nvSpPr>
        <dsp:cNvPr id="0" name=""/>
        <dsp:cNvSpPr/>
      </dsp:nvSpPr>
      <dsp:spPr>
        <a:xfrm>
          <a:off x="640024" y="406360"/>
          <a:ext cx="2675215" cy="2675215"/>
        </a:xfrm>
        <a:custGeom>
          <a:avLst/>
          <a:gdLst/>
          <a:ahLst/>
          <a:cxnLst/>
          <a:rect l="0" t="0" r="0" b="0"/>
          <a:pathLst>
            <a:path>
              <a:moveTo>
                <a:pt x="542839" y="2413497"/>
              </a:moveTo>
              <a:arcTo wR="1337607" hR="1337607" stAng="7587217" swAng="1633592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951FFD-1FBB-4E17-914A-5F138D12DC1C}">
      <dsp:nvSpPr>
        <dsp:cNvPr id="0" name=""/>
        <dsp:cNvSpPr/>
      </dsp:nvSpPr>
      <dsp:spPr>
        <a:xfrm>
          <a:off x="17185" y="1339123"/>
          <a:ext cx="1245676" cy="80968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ja-JP" altLang="en-US" sz="1200" b="1" kern="1200" dirty="0" smtClean="0"/>
            <a:t>就労環境の</a:t>
          </a:r>
          <a:r>
            <a:rPr kumimoji="1" lang="en-US" altLang="ja-JP" sz="1200" b="1" kern="1200" dirty="0" smtClean="0"/>
            <a:t/>
          </a:r>
          <a:br>
            <a:rPr kumimoji="1" lang="en-US" altLang="ja-JP" sz="1200" b="1" kern="1200" dirty="0" smtClean="0"/>
          </a:br>
          <a:r>
            <a:rPr kumimoji="1" lang="ja-JP" altLang="en-US" sz="1200" b="1" kern="1200" dirty="0" smtClean="0"/>
            <a:t>悪化</a:t>
          </a:r>
          <a:endParaRPr kumimoji="1" lang="ja-JP" altLang="en-US" sz="1200" b="1" kern="1200" dirty="0"/>
        </a:p>
      </dsp:txBody>
      <dsp:txXfrm>
        <a:off x="56711" y="1378649"/>
        <a:ext cx="1166624" cy="730637"/>
      </dsp:txXfrm>
    </dsp:sp>
    <dsp:sp modelId="{5CE33B6A-CCC6-4AF4-BF2D-D567171892D0}">
      <dsp:nvSpPr>
        <dsp:cNvPr id="0" name=""/>
        <dsp:cNvSpPr/>
      </dsp:nvSpPr>
      <dsp:spPr>
        <a:xfrm>
          <a:off x="640024" y="406360"/>
          <a:ext cx="2675215" cy="2675215"/>
        </a:xfrm>
        <a:custGeom>
          <a:avLst/>
          <a:gdLst/>
          <a:ahLst/>
          <a:cxnLst/>
          <a:rect l="0" t="0" r="0" b="0"/>
          <a:pathLst>
            <a:path>
              <a:moveTo>
                <a:pt x="138666" y="744536"/>
              </a:moveTo>
              <a:arcTo wR="1337607" hR="1337607" stAng="12379192" swAng="1633592"/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B954B-150F-4B45-8CC1-37E8D4E5D603}" type="datetimeFigureOut">
              <a:rPr kumimoji="1" lang="ja-JP" altLang="en-US" smtClean="0"/>
              <a:t>2016/11/30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5A55A-75E5-48B7-BE54-C44BD4C705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5639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290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258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259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188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悪循環に陥る。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下手をすると、看護師がいないだけで病院が経営破たんする、ということもありえるのです。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左の図のとおり、採用・定着に課題を感じている病院は非常に多いです。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そもそも人がいなければいけない！　つまり、私たちが一番力を入れてサポートしなければならないのは、やはり採用なのです。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DF71B-82B0-41C8-BF98-DA0A8060594B}" type="slidenum">
              <a:rPr lang="ja-JP" altLang="en-US" smtClean="0">
                <a:solidFill>
                  <a:prstClr val="black"/>
                </a:solidFill>
              </a:rPr>
              <a:pPr/>
              <a:t>5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843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577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8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493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978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055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788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030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380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簡単に言うと成功報酬型。やった分だけ報われるわけではない。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きちんと採用、入職にいたらないと収益が発生しない。途中で内定までいってもダメ。入職して長く働いていただくことが重要です。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そのため、当社は返金制度も設けています。私たちの価値は、入職だけでもなく長く働いていただくことなので、</a:t>
            </a:r>
            <a:endParaRPr kumimoji="1" lang="en-US" altLang="ja-JP" dirty="0" smtClean="0"/>
          </a:p>
          <a:p>
            <a:r>
              <a:rPr kumimoji="1" lang="ja-JP" altLang="en-US" dirty="0" smtClean="0"/>
              <a:t>すぐお辞めになった場合は、返金することにしています。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DF71B-82B0-41C8-BF98-DA0A8060594B}" type="slidenum">
              <a:rPr lang="ja-JP" altLang="en-US" smtClean="0">
                <a:solidFill>
                  <a:prstClr val="black"/>
                </a:solidFill>
              </a:rPr>
              <a:pPr/>
              <a:t>15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357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その中の</a:t>
            </a:r>
            <a:r>
              <a:rPr kumimoji="1" lang="en-US" altLang="ja-JP" dirty="0" smtClean="0"/>
              <a:t>CP</a:t>
            </a:r>
            <a:r>
              <a:rPr kumimoji="1" lang="ja-JP" altLang="en-US" dirty="0" err="1" smtClean="0"/>
              <a:t>さんの</a:t>
            </a:r>
            <a:r>
              <a:rPr kumimoji="1" lang="ja-JP" altLang="en-US" dirty="0" smtClean="0"/>
              <a:t>役割についてお話します。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医療介護のマーケットをイメージしていただくと分かるかもしれませんが、女性が多い職種です。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ですので、ライフイベントがいろいろあります。求職者のライフサイクルにおけるいろいろな課題の解決を、転職という手段を用いて一緒に解決するのがキャリアパートナーです。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皆さんも今そうだと思いますが、人生において大きな決断をしようとされていますし、その後の人生を大きく変えていくものです。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ですので、</a:t>
            </a:r>
            <a:r>
              <a:rPr kumimoji="1" lang="en-US" altLang="ja-JP" dirty="0" smtClean="0"/>
              <a:t>CP</a:t>
            </a:r>
            <a:r>
              <a:rPr kumimoji="1" lang="ja-JP" altLang="en-US" dirty="0" smtClean="0"/>
              <a:t>に求められる役割はとても大きい。でもだからこそ、とてもやりがいや存在意義を感じられるお仕事です。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求職者の人生における問題解決のパートナーであると考えています。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DF71B-82B0-41C8-BF98-DA0A8060594B}" type="slidenum">
              <a:rPr lang="ja-JP" altLang="en-US" smtClean="0">
                <a:solidFill>
                  <a:prstClr val="black"/>
                </a:solidFill>
              </a:rPr>
              <a:pPr/>
              <a:t>16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84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1544736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ja-JP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127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-110271" y="6613525"/>
            <a:ext cx="1760418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© Copyright SMS CO.,LTD</a:t>
            </a:r>
          </a:p>
        </p:txBody>
      </p:sp>
      <p:sp>
        <p:nvSpPr>
          <p:cNvPr id="5" name="AutoShape 11"/>
          <p:cNvSpPr>
            <a:spLocks noChangeArrowheads="1"/>
          </p:cNvSpPr>
          <p:nvPr userDrawn="1"/>
        </p:nvSpPr>
        <p:spPr bwMode="auto">
          <a:xfrm>
            <a:off x="1090613" y="3630613"/>
            <a:ext cx="6962775" cy="69850"/>
          </a:xfrm>
          <a:prstGeom prst="parallelogram">
            <a:avLst>
              <a:gd name="adj" fmla="val 16429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b="1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588" y="5940425"/>
            <a:ext cx="2232025" cy="801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 smtClean="0"/>
              <a:t>マスタ サブタイトルの書式設定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>
              <a:defRPr/>
            </a:pPr>
            <a:fld id="{7ADA7B59-92B8-4087-9365-FFDE209DB7DB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algn="r">
              <a:defRPr sz="1400" b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>
              <a:defRPr/>
            </a:pPr>
            <a:fld id="{5F0906A8-25A9-49A6-B6D6-5DD62359DB4F}" type="slidenum">
              <a:rPr lang="en-US" altLang="ja-JP" smtClean="0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4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58D3E-06FC-4271-AB54-CFC43BECB77A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43332-2B92-4FB4-A4DB-0FC787D21F88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45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>
              <a:defRPr/>
            </a:pPr>
            <a:fld id="{19E903BA-153D-4855-982E-3BF43060DBE7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>
              <a:defRPr/>
            </a:pPr>
            <a:fld id="{F4A528D0-116A-4348-B36B-D43247FE08CA}" type="slidenum">
              <a:rPr lang="en-US" altLang="ja-JP" smtClean="0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45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4C740-3C18-4129-A7C8-68C151110D99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03BE2-C3E7-48CC-8DB8-F4CBD0843D68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166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692150"/>
            <a:ext cx="4027488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430713" y="692150"/>
            <a:ext cx="4027487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85B49-5129-43AB-9348-67CF0E3E25F6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EEFA5-E805-4FE3-9BEB-0B6662D20084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01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658C3-65F9-4C66-83BC-5F60E2F84B07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F0B98-7A25-4DD1-A673-EA288ED40F51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0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863FD-CF0E-4765-8E88-186F1A535F9F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68F57-BF7C-4E69-A195-D158E5AD99B0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7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D14E3-F436-4FE3-8AAE-8DFABF15231F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FF9E1-DB3F-4879-AF29-C8F1ED8C070A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A3680-B736-4741-99C5-6C9010B9E290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2CCC9-0A80-4CFE-94B7-204989344176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29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6FC6F-D2B5-4040-8995-39B8C30CBD94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2C6AB-54AE-401B-8579-26E8E4DB8B40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88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C223F-62CD-4248-BB65-5338339C60D2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AB7B6-3857-46C2-B08F-06D5CC87949C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017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407150" y="122238"/>
            <a:ext cx="2051050" cy="14351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122238"/>
            <a:ext cx="6003925" cy="14351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9A5E7-93AC-4344-A927-ACAEA0DCCA2B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5BB2-1529-4A12-909A-08E8CDFA8596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767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-7938" y="6613525"/>
            <a:ext cx="1555751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b="1">
                <a:solidFill>
                  <a:srgbClr val="FFFFFF"/>
                </a:solidFill>
                <a:latin typeface="Times New Roman" pitchFamily="18" charset="0"/>
                <a:ea typeface="MS UI Gothic" pitchFamily="50" charset="-128"/>
              </a:rPr>
              <a:t>© Copyright SMS CO.,LTD</a:t>
            </a:r>
          </a:p>
        </p:txBody>
      </p:sp>
      <p:sp>
        <p:nvSpPr>
          <p:cNvPr id="5" name="AutoShape 11"/>
          <p:cNvSpPr>
            <a:spLocks noChangeArrowheads="1"/>
          </p:cNvSpPr>
          <p:nvPr userDrawn="1"/>
        </p:nvSpPr>
        <p:spPr bwMode="auto">
          <a:xfrm>
            <a:off x="1090613" y="3630613"/>
            <a:ext cx="6962775" cy="69850"/>
          </a:xfrm>
          <a:prstGeom prst="parallelogram">
            <a:avLst>
              <a:gd name="adj" fmla="val 16429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588" y="5940425"/>
            <a:ext cx="2232025" cy="801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ja-JP" altLang="en-US" smtClean="0"/>
              <a:t>マスタ タイトルの書式設定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ja-JP" altLang="en-US" smtClean="0"/>
              <a:t>マスタ サブタイトルの書式設定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ADA7B59-92B8-4087-9365-FFDE209DB7DB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algn="r">
              <a:defRPr sz="14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5F0906A8-25A9-49A6-B6D6-5DD62359DB4F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98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58D3E-06FC-4271-AB54-CFC43BECB77A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43332-2B92-4FB4-A4DB-0FC787D21F88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695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903BA-153D-4855-982E-3BF43060DBE7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528D0-116A-4348-B36B-D43247FE08CA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677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4C740-3C18-4129-A7C8-68C151110D99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03BE2-C3E7-48CC-8DB8-F4CBD0843D68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273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692150"/>
            <a:ext cx="4027488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430713" y="692150"/>
            <a:ext cx="4027487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85B49-5129-43AB-9348-67CF0E3E25F6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EEFA5-E805-4FE3-9BEB-0B6662D20084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228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658C3-65F9-4C66-83BC-5F60E2F84B07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F0B98-7A25-4DD1-A673-EA288ED40F51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8276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863FD-CF0E-4765-8E88-186F1A535F9F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68F57-BF7C-4E69-A195-D158E5AD99B0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736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D14E3-F436-4FE3-8AAE-8DFABF15231F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FF9E1-DB3F-4879-AF29-C8F1ED8C070A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828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A3680-B736-4741-99C5-6C9010B9E290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2CCC9-0A80-4CFE-94B7-204989344176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361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6FC6F-D2B5-4040-8995-39B8C30CBD94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2C6AB-54AE-401B-8579-26E8E4DB8B40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366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C223F-62CD-4248-BB65-5338339C60D2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AB7B6-3857-46C2-B08F-06D5CC87949C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999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407150" y="122238"/>
            <a:ext cx="2051050" cy="14351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122238"/>
            <a:ext cx="6003925" cy="14351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9A5E7-93AC-4344-A927-ACAEA0DCCA2B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5BB2-1529-4A12-909A-08E8CDFA8596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5077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737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 dirty="0">
              <a:solidFill>
                <a:srgbClr val="333333"/>
              </a:solidFill>
            </a:endParaRPr>
          </a:p>
        </p:txBody>
      </p:sp>
      <p:sp>
        <p:nvSpPr>
          <p:cNvPr id="6" name="Rectangle 24"/>
          <p:cNvSpPr>
            <a:spLocks noChangeArrowheads="1"/>
          </p:cNvSpPr>
          <p:nvPr userDrawn="1"/>
        </p:nvSpPr>
        <p:spPr bwMode="auto">
          <a:xfrm>
            <a:off x="213947" y="704850"/>
            <a:ext cx="8644304" cy="7239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2043" tIns="46022" rIns="92043" bIns="46022"/>
          <a:lstStyle/>
          <a:p>
            <a:pPr>
              <a:defRPr/>
            </a:pPr>
            <a:endParaRPr lang="en-US" altLang="ja-JP" dirty="0">
              <a:solidFill>
                <a:srgbClr val="000000"/>
              </a:solidFill>
              <a:latin typeface="HGPｺﾞｼｯｸE" pitchFamily="50" charset="-128"/>
              <a:ea typeface="HGPｺﾞｼｯｸE" pitchFamily="50" charset="-128"/>
            </a:endParaRPr>
          </a:p>
        </p:txBody>
      </p:sp>
      <p:sp>
        <p:nvSpPr>
          <p:cNvPr id="26" name="コンテンツ プレースホルダ 2"/>
          <p:cNvSpPr>
            <a:spLocks noGrp="1"/>
          </p:cNvSpPr>
          <p:nvPr>
            <p:ph idx="1"/>
          </p:nvPr>
        </p:nvSpPr>
        <p:spPr>
          <a:xfrm>
            <a:off x="285721" y="785797"/>
            <a:ext cx="8501122" cy="512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ja-JP" altLang="en-US" dirty="0"/>
          </a:p>
        </p:txBody>
      </p:sp>
      <p:sp>
        <p:nvSpPr>
          <p:cNvPr id="27" name="コンテンツ プレースホルダ 2"/>
          <p:cNvSpPr>
            <a:spLocks noGrp="1"/>
          </p:cNvSpPr>
          <p:nvPr>
            <p:ph idx="11"/>
          </p:nvPr>
        </p:nvSpPr>
        <p:spPr>
          <a:xfrm>
            <a:off x="285720" y="214290"/>
            <a:ext cx="7686700" cy="428628"/>
          </a:xfrm>
          <a:prstGeom prst="rect">
            <a:avLst/>
          </a:prstGeo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endParaRPr lang="ja-JP" altLang="en-US" dirty="0"/>
          </a:p>
        </p:txBody>
      </p:sp>
      <p:sp>
        <p:nvSpPr>
          <p:cNvPr id="7" name="スライド番号プレースホルダ 9"/>
          <p:cNvSpPr>
            <a:spLocks noGrp="1"/>
          </p:cNvSpPr>
          <p:nvPr>
            <p:ph type="sldNum" sz="quarter" idx="12"/>
          </p:nvPr>
        </p:nvSpPr>
        <p:spPr>
          <a:xfrm>
            <a:off x="8430359" y="6434139"/>
            <a:ext cx="70045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858DB-6EDD-43F4-A7F5-85AD9C7E8578}" type="slidenum">
              <a:rPr lang="ja-JP" altLang="en-US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ja-JP" altLang="en-US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3917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-7938" y="6613525"/>
            <a:ext cx="1555751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b="1">
                <a:solidFill>
                  <a:srgbClr val="FFFFFF"/>
                </a:solidFill>
                <a:latin typeface="Times New Roman" pitchFamily="18" charset="0"/>
                <a:ea typeface="MS UI Gothic" pitchFamily="50" charset="-128"/>
              </a:rPr>
              <a:t>© Copyright SMS CO.,LTD</a:t>
            </a:r>
          </a:p>
        </p:txBody>
      </p:sp>
      <p:sp>
        <p:nvSpPr>
          <p:cNvPr id="5" name="AutoShape 11"/>
          <p:cNvSpPr>
            <a:spLocks noChangeArrowheads="1"/>
          </p:cNvSpPr>
          <p:nvPr userDrawn="1"/>
        </p:nvSpPr>
        <p:spPr bwMode="auto">
          <a:xfrm>
            <a:off x="1090613" y="3630613"/>
            <a:ext cx="6962775" cy="69850"/>
          </a:xfrm>
          <a:prstGeom prst="parallelogram">
            <a:avLst>
              <a:gd name="adj" fmla="val 16429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588" y="5940425"/>
            <a:ext cx="2232025" cy="801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ja-JP" altLang="en-US" smtClean="0"/>
              <a:t>マスタ タイトルの書式設定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ja-JP" altLang="en-US" smtClean="0"/>
              <a:t>マスタ サブタイトルの書式設定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ADA7B59-92B8-4087-9365-FFDE209DB7DB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algn="r">
              <a:defRPr sz="14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5F0906A8-25A9-49A6-B6D6-5DD62359DB4F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7054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58D3E-06FC-4271-AB54-CFC43BECB77A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43332-2B92-4FB4-A4DB-0FC787D21F88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0713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903BA-153D-4855-982E-3BF43060DBE7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528D0-116A-4348-B36B-D43247FE08CA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34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4C740-3C18-4129-A7C8-68C151110D99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03BE2-C3E7-48CC-8DB8-F4CBD0843D68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3113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692150"/>
            <a:ext cx="4027488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430713" y="692150"/>
            <a:ext cx="4027487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85B49-5129-43AB-9348-67CF0E3E25F6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EEFA5-E805-4FE3-9BEB-0B6662D20084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2302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658C3-65F9-4C66-83BC-5F60E2F84B07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F0B98-7A25-4DD1-A673-EA288ED40F51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3601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863FD-CF0E-4765-8E88-186F1A535F9F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68F57-BF7C-4E69-A195-D158E5AD99B0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2173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D14E3-F436-4FE3-8AAE-8DFABF15231F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FF9E1-DB3F-4879-AF29-C8F1ED8C070A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6446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A3680-B736-4741-99C5-6C9010B9E290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2CCC9-0A80-4CFE-94B7-204989344176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251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6FC6F-D2B5-4040-8995-39B8C30CBD94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2C6AB-54AE-401B-8579-26E8E4DB8B40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5488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C223F-62CD-4248-BB65-5338339C60D2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AB7B6-3857-46C2-B08F-06D5CC87949C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9039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407150" y="122238"/>
            <a:ext cx="2051050" cy="14351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122238"/>
            <a:ext cx="6003925" cy="14351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9A5E7-93AC-4344-A927-ACAEA0DCCA2B}" type="datetime1">
              <a:rPr lang="ja-JP" altLang="en-US" smtClean="0">
                <a:solidFill>
                  <a:srgbClr val="333333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5BB2-1529-4A12-909A-08E8CDFA8596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852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737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 dirty="0">
              <a:solidFill>
                <a:srgbClr val="333333"/>
              </a:solidFill>
            </a:endParaRPr>
          </a:p>
        </p:txBody>
      </p:sp>
      <p:sp>
        <p:nvSpPr>
          <p:cNvPr id="6" name="Rectangle 24"/>
          <p:cNvSpPr>
            <a:spLocks noChangeArrowheads="1"/>
          </p:cNvSpPr>
          <p:nvPr userDrawn="1"/>
        </p:nvSpPr>
        <p:spPr bwMode="auto">
          <a:xfrm>
            <a:off x="213947" y="704850"/>
            <a:ext cx="8644304" cy="7239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2043" tIns="46022" rIns="92043" bIns="46022"/>
          <a:lstStyle/>
          <a:p>
            <a:pPr>
              <a:defRPr/>
            </a:pPr>
            <a:endParaRPr lang="en-US" altLang="ja-JP" dirty="0">
              <a:solidFill>
                <a:srgbClr val="000000"/>
              </a:solidFill>
              <a:latin typeface="HGPｺﾞｼｯｸE" pitchFamily="50" charset="-128"/>
              <a:ea typeface="HGPｺﾞｼｯｸE" pitchFamily="50" charset="-128"/>
            </a:endParaRPr>
          </a:p>
        </p:txBody>
      </p:sp>
      <p:sp>
        <p:nvSpPr>
          <p:cNvPr id="26" name="コンテンツ プレースホルダ 2"/>
          <p:cNvSpPr>
            <a:spLocks noGrp="1"/>
          </p:cNvSpPr>
          <p:nvPr>
            <p:ph idx="1"/>
          </p:nvPr>
        </p:nvSpPr>
        <p:spPr>
          <a:xfrm>
            <a:off x="285721" y="785797"/>
            <a:ext cx="8501122" cy="512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ja-JP" altLang="en-US" dirty="0"/>
          </a:p>
        </p:txBody>
      </p:sp>
      <p:sp>
        <p:nvSpPr>
          <p:cNvPr id="27" name="コンテンツ プレースホルダ 2"/>
          <p:cNvSpPr>
            <a:spLocks noGrp="1"/>
          </p:cNvSpPr>
          <p:nvPr>
            <p:ph idx="11"/>
          </p:nvPr>
        </p:nvSpPr>
        <p:spPr>
          <a:xfrm>
            <a:off x="285720" y="214290"/>
            <a:ext cx="7686700" cy="428628"/>
          </a:xfrm>
          <a:prstGeom prst="rect">
            <a:avLst/>
          </a:prstGeo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endParaRPr lang="ja-JP" altLang="en-US" dirty="0"/>
          </a:p>
        </p:txBody>
      </p:sp>
      <p:sp>
        <p:nvSpPr>
          <p:cNvPr id="7" name="スライド番号プレースホルダ 9"/>
          <p:cNvSpPr>
            <a:spLocks noGrp="1"/>
          </p:cNvSpPr>
          <p:nvPr>
            <p:ph type="sldNum" sz="quarter" idx="12"/>
          </p:nvPr>
        </p:nvSpPr>
        <p:spPr>
          <a:xfrm>
            <a:off x="8430359" y="6434139"/>
            <a:ext cx="70045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858DB-6EDD-43F4-A7F5-85AD9C7E8578}" type="slidenum">
              <a:rPr lang="ja-JP" altLang="en-US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ja-JP" altLang="en-US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3898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 bwMode="auto">
          <a:xfrm>
            <a:off x="-2082" y="5232898"/>
            <a:ext cx="9144000" cy="16288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3068960"/>
            <a:ext cx="8642350" cy="46355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9B7977-8FA9-4C00-A14F-5C9DD7B054CC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/>
          </a:p>
        </p:txBody>
      </p:sp>
      <p:sp>
        <p:nvSpPr>
          <p:cNvPr id="5" name="正方形/長方形 4"/>
          <p:cNvSpPr/>
          <p:nvPr userDrawn="1"/>
        </p:nvSpPr>
        <p:spPr bwMode="auto">
          <a:xfrm>
            <a:off x="-2082" y="0"/>
            <a:ext cx="9144000" cy="16288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323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C0CEAFE2-FC32-4C85-9C5F-F9D728D9D91C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85130"/>
            <a:ext cx="8642350" cy="463550"/>
          </a:xfrm>
        </p:spPr>
        <p:txBody>
          <a:bodyPr/>
          <a:lstStyle>
            <a:lvl1pPr>
              <a:defRPr sz="28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3"/>
          </p:nvPr>
        </p:nvSpPr>
        <p:spPr>
          <a:xfrm>
            <a:off x="250825" y="764704"/>
            <a:ext cx="8642350" cy="1152525"/>
          </a:xfrm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 smtClean="0"/>
              <a:t>マスター テキストの書式設定</a:t>
            </a:r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08383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6" y="692150"/>
            <a:ext cx="8207375" cy="1545038"/>
          </a:xfrm>
        </p:spPr>
        <p:txBody>
          <a:bodyPr/>
          <a:lstStyle>
            <a:lvl1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5pPr>
          </a:lstStyle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ja-JP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 dirty="0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5030" y="6525430"/>
            <a:ext cx="2133600" cy="332570"/>
          </a:xfrm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E755CB84-6C2A-46E0-AE5B-D1DE5A08DF53}" type="slidenum">
              <a:rPr lang="en-US" altLang="ja-JP" smtClean="0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635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DFC4D-2406-4507-BA4F-974DB4DB6133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12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5"/>
          <p:cNvSpPr txBox="1">
            <a:spLocks noGrp="1"/>
          </p:cNvSpPr>
          <p:nvPr>
            <p:ph type="body" idx="4294967295"/>
          </p:nvPr>
        </p:nvSpPr>
        <p:spPr>
          <a:xfrm>
            <a:off x="251524" y="819082"/>
            <a:ext cx="8640961" cy="5216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/>
              <a:t>マスター テキストの書式設定</a:t>
            </a:r>
            <a:endParaRPr lang="en-US"/>
          </a:p>
        </p:txBody>
      </p:sp>
      <p:sp>
        <p:nvSpPr>
          <p:cNvPr id="4" name="Rectangle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64F80B2-B9C8-4C98-B953-5F00B7044FBB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923E6-3905-46B7-B05C-57744A3894E5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08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 bwMode="auto">
          <a:xfrm>
            <a:off x="-2082" y="5232898"/>
            <a:ext cx="9144000" cy="16288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3068960"/>
            <a:ext cx="8642350" cy="46355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9B7977-8FA9-4C00-A14F-5C9DD7B054CC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/>
          </a:p>
        </p:txBody>
      </p:sp>
      <p:sp>
        <p:nvSpPr>
          <p:cNvPr id="5" name="正方形/長方形 4"/>
          <p:cNvSpPr/>
          <p:nvPr userDrawn="1"/>
        </p:nvSpPr>
        <p:spPr bwMode="auto">
          <a:xfrm>
            <a:off x="-2082" y="0"/>
            <a:ext cx="9144000" cy="16288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9606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C0CEAFE2-FC32-4C85-9C5F-F9D728D9D91C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85130"/>
            <a:ext cx="8642350" cy="463550"/>
          </a:xfrm>
        </p:spPr>
        <p:txBody>
          <a:bodyPr/>
          <a:lstStyle>
            <a:lvl1pPr>
              <a:defRPr sz="28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3"/>
          </p:nvPr>
        </p:nvSpPr>
        <p:spPr>
          <a:xfrm>
            <a:off x="250825" y="764704"/>
            <a:ext cx="8642350" cy="1152525"/>
          </a:xfrm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 smtClean="0"/>
              <a:t>マスター テキストの書式設定</a:t>
            </a:r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7767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6" y="692150"/>
            <a:ext cx="8207375" cy="1545038"/>
          </a:xfrm>
        </p:spPr>
        <p:txBody>
          <a:bodyPr/>
          <a:lstStyle>
            <a:lvl1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5pPr>
          </a:lstStyle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ja-JP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 dirty="0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5030" y="6525430"/>
            <a:ext cx="2133600" cy="332570"/>
          </a:xfrm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E755CB84-6C2A-46E0-AE5B-D1DE5A08DF53}" type="slidenum">
              <a:rPr lang="en-US" altLang="ja-JP" smtClean="0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943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DFC4D-2406-4507-BA4F-974DB4DB6133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52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5"/>
          <p:cNvSpPr txBox="1">
            <a:spLocks noGrp="1"/>
          </p:cNvSpPr>
          <p:nvPr>
            <p:ph type="body" idx="4294967295"/>
          </p:nvPr>
        </p:nvSpPr>
        <p:spPr>
          <a:xfrm>
            <a:off x="251524" y="819082"/>
            <a:ext cx="8640961" cy="5216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/>
              <a:t>マスター テキストの書式設定</a:t>
            </a:r>
            <a:endParaRPr lang="en-US"/>
          </a:p>
        </p:txBody>
      </p:sp>
      <p:sp>
        <p:nvSpPr>
          <p:cNvPr id="4" name="Rectangle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64F80B2-B9C8-4C98-B953-5F00B7044FBB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8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923E6-3905-46B7-B05C-57744A3894E5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81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 bwMode="auto">
          <a:xfrm>
            <a:off x="-2082" y="5232898"/>
            <a:ext cx="9144000" cy="16288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3068960"/>
            <a:ext cx="8642350" cy="46355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9B7977-8FA9-4C00-A14F-5C9DD7B054CC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/>
          </a:p>
        </p:txBody>
      </p:sp>
      <p:sp>
        <p:nvSpPr>
          <p:cNvPr id="5" name="正方形/長方形 4"/>
          <p:cNvSpPr/>
          <p:nvPr userDrawn="1"/>
        </p:nvSpPr>
        <p:spPr bwMode="auto">
          <a:xfrm>
            <a:off x="-2082" y="0"/>
            <a:ext cx="9144000" cy="1628800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6260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C0CEAFE2-FC32-4C85-9C5F-F9D728D9D91C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85130"/>
            <a:ext cx="8642350" cy="463550"/>
          </a:xfrm>
        </p:spPr>
        <p:txBody>
          <a:bodyPr/>
          <a:lstStyle>
            <a:lvl1pPr>
              <a:defRPr sz="28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3"/>
          </p:nvPr>
        </p:nvSpPr>
        <p:spPr>
          <a:xfrm>
            <a:off x="250825" y="764704"/>
            <a:ext cx="8642350" cy="1152525"/>
          </a:xfrm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 smtClean="0"/>
              <a:t>マスター テキストの書式設定</a:t>
            </a:r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82681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6" y="692150"/>
            <a:ext cx="8207375" cy="1545038"/>
          </a:xfrm>
        </p:spPr>
        <p:txBody>
          <a:bodyPr/>
          <a:lstStyle>
            <a:lvl1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ea typeface="MS UI Gothic" pitchFamily="50" charset="-128"/>
                <a:cs typeface="Times New Roman" pitchFamily="18" charset="0"/>
              </a:defRPr>
            </a:lvl5pPr>
          </a:lstStyle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ja-JP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 dirty="0">
              <a:solidFill>
                <a:srgbClr val="333333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5030" y="6525430"/>
            <a:ext cx="2133600" cy="332570"/>
          </a:xfrm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E755CB84-6C2A-46E0-AE5B-D1DE5A08DF53}" type="slidenum">
              <a:rPr lang="en-US" altLang="ja-JP" smtClean="0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238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DFC4D-2406-4507-BA4F-974DB4DB6133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642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3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5"/>
          <p:cNvSpPr txBox="1">
            <a:spLocks noGrp="1"/>
          </p:cNvSpPr>
          <p:nvPr>
            <p:ph type="body" idx="4294967295"/>
          </p:nvPr>
        </p:nvSpPr>
        <p:spPr>
          <a:xfrm>
            <a:off x="251524" y="819082"/>
            <a:ext cx="8640961" cy="5216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/>
              <a:t>マスター テキストの書式設定</a:t>
            </a:r>
            <a:endParaRPr lang="en-US"/>
          </a:p>
        </p:txBody>
      </p:sp>
      <p:sp>
        <p:nvSpPr>
          <p:cNvPr id="4" name="Rectangle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164F80B2-B9C8-4C98-B953-5F00B7044FBB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7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923E6-3905-46B7-B05C-57744A3894E5}" type="slidenum">
              <a:rPr lang="en-US" altLang="ja-JP">
                <a:solidFill>
                  <a:srgbClr val="333333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50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7313" y="6497638"/>
            <a:ext cx="184731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215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1" y="5589590"/>
            <a:ext cx="3135313" cy="1125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611188" y="3648075"/>
            <a:ext cx="7345362" cy="69850"/>
          </a:xfrm>
          <a:prstGeom prst="roundRect">
            <a:avLst>
              <a:gd name="adj" fmla="val 50000"/>
            </a:avLst>
          </a:prstGeom>
          <a:solidFill>
            <a:srgbClr val="FFE36D"/>
          </a:solidFill>
          <a:ln w="12700" algn="ctr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738" b="1" baseline="-25000">
              <a:solidFill>
                <a:srgbClr val="595959"/>
              </a:solidFill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99060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3863975"/>
            <a:ext cx="6400800" cy="1752600"/>
          </a:xfrm>
        </p:spPr>
        <p:txBody>
          <a:bodyPr/>
          <a:lstStyle>
            <a:lvl1pPr marL="0" indent="0">
              <a:buFontTx/>
              <a:buNone/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9D8F6DE7-193F-4A87-8C68-2DC749C1144A}" type="datetime1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39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9515" y="122238"/>
            <a:ext cx="7772400" cy="54000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185051" y="764706"/>
            <a:ext cx="8273149" cy="1008111"/>
          </a:xfrm>
        </p:spPr>
        <p:txBody>
          <a:bodyPr/>
          <a:lstStyle>
            <a:lvl1pPr>
              <a:defRPr sz="2215"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  <a:lvl2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2pPr>
            <a:lvl3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3pPr>
            <a:lvl4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4pPr>
            <a:lvl5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5pPr>
          </a:lstStyle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ja-JP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118448F1-C332-4AFB-92A5-DF27ACEAA510}" type="datetime1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B81AE98B-5BD0-4A5F-9EAF-A1BE28FFAF53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158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F39CDE55-0AD8-45AE-A31C-C955ABDB6B70}" type="datetime1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BABA205C-8052-429B-A44D-293391B44418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601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タイトルと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000" y="122238"/>
            <a:ext cx="7772400" cy="46355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グラフ プレースホルダ 2"/>
          <p:cNvSpPr>
            <a:spLocks noGrp="1"/>
          </p:cNvSpPr>
          <p:nvPr>
            <p:ph type="chart" idx="1"/>
          </p:nvPr>
        </p:nvSpPr>
        <p:spPr>
          <a:xfrm>
            <a:off x="685800" y="1412877"/>
            <a:ext cx="7772400" cy="4683125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lvl="0"/>
            <a:endParaRPr lang="ja-JP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FCFC9759-2F94-49A8-A18D-FDAD212D83FB}" type="datetime1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1C166080-5346-46B3-947A-8A2757DF8A9C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392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7313" y="64976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5589588"/>
            <a:ext cx="3135313" cy="1125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611188" y="3648075"/>
            <a:ext cx="7345362" cy="69850"/>
          </a:xfrm>
          <a:prstGeom prst="roundRect">
            <a:avLst>
              <a:gd name="adj" fmla="val 50000"/>
            </a:avLst>
          </a:prstGeom>
          <a:solidFill>
            <a:srgbClr val="FFE36D"/>
          </a:solidFill>
          <a:ln w="12700" algn="ctr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800" b="1" baseline="-25000">
              <a:solidFill>
                <a:srgbClr val="59595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99060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3863975"/>
            <a:ext cx="6400800" cy="1752600"/>
          </a:xfrm>
        </p:spPr>
        <p:txBody>
          <a:bodyPr/>
          <a:lstStyle>
            <a:lvl1pPr marL="0" indent="0">
              <a:buFontTx/>
              <a:buNone/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9D8F6DE7-193F-4A87-8C68-2DC749C1144A}" type="datetime1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5515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000" y="122238"/>
            <a:ext cx="7772400" cy="54000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  <a:lvl2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2pPr>
            <a:lvl3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3pPr>
            <a:lvl4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4pPr>
            <a:lvl5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5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118448F1-C332-4AFB-92A5-DF27ACEAA510}" type="datetime1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B81AE98B-5BD0-4A5F-9EAF-A1BE28FFAF53}" type="slidenum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0795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F39CDE55-0AD8-45AE-A31C-C955ABDB6B70}" type="datetime1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BABA205C-8052-429B-A44D-293391B44418}" type="slidenum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0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000" y="122238"/>
            <a:ext cx="7772400" cy="46355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表プレースホルダ 2"/>
          <p:cNvSpPr>
            <a:spLocks noGrp="1"/>
          </p:cNvSpPr>
          <p:nvPr>
            <p:ph type="tbl" idx="1"/>
          </p:nvPr>
        </p:nvSpPr>
        <p:spPr>
          <a:xfrm>
            <a:off x="685800" y="1412875"/>
            <a:ext cx="7772400" cy="4683125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lvl="0"/>
            <a:endParaRPr lang="ja-JP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1FE25BB7-6541-4FD2-8F70-05E5CF06BC90}" type="datetime1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10503236-D227-4905-9018-9CB230322710}" type="slidenum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70059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タイトルと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000" y="122238"/>
            <a:ext cx="7772400" cy="463550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グラフ プレースホルダ 2"/>
          <p:cNvSpPr>
            <a:spLocks noGrp="1"/>
          </p:cNvSpPr>
          <p:nvPr>
            <p:ph type="chart" idx="1"/>
          </p:nvPr>
        </p:nvSpPr>
        <p:spPr>
          <a:xfrm>
            <a:off x="685800" y="1412875"/>
            <a:ext cx="7772400" cy="4683125"/>
          </a:xfrm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lvl="0"/>
            <a:endParaRPr lang="ja-JP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FCFC9759-2F94-49A8-A18D-FDAD212D83FB}" type="datetime1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2016/11/30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>
              <a:defRPr/>
            </a:pPr>
            <a:fld id="{1C166080-5346-46B3-947A-8A2757DF8A9C}" type="slidenum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46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4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4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image" Target="../media/image1.emf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6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597650"/>
            <a:ext cx="9144000" cy="2603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7724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92150"/>
            <a:ext cx="8207375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D43E53-31A2-458E-AD7F-D6D5F009FB2E}" type="datetime1">
              <a:rPr lang="ja-JP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1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65938" y="6418263"/>
            <a:ext cx="2133600" cy="4397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2E0D87-52AF-44CF-832E-8E99B69B4BA2}" type="slidenum">
              <a:rPr lang="en-US" altLang="ja-JP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  <p:pic>
        <p:nvPicPr>
          <p:cNvPr id="1032" name="Picture 1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2798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7" name="Line 13"/>
          <p:cNvSpPr>
            <a:spLocks noChangeShapeType="1"/>
          </p:cNvSpPr>
          <p:nvPr userDrawn="1"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-7938" y="6613525"/>
            <a:ext cx="1555751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b="1">
                <a:solidFill>
                  <a:srgbClr val="FFFFFF"/>
                </a:solidFill>
                <a:latin typeface="Times New Roman" pitchFamily="18" charset="0"/>
                <a:ea typeface="MS UI Gothic" pitchFamily="50" charset="-128"/>
              </a:rPr>
              <a:t>© Copyright SMS CO.,LTD</a:t>
            </a:r>
          </a:p>
        </p:txBody>
      </p:sp>
    </p:spTree>
    <p:extLst>
      <p:ext uri="{BB962C8B-B14F-4D97-AF65-F5344CB8AC3E}">
        <p14:creationId xmlns:p14="http://schemas.microsoft.com/office/powerpoint/2010/main" val="1464244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kumimoji="1" sz="20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597650"/>
            <a:ext cx="9144000" cy="2603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7724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92150"/>
            <a:ext cx="8207375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D43E53-31A2-458E-AD7F-D6D5F009FB2E}" type="datetime1">
              <a:rPr lang="ja-JP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1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65938" y="6418263"/>
            <a:ext cx="2133600" cy="4397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2E0D87-52AF-44CF-832E-8E99B69B4BA2}" type="slidenum">
              <a:rPr lang="en-US" altLang="ja-JP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  <p:pic>
        <p:nvPicPr>
          <p:cNvPr id="1032" name="Picture 11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2798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7" name="Line 13"/>
          <p:cNvSpPr>
            <a:spLocks noChangeShapeType="1"/>
          </p:cNvSpPr>
          <p:nvPr userDrawn="1"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-7938" y="6613525"/>
            <a:ext cx="1555751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b="1">
                <a:solidFill>
                  <a:srgbClr val="FFFFFF"/>
                </a:solidFill>
                <a:latin typeface="Times New Roman" pitchFamily="18" charset="0"/>
                <a:ea typeface="MS UI Gothic" pitchFamily="50" charset="-128"/>
              </a:rPr>
              <a:t>© Copyright SMS CO.,LTD</a:t>
            </a:r>
          </a:p>
        </p:txBody>
      </p:sp>
    </p:spTree>
    <p:extLst>
      <p:ext uri="{BB962C8B-B14F-4D97-AF65-F5344CB8AC3E}">
        <p14:creationId xmlns:p14="http://schemas.microsoft.com/office/powerpoint/2010/main" val="394985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kumimoji="1" sz="20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597650"/>
            <a:ext cx="9144000" cy="2603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7724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92150"/>
            <a:ext cx="8207375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D43E53-31A2-458E-AD7F-D6D5F009FB2E}" type="datetime1">
              <a:rPr lang="ja-JP" altLang="en-US" smtClean="0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2016/11/30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1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65938" y="6418263"/>
            <a:ext cx="2133600" cy="4397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2E0D87-52AF-44CF-832E-8E99B69B4BA2}" type="slidenum">
              <a:rPr lang="en-US" altLang="ja-JP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>
              <a:solidFill>
                <a:srgbClr val="333333"/>
              </a:solidFill>
            </a:endParaRPr>
          </a:p>
        </p:txBody>
      </p:sp>
      <p:pic>
        <p:nvPicPr>
          <p:cNvPr id="1032" name="Picture 11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2798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7" name="Line 13"/>
          <p:cNvSpPr>
            <a:spLocks noChangeShapeType="1"/>
          </p:cNvSpPr>
          <p:nvPr userDrawn="1"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 b="1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-7938" y="6613525"/>
            <a:ext cx="1555751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b="1">
                <a:solidFill>
                  <a:srgbClr val="FFFFFF"/>
                </a:solidFill>
                <a:latin typeface="Times New Roman" pitchFamily="18" charset="0"/>
                <a:ea typeface="MS UI Gothic" pitchFamily="50" charset="-128"/>
              </a:rPr>
              <a:t>© Copyright SMS CO.,LTD</a:t>
            </a:r>
          </a:p>
        </p:txBody>
      </p:sp>
    </p:spTree>
    <p:extLst>
      <p:ext uri="{BB962C8B-B14F-4D97-AF65-F5344CB8AC3E}">
        <p14:creationId xmlns:p14="http://schemas.microsoft.com/office/powerpoint/2010/main" val="355978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kumimoji="1" sz="20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8642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92150"/>
            <a:ext cx="8642350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</p:txBody>
      </p:sp>
      <p:sp>
        <p:nvSpPr>
          <p:cNvPr id="4101" name="Line 10"/>
          <p:cNvSpPr>
            <a:spLocks noChangeShapeType="1"/>
          </p:cNvSpPr>
          <p:nvPr/>
        </p:nvSpPr>
        <p:spPr bwMode="auto">
          <a:xfrm>
            <a:off x="0" y="642938"/>
            <a:ext cx="9144000" cy="0"/>
          </a:xfrm>
          <a:prstGeom prst="line">
            <a:avLst/>
          </a:prstGeom>
          <a:ln>
            <a:solidFill>
              <a:schemeClr val="accent1"/>
            </a:solidFill>
            <a:headEnd/>
            <a:tailEnd/>
          </a:ln>
          <a:effectLst>
            <a:outerShdw blurRad="40000" dist="20000" dir="5400000" rotWithShape="0">
              <a:schemeClr val="bg1">
                <a:lumMod val="75000"/>
                <a:alpha val="39000"/>
              </a:schemeClr>
            </a:outerShdw>
          </a:effectLst>
          <a:ex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>
              <a:solidFill>
                <a:srgbClr val="333333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42163" y="6500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>
                <a:solidFill>
                  <a:srgbClr val="0000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9B7977-8FA9-4C00-A14F-5C9DD7B054CC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/>
          </a:p>
        </p:txBody>
      </p:sp>
      <p:pic>
        <p:nvPicPr>
          <p:cNvPr id="4103" name="Picture 11" descr="C:\Users\naoko-kimura\Desktop\smsc_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73025"/>
            <a:ext cx="1335087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8"/>
          <p:cNvSpPr txBox="1">
            <a:spLocks noChangeArrowheads="1"/>
          </p:cNvSpPr>
          <p:nvPr userDrawn="1"/>
        </p:nvSpPr>
        <p:spPr bwMode="auto">
          <a:xfrm>
            <a:off x="-34925" y="6642100"/>
            <a:ext cx="33956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dirty="0" smtClean="0">
                <a:solidFill>
                  <a:srgbClr val="FFCC66">
                    <a:lumMod val="75000"/>
                  </a:srgb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Copyright (C) SMS Career CO., LTD. All Rights Reserved.</a:t>
            </a:r>
            <a:endParaRPr lang="ja-JP" altLang="en-US" sz="900" dirty="0" smtClean="0">
              <a:solidFill>
                <a:srgbClr val="FFCC66">
                  <a:lumMod val="75000"/>
                </a:srgb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77264-B121-41D9-969A-31DBA1AE5ADD}" type="datetimeFigureOut">
              <a:rPr lang="ja-JP" altLang="en-US" smtClean="0">
                <a:solidFill>
                  <a:srgbClr val="333333">
                    <a:tint val="75000"/>
                  </a:srgbClr>
                </a:solidFill>
              </a:rPr>
              <a:pPr/>
              <a:t>2016/11/30</a:t>
            </a:fld>
            <a:endParaRPr lang="ja-JP" altLang="en-US">
              <a:solidFill>
                <a:srgbClr val="333333">
                  <a:tint val="75000"/>
                </a:srgbClr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>
              <a:solidFill>
                <a:srgbClr val="33333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45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kumimoji="1" sz="20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8642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92150"/>
            <a:ext cx="8642350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</p:txBody>
      </p:sp>
      <p:sp>
        <p:nvSpPr>
          <p:cNvPr id="4101" name="Line 10"/>
          <p:cNvSpPr>
            <a:spLocks noChangeShapeType="1"/>
          </p:cNvSpPr>
          <p:nvPr/>
        </p:nvSpPr>
        <p:spPr bwMode="auto">
          <a:xfrm>
            <a:off x="0" y="642938"/>
            <a:ext cx="9144000" cy="0"/>
          </a:xfrm>
          <a:prstGeom prst="line">
            <a:avLst/>
          </a:prstGeom>
          <a:ln>
            <a:solidFill>
              <a:schemeClr val="accent1"/>
            </a:solidFill>
            <a:headEnd/>
            <a:tailEnd/>
          </a:ln>
          <a:effectLst>
            <a:outerShdw blurRad="40000" dist="20000" dir="5400000" rotWithShape="0">
              <a:schemeClr val="bg1">
                <a:lumMod val="75000"/>
                <a:alpha val="39000"/>
              </a:schemeClr>
            </a:outerShdw>
          </a:effectLst>
          <a:ex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>
              <a:solidFill>
                <a:srgbClr val="333333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42163" y="6500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>
                <a:solidFill>
                  <a:srgbClr val="0000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9B7977-8FA9-4C00-A14F-5C9DD7B054CC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/>
          </a:p>
        </p:txBody>
      </p:sp>
      <p:pic>
        <p:nvPicPr>
          <p:cNvPr id="4103" name="Picture 11" descr="C:\Users\naoko-kimura\Desktop\smsc_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73025"/>
            <a:ext cx="1335087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8"/>
          <p:cNvSpPr txBox="1">
            <a:spLocks noChangeArrowheads="1"/>
          </p:cNvSpPr>
          <p:nvPr userDrawn="1"/>
        </p:nvSpPr>
        <p:spPr bwMode="auto">
          <a:xfrm>
            <a:off x="-34925" y="6642100"/>
            <a:ext cx="33956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dirty="0" smtClean="0">
                <a:solidFill>
                  <a:srgbClr val="FFCC66">
                    <a:lumMod val="75000"/>
                  </a:srgb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Copyright (C) SMS Career CO., LTD. All Rights Reserved.</a:t>
            </a:r>
            <a:endParaRPr lang="ja-JP" altLang="en-US" sz="900" dirty="0" smtClean="0">
              <a:solidFill>
                <a:srgbClr val="FFCC66">
                  <a:lumMod val="75000"/>
                </a:srgb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77264-B121-41D9-969A-31DBA1AE5ADD}" type="datetimeFigureOut">
              <a:rPr lang="ja-JP" altLang="en-US" smtClean="0">
                <a:solidFill>
                  <a:srgbClr val="333333">
                    <a:tint val="75000"/>
                  </a:srgbClr>
                </a:solidFill>
              </a:rPr>
              <a:pPr/>
              <a:t>2016/11/30</a:t>
            </a:fld>
            <a:endParaRPr lang="ja-JP" altLang="en-US">
              <a:solidFill>
                <a:srgbClr val="333333">
                  <a:tint val="75000"/>
                </a:srgbClr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>
              <a:solidFill>
                <a:srgbClr val="33333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21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kumimoji="1" sz="20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8642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92150"/>
            <a:ext cx="8642350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</p:txBody>
      </p:sp>
      <p:sp>
        <p:nvSpPr>
          <p:cNvPr id="4101" name="Line 10"/>
          <p:cNvSpPr>
            <a:spLocks noChangeShapeType="1"/>
          </p:cNvSpPr>
          <p:nvPr/>
        </p:nvSpPr>
        <p:spPr bwMode="auto">
          <a:xfrm>
            <a:off x="0" y="642938"/>
            <a:ext cx="9144000" cy="0"/>
          </a:xfrm>
          <a:prstGeom prst="line">
            <a:avLst/>
          </a:prstGeom>
          <a:ln>
            <a:solidFill>
              <a:schemeClr val="accent1"/>
            </a:solidFill>
            <a:headEnd/>
            <a:tailEnd/>
          </a:ln>
          <a:effectLst>
            <a:outerShdw blurRad="40000" dist="20000" dir="5400000" rotWithShape="0">
              <a:schemeClr val="bg1">
                <a:lumMod val="75000"/>
                <a:alpha val="39000"/>
              </a:schemeClr>
            </a:outerShdw>
          </a:effectLst>
          <a:ex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>
              <a:solidFill>
                <a:srgbClr val="333333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42163" y="6500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>
                <a:solidFill>
                  <a:srgbClr val="0000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09B7977-8FA9-4C00-A14F-5C9DD7B054CC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/>
          </a:p>
        </p:txBody>
      </p:sp>
      <p:pic>
        <p:nvPicPr>
          <p:cNvPr id="4103" name="Picture 11" descr="C:\Users\naoko-kimura\Desktop\smsc_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73025"/>
            <a:ext cx="1335087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8"/>
          <p:cNvSpPr txBox="1">
            <a:spLocks noChangeArrowheads="1"/>
          </p:cNvSpPr>
          <p:nvPr userDrawn="1"/>
        </p:nvSpPr>
        <p:spPr bwMode="auto">
          <a:xfrm>
            <a:off x="-34925" y="6642100"/>
            <a:ext cx="33956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ＭＳ ゴシック" pitchFamily="49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dirty="0" smtClean="0">
                <a:solidFill>
                  <a:srgbClr val="FFCC66">
                    <a:lumMod val="75000"/>
                  </a:srgbClr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Copyright (C) SMS Career CO., LTD. All Rights Reserved.</a:t>
            </a:r>
            <a:endParaRPr lang="ja-JP" altLang="en-US" sz="900" dirty="0" smtClean="0">
              <a:solidFill>
                <a:srgbClr val="FFCC66">
                  <a:lumMod val="75000"/>
                </a:srgbClr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77264-B121-41D9-969A-31DBA1AE5ADD}" type="datetimeFigureOut">
              <a:rPr lang="ja-JP" altLang="en-US" smtClean="0">
                <a:solidFill>
                  <a:srgbClr val="333333">
                    <a:tint val="75000"/>
                  </a:srgbClr>
                </a:solidFill>
              </a:rPr>
              <a:pPr/>
              <a:t>2016/11/30</a:t>
            </a:fld>
            <a:endParaRPr lang="ja-JP" altLang="en-US">
              <a:solidFill>
                <a:srgbClr val="333333">
                  <a:tint val="75000"/>
                </a:srgbClr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>
              <a:solidFill>
                <a:srgbClr val="33333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33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pitchFamily="50" charset="-128"/>
          <a:ea typeface="ＭＳ Ｐゴシック" pitchFamily="50" charset="-128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defRPr kumimoji="1" sz="20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7724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313" y="1412877"/>
            <a:ext cx="8370887" cy="468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92" b="0" baseline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671BAF-DA85-4B11-9BBE-D679C2134890}" type="datetime1">
              <a:rPr lang="ja-JP" altLang="en-US" smtClean="0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2016/11/30</a:t>
            </a:fld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1292">
              <a:solidFill>
                <a:prstClr val="black"/>
              </a:solidFill>
            </a:endParaRP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42163" y="6500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92" b="0" baseline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6C3DED-5DB6-4CD7-AF6B-3D784B06BF7B}" type="slidenum">
              <a:rPr lang="ja-JP" altLang="en-US" smtClean="0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102407" name="Text Box 7"/>
          <p:cNvSpPr txBox="1">
            <a:spLocks noChangeArrowheads="1"/>
          </p:cNvSpPr>
          <p:nvPr/>
        </p:nvSpPr>
        <p:spPr bwMode="auto">
          <a:xfrm>
            <a:off x="87313" y="6497638"/>
            <a:ext cx="184731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215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60390" y="6642100"/>
            <a:ext cx="1595309" cy="2201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831" dirty="0">
                <a:solidFill>
                  <a:srgbClr val="FF9900"/>
                </a:solidFill>
                <a:ea typeface="Meiryo UI" pitchFamily="50" charset="-128"/>
                <a:cs typeface="Meiryo UI" pitchFamily="50" charset="-128"/>
              </a:rPr>
              <a:t>© Copyright SMS CO.,</a:t>
            </a:r>
            <a:r>
              <a:rPr lang="en-US" altLang="ja-JP" sz="831" dirty="0" smtClean="0">
                <a:solidFill>
                  <a:srgbClr val="FF9900"/>
                </a:solidFill>
                <a:ea typeface="Meiryo UI" pitchFamily="50" charset="-128"/>
                <a:cs typeface="Meiryo UI" pitchFamily="50" charset="-128"/>
              </a:rPr>
              <a:t>LTD.</a:t>
            </a:r>
            <a:endParaRPr lang="ja-JP" altLang="en-US" sz="831" dirty="0">
              <a:solidFill>
                <a:srgbClr val="FF9900"/>
              </a:solidFill>
              <a:ea typeface="Meiryo UI" pitchFamily="50" charset="-128"/>
              <a:cs typeface="Meiryo UI" pitchFamily="50" charset="-128"/>
            </a:endParaRPr>
          </a:p>
        </p:txBody>
      </p:sp>
      <p:pic>
        <p:nvPicPr>
          <p:cNvPr id="8201" name="Picture 11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9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2410" name="Line 10"/>
          <p:cNvSpPr>
            <a:spLocks noChangeShapeType="1"/>
          </p:cNvSpPr>
          <p:nvPr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E36D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738" b="1" baseline="-25000">
              <a:solidFill>
                <a:srgbClr val="595959"/>
              </a:solidFill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386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585" b="1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215" b="1">
          <a:solidFill>
            <a:schemeClr val="tx2"/>
          </a:solidFill>
          <a:latin typeface="MS UI Gothic" pitchFamily="50" charset="-128"/>
          <a:ea typeface="MS UI Gothic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215" b="1">
          <a:solidFill>
            <a:schemeClr val="tx2"/>
          </a:solidFill>
          <a:latin typeface="MS UI Gothic" pitchFamily="50" charset="-128"/>
          <a:ea typeface="MS UI Gothic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215" b="1">
          <a:solidFill>
            <a:schemeClr val="tx2"/>
          </a:solidFill>
          <a:latin typeface="MS UI Gothic" pitchFamily="50" charset="-128"/>
          <a:ea typeface="MS UI Gothic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215" b="1">
          <a:solidFill>
            <a:schemeClr val="tx2"/>
          </a:solidFill>
          <a:latin typeface="MS UI Gothic" pitchFamily="50" charset="-128"/>
          <a:ea typeface="MS UI Gothic" pitchFamily="50" charset="-128"/>
        </a:defRPr>
      </a:lvl5pPr>
      <a:lvl6pPr marL="422041" algn="l" rtl="0" fontAlgn="base">
        <a:spcBef>
          <a:spcPct val="0"/>
        </a:spcBef>
        <a:spcAft>
          <a:spcPct val="0"/>
        </a:spcAft>
        <a:defRPr kumimoji="1" sz="2585">
          <a:solidFill>
            <a:schemeClr val="tx2"/>
          </a:solidFill>
          <a:latin typeface="Trebuchet MS" pitchFamily="34" charset="0"/>
          <a:ea typeface="MS UI Gothic" pitchFamily="50" charset="-128"/>
        </a:defRPr>
      </a:lvl6pPr>
      <a:lvl7pPr marL="844083" algn="l" rtl="0" fontAlgn="base">
        <a:spcBef>
          <a:spcPct val="0"/>
        </a:spcBef>
        <a:spcAft>
          <a:spcPct val="0"/>
        </a:spcAft>
        <a:defRPr kumimoji="1" sz="2585">
          <a:solidFill>
            <a:schemeClr val="tx2"/>
          </a:solidFill>
          <a:latin typeface="Trebuchet MS" pitchFamily="34" charset="0"/>
          <a:ea typeface="MS UI Gothic" pitchFamily="50" charset="-128"/>
        </a:defRPr>
      </a:lvl7pPr>
      <a:lvl8pPr marL="1266124" algn="l" rtl="0" fontAlgn="base">
        <a:spcBef>
          <a:spcPct val="0"/>
        </a:spcBef>
        <a:spcAft>
          <a:spcPct val="0"/>
        </a:spcAft>
        <a:defRPr kumimoji="1" sz="2585">
          <a:solidFill>
            <a:schemeClr val="tx2"/>
          </a:solidFill>
          <a:latin typeface="Trebuchet MS" pitchFamily="34" charset="0"/>
          <a:ea typeface="MS UI Gothic" pitchFamily="50" charset="-128"/>
        </a:defRPr>
      </a:lvl8pPr>
      <a:lvl9pPr marL="1688165" algn="l" rtl="0" fontAlgn="base">
        <a:spcBef>
          <a:spcPct val="0"/>
        </a:spcBef>
        <a:spcAft>
          <a:spcPct val="0"/>
        </a:spcAft>
        <a:defRPr kumimoji="1" sz="2585">
          <a:solidFill>
            <a:schemeClr val="tx2"/>
          </a:solidFill>
          <a:latin typeface="Trebuchet MS" pitchFamily="34" charset="0"/>
          <a:ea typeface="MS UI Gothic" pitchFamily="50" charset="-128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Tx/>
        <a:buNone/>
        <a:defRPr kumimoji="1" sz="2954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marL="422041" indent="0" algn="l" rtl="0" eaLnBrk="0" fontAlgn="base" hangingPunct="0">
        <a:spcBef>
          <a:spcPct val="20000"/>
        </a:spcBef>
        <a:spcAft>
          <a:spcPct val="0"/>
        </a:spcAft>
        <a:buFontTx/>
        <a:buNone/>
        <a:defRPr kumimoji="1" sz="2585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marL="844083" indent="0" algn="l" rtl="0" eaLnBrk="0" fontAlgn="base" hangingPunct="0">
        <a:spcBef>
          <a:spcPct val="20000"/>
        </a:spcBef>
        <a:spcAft>
          <a:spcPct val="0"/>
        </a:spcAft>
        <a:buFontTx/>
        <a:buNone/>
        <a:defRPr kumimoji="1" sz="2215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marL="1266124" indent="0" algn="l" rtl="0" eaLnBrk="0" fontAlgn="base" hangingPunct="0">
        <a:spcBef>
          <a:spcPct val="20000"/>
        </a:spcBef>
        <a:spcAft>
          <a:spcPct val="0"/>
        </a:spcAft>
        <a:buFontTx/>
        <a:buNone/>
        <a:defRPr kumimoji="1" sz="1846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marL="1688165" indent="0" algn="l" rtl="0" eaLnBrk="0" fontAlgn="base" hangingPunct="0">
        <a:spcBef>
          <a:spcPct val="20000"/>
        </a:spcBef>
        <a:spcAft>
          <a:spcPct val="0"/>
        </a:spcAft>
        <a:buFontTx/>
        <a:buNone/>
        <a:defRPr kumimoji="1" sz="1846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»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7724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12875"/>
            <a:ext cx="7772400" cy="468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 baseline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671BAF-DA85-4B11-9BBE-D679C2134890}" type="datetime1">
              <a:rPr lang="ja-JP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2016/11/30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 sz="1400">
              <a:solidFill>
                <a:srgbClr val="000000"/>
              </a:solidFill>
            </a:endParaRP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42163" y="6500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6C3DED-5DB6-4CD7-AF6B-3D784B06BF7B}" type="slidenum">
              <a:rPr lang="ja-JP" alt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102407" name="Text Box 7"/>
          <p:cNvSpPr txBox="1">
            <a:spLocks noChangeArrowheads="1"/>
          </p:cNvSpPr>
          <p:nvPr/>
        </p:nvSpPr>
        <p:spPr bwMode="auto">
          <a:xfrm>
            <a:off x="87313" y="64976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2400">
              <a:solidFill>
                <a:srgbClr val="000000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1078" y="6642100"/>
            <a:ext cx="1713932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ja-JP" sz="900" dirty="0">
                <a:solidFill>
                  <a:srgbClr val="FF99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© Copyright SMS CO.,</a:t>
            </a:r>
            <a:r>
              <a:rPr lang="en-US" altLang="ja-JP" sz="900" dirty="0" smtClean="0">
                <a:solidFill>
                  <a:srgbClr val="FF99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LTD.</a:t>
            </a:r>
            <a:endParaRPr lang="ja-JP" altLang="en-US" sz="900" dirty="0">
              <a:solidFill>
                <a:srgbClr val="FF9900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pic>
        <p:nvPicPr>
          <p:cNvPr id="8201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2410" name="Line 10"/>
          <p:cNvSpPr>
            <a:spLocks noChangeShapeType="1"/>
          </p:cNvSpPr>
          <p:nvPr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E36D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 sz="800" b="1" baseline="-25000">
              <a:solidFill>
                <a:srgbClr val="59595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391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0">
          <a:solidFill>
            <a:schemeClr val="tx2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MS UI Gothic" pitchFamily="50" charset="-128"/>
          <a:ea typeface="MS UI Gothic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MS UI Gothic" pitchFamily="50" charset="-128"/>
          <a:ea typeface="MS UI Gothic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MS UI Gothic" pitchFamily="50" charset="-128"/>
          <a:ea typeface="MS UI Gothic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MS UI Gothic" pitchFamily="50" charset="-128"/>
          <a:ea typeface="MS UI Gothic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rebuchet MS" pitchFamily="34" charset="0"/>
          <a:ea typeface="MS UI Gothic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rebuchet MS" pitchFamily="34" charset="0"/>
          <a:ea typeface="MS UI Gothic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rebuchet MS" pitchFamily="34" charset="0"/>
          <a:ea typeface="MS UI Gothic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Trebuchet MS" pitchFamily="34" charset="0"/>
          <a:ea typeface="MS UI Gothic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itchFamily="50" charset="-128"/>
          <a:ea typeface="Meiryo UI" pitchFamily="50" charset="-128"/>
          <a:cs typeface="Meiryo UI" pitchFamily="5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xcel_97-2003_Worksheet2.xls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oleObject" Target="../embeddings/Microsoft_Excel_97-2003_Worksheet1.xls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5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14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539552" y="2276872"/>
            <a:ext cx="7772400" cy="1470025"/>
          </a:xfrm>
        </p:spPr>
        <p:txBody>
          <a:bodyPr/>
          <a:lstStyle/>
          <a:p>
            <a:pPr algn="ctr"/>
            <a:r>
              <a:rPr kumimoji="1" lang="ja-JP" altLang="en-US" sz="40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</a:t>
            </a:r>
            <a:r>
              <a:rPr lang="ja-JP" altLang="en-US" sz="4000" dirty="0" smtClean="0">
                <a:solidFill>
                  <a:schemeClr val="tx1"/>
                </a:solidFill>
              </a:rPr>
              <a:t>人材紹介導入研修</a:t>
            </a:r>
            <a:r>
              <a:rPr kumimoji="1" lang="en-US" altLang="ja-JP" sz="40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/>
            </a:r>
            <a:br>
              <a:rPr kumimoji="1" lang="en-US" altLang="ja-JP" sz="40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kumimoji="1" lang="ja-JP" altLang="en-US" sz="40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～</a:t>
            </a:r>
            <a:r>
              <a:rPr lang="ja-JP" altLang="en-US" sz="3200" dirty="0" smtClean="0">
                <a:solidFill>
                  <a:schemeClr val="tx1"/>
                </a:solidFill>
              </a:rPr>
              <a:t>キャリアパートナーの心得編～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30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2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構成</a:t>
            </a:r>
            <a:endParaRPr kumimoji="1" lang="ja-JP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85719" y="1124744"/>
            <a:ext cx="8501123" cy="417133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市場</a:t>
            </a:r>
            <a:r>
              <a:rPr lang="ja-JP" altLang="en-US" sz="24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（再掲）</a:t>
            </a:r>
            <a:endParaRPr lang="en-US" altLang="ja-JP" sz="24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ミッションと取り組み</a:t>
            </a:r>
            <a:endParaRPr lang="en-US" altLang="ja-JP" sz="24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4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キャリアパートナーの心得</a:t>
            </a:r>
            <a:endParaRPr lang="en-US" altLang="ja-JP" sz="24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564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3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09544" y="1267619"/>
            <a:ext cx="8501123" cy="417133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800" b="1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市場</a:t>
            </a:r>
            <a:r>
              <a:rPr lang="ja-JP" altLang="en-US" sz="28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（再掲）</a:t>
            </a:r>
            <a:endParaRPr lang="en-US" altLang="ja-JP" sz="28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167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4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857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ct val="0"/>
              </a:spcBef>
              <a:defRPr/>
            </a:pP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介護従事者の不足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85720" y="905357"/>
            <a:ext cx="8501122" cy="698987"/>
          </a:xfrm>
        </p:spPr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</a:t>
            </a:r>
            <a:r>
              <a:rPr lang="ja-JP" altLang="en-US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人材の不足</a:t>
            </a:r>
            <a:r>
              <a:rPr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は継続し</a:t>
            </a:r>
            <a:r>
              <a:rPr lang="ja-JP" altLang="en-US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、１０年後には約４０万人が不足。</a:t>
            </a:r>
            <a:endParaRPr lang="en-US" altLang="ja-JP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事業者にとっては</a:t>
            </a:r>
            <a:r>
              <a:rPr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採用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難易度が</a:t>
            </a:r>
            <a:r>
              <a:rPr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上がり続ける見込み。</a:t>
            </a:r>
            <a:endParaRPr lang="en-US" altLang="ja-JP" dirty="0" smtClean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l="6294" t="34880" r="9838" b="13146"/>
          <a:stretch/>
        </p:blipFill>
        <p:spPr>
          <a:xfrm>
            <a:off x="89323" y="2203402"/>
            <a:ext cx="9040946" cy="350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3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>
                <a:solidFill>
                  <a:schemeClr val="tx1"/>
                </a:solidFill>
              </a:rPr>
              <a:t>事業者のニーズ</a:t>
            </a:r>
            <a:r>
              <a:rPr kumimoji="1" lang="en-US" altLang="ja-JP" dirty="0" smtClean="0">
                <a:solidFill>
                  <a:schemeClr val="tx1"/>
                </a:solidFill>
              </a:rPr>
              <a:t>/</a:t>
            </a:r>
            <a:r>
              <a:rPr kumimoji="1" lang="ja-JP" altLang="en-US" dirty="0" smtClean="0">
                <a:solidFill>
                  <a:schemeClr val="tx1"/>
                </a:solidFill>
              </a:rPr>
              <a:t>課題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>
          <a:xfrm>
            <a:off x="250825" y="756466"/>
            <a:ext cx="8642350" cy="115252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kumimoji="1" lang="ja-JP" altLang="en-US" b="1" dirty="0" smtClean="0">
                <a:solidFill>
                  <a:schemeClr val="tx1"/>
                </a:solidFill>
              </a:rPr>
              <a:t>人材不足</a:t>
            </a:r>
            <a:r>
              <a:rPr lang="ja-JP" altLang="en-US" dirty="0" smtClean="0">
                <a:solidFill>
                  <a:schemeClr val="tx1"/>
                </a:solidFill>
              </a:rPr>
              <a:t>による負のスパイラル</a:t>
            </a:r>
            <a:endParaRPr kumimoji="1" lang="en-US" altLang="ja-JP" b="1" dirty="0" smtClean="0">
              <a:solidFill>
                <a:schemeClr val="tx1"/>
              </a:solidFill>
            </a:endParaRPr>
          </a:p>
          <a:p>
            <a:pPr lvl="1" indent="0">
              <a:spcAft>
                <a:spcPts val="0"/>
              </a:spcAft>
              <a:buNone/>
            </a:pPr>
            <a:r>
              <a:rPr lang="ja-JP" altLang="en-US" dirty="0">
                <a:solidFill>
                  <a:schemeClr val="tx1"/>
                </a:solidFill>
              </a:rPr>
              <a:t>最重要</a:t>
            </a:r>
            <a:r>
              <a:rPr lang="ja-JP" altLang="en-US" dirty="0" smtClean="0">
                <a:solidFill>
                  <a:schemeClr val="tx1"/>
                </a:solidFill>
              </a:rPr>
              <a:t>課題は労働力不足。人手不足による収入の減少が経営危機につながる。</a:t>
            </a:r>
            <a:endParaRPr lang="en-US" altLang="ja-JP" dirty="0" smtClean="0">
              <a:solidFill>
                <a:schemeClr val="tx1"/>
              </a:solidFill>
            </a:endParaRPr>
          </a:p>
          <a:p>
            <a:pPr lvl="1" indent="0">
              <a:spcAft>
                <a:spcPts val="0"/>
              </a:spcAft>
              <a:buNone/>
            </a:pPr>
            <a:r>
              <a:rPr lang="ja-JP" altLang="en-US" dirty="0" smtClean="0">
                <a:solidFill>
                  <a:schemeClr val="tx1"/>
                </a:solidFill>
              </a:rPr>
              <a:t>人を充足させることが出来てからようやく「</a:t>
            </a:r>
            <a:r>
              <a:rPr lang="ja-JP" altLang="en-US" dirty="0">
                <a:solidFill>
                  <a:schemeClr val="tx1"/>
                </a:solidFill>
              </a:rPr>
              <a:t>評価・配置」「労務管理」といった人事</a:t>
            </a:r>
            <a:r>
              <a:rPr lang="ja-JP" altLang="en-US" dirty="0" smtClean="0">
                <a:solidFill>
                  <a:schemeClr val="tx1"/>
                </a:solidFill>
              </a:rPr>
              <a:t>課題に着手が出来る</a:t>
            </a:r>
            <a:r>
              <a:rPr lang="ja-JP" altLang="en-US" dirty="0">
                <a:solidFill>
                  <a:schemeClr val="tx1"/>
                </a:solidFill>
              </a:rPr>
              <a:t>。</a:t>
            </a:r>
          </a:p>
        </p:txBody>
      </p:sp>
      <p:grpSp>
        <p:nvGrpSpPr>
          <p:cNvPr id="18" name="グループ化 17"/>
          <p:cNvGrpSpPr/>
          <p:nvPr/>
        </p:nvGrpSpPr>
        <p:grpSpPr>
          <a:xfrm>
            <a:off x="4572000" y="2564904"/>
            <a:ext cx="4248472" cy="4032448"/>
            <a:chOff x="323528" y="2564904"/>
            <a:chExt cx="4248472" cy="4032448"/>
          </a:xfrm>
        </p:grpSpPr>
        <p:sp>
          <p:nvSpPr>
            <p:cNvPr id="17" name="正方形/長方形 16"/>
            <p:cNvSpPr/>
            <p:nvPr/>
          </p:nvSpPr>
          <p:spPr bwMode="auto">
            <a:xfrm>
              <a:off x="323528" y="2564904"/>
              <a:ext cx="4248472" cy="40324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ja-JP" altLang="en-US" b="1" smtClean="0">
                <a:solidFill>
                  <a:srgbClr val="333333"/>
                </a:solidFill>
                <a:latin typeface="Times New Roman" pitchFamily="18" charset="0"/>
                <a:ea typeface="MS UI Gothic" pitchFamily="50" charset="-128"/>
              </a:endParaRPr>
            </a:p>
          </p:txBody>
        </p:sp>
        <p:graphicFrame>
          <p:nvGraphicFramePr>
            <p:cNvPr id="15" name="図表 14"/>
            <p:cNvGraphicFramePr/>
            <p:nvPr>
              <p:extLst/>
            </p:nvPr>
          </p:nvGraphicFramePr>
          <p:xfrm>
            <a:off x="470132" y="2837160"/>
            <a:ext cx="3955264" cy="34879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6" name="テキスト ボックス 15"/>
            <p:cNvSpPr txBox="1"/>
            <p:nvPr/>
          </p:nvSpPr>
          <p:spPr>
            <a:xfrm>
              <a:off x="1875332" y="4257963"/>
              <a:ext cx="11448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b="1" dirty="0" smtClean="0">
                  <a:solidFill>
                    <a:srgbClr val="FF0000"/>
                  </a:solidFill>
                </a:rPr>
                <a:t>負の</a:t>
              </a:r>
              <a:r>
                <a:rPr lang="en-US" altLang="ja-JP" b="1" dirty="0" smtClean="0">
                  <a:solidFill>
                    <a:srgbClr val="FF0000"/>
                  </a:solidFill>
                </a:rPr>
                <a:t/>
              </a:r>
              <a:br>
                <a:rPr lang="en-US" altLang="ja-JP" b="1" dirty="0" smtClean="0">
                  <a:solidFill>
                    <a:srgbClr val="FF0000"/>
                  </a:solidFill>
                </a:rPr>
              </a:br>
              <a:r>
                <a:rPr lang="ja-JP" altLang="en-US" b="1" dirty="0" smtClean="0">
                  <a:solidFill>
                    <a:srgbClr val="FF0000"/>
                  </a:solidFill>
                </a:rPr>
                <a:t>スパイラル</a:t>
              </a:r>
              <a:endParaRPr lang="ja-JP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0" name="表 19"/>
          <p:cNvGraphicFramePr>
            <a:graphicFrameLocks noGrp="1"/>
          </p:cNvGraphicFramePr>
          <p:nvPr>
            <p:extLst/>
          </p:nvPr>
        </p:nvGraphicFramePr>
        <p:xfrm>
          <a:off x="216917" y="3336180"/>
          <a:ext cx="3707011" cy="24898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20080"/>
                <a:gridCol w="2074124"/>
                <a:gridCol w="912807"/>
              </a:tblGrid>
              <a:tr h="366456"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順位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課題に感じること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割合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採用・定着</a:t>
                      </a:r>
                      <a:endParaRPr kumimoji="1" lang="en-US" altLang="ja-JP" dirty="0" smtClean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（労働力確保）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100</a:t>
                      </a:r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％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2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人事評価・配置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56</a:t>
                      </a:r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％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購買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56</a:t>
                      </a:r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％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4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労務管理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50</a:t>
                      </a:r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％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法務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50</a:t>
                      </a:r>
                      <a:r>
                        <a:rPr kumimoji="1" lang="ja-JP" altLang="en-US" dirty="0" smtClean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％</a:t>
                      </a:r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正方形/長方形 20"/>
          <p:cNvSpPr/>
          <p:nvPr/>
        </p:nvSpPr>
        <p:spPr bwMode="auto">
          <a:xfrm>
            <a:off x="216917" y="4344044"/>
            <a:ext cx="3704778" cy="346491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381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216917" y="5102422"/>
            <a:ext cx="3704778" cy="346491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 w="381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23" name="正方形/長方形 22"/>
          <p:cNvSpPr/>
          <p:nvPr/>
        </p:nvSpPr>
        <p:spPr bwMode="auto">
          <a:xfrm>
            <a:off x="216917" y="3712383"/>
            <a:ext cx="3704778" cy="60419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b="1" smtClean="0">
              <a:solidFill>
                <a:srgbClr val="333333"/>
              </a:solidFill>
              <a:latin typeface="Times New Roman" pitchFamily="18" charset="0"/>
              <a:ea typeface="MS UI Gothic" pitchFamily="50" charset="-128"/>
            </a:endParaRPr>
          </a:p>
        </p:txBody>
      </p:sp>
      <p:grpSp>
        <p:nvGrpSpPr>
          <p:cNvPr id="24" name="グループ化 23"/>
          <p:cNvGrpSpPr/>
          <p:nvPr/>
        </p:nvGrpSpPr>
        <p:grpSpPr>
          <a:xfrm>
            <a:off x="214893" y="2662686"/>
            <a:ext cx="3853049" cy="261607"/>
            <a:chOff x="12651185" y="1668886"/>
            <a:chExt cx="4263943" cy="270939"/>
          </a:xfrm>
        </p:grpSpPr>
        <p:sp>
          <p:nvSpPr>
            <p:cNvPr id="25" name="Line 98"/>
            <p:cNvSpPr>
              <a:spLocks noChangeShapeType="1"/>
            </p:cNvSpPr>
            <p:nvPr/>
          </p:nvSpPr>
          <p:spPr bwMode="auto">
            <a:xfrm>
              <a:off x="12651185" y="1939825"/>
              <a:ext cx="4102100" cy="0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ja-JP" altLang="en-US" sz="1200" dirty="0">
                <a:solidFill>
                  <a:srgbClr val="000000"/>
                </a:solidFill>
                <a:cs typeface="Meiryo UI" panose="020B0604030504040204" pitchFamily="50" charset="-128"/>
              </a:endParaRPr>
            </a:p>
          </p:txBody>
        </p:sp>
        <p:sp>
          <p:nvSpPr>
            <p:cNvPr id="26" name="Rectangle 99"/>
            <p:cNvSpPr>
              <a:spLocks noChangeArrowheads="1"/>
            </p:cNvSpPr>
            <p:nvPr/>
          </p:nvSpPr>
          <p:spPr bwMode="auto">
            <a:xfrm>
              <a:off x="12693168" y="1668886"/>
              <a:ext cx="4221960" cy="1152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ja-JP" altLang="en-US" sz="1600" dirty="0" smtClean="0">
                  <a:solidFill>
                    <a:srgbClr val="000000"/>
                  </a:solidFill>
                  <a:cs typeface="Meiryo UI" pitchFamily="50" charset="-128"/>
                </a:rPr>
                <a:t>▼経営</a:t>
              </a:r>
              <a:r>
                <a:rPr lang="ja-JP" altLang="en-US" sz="1600" dirty="0">
                  <a:solidFill>
                    <a:srgbClr val="000000"/>
                  </a:solidFill>
                  <a:cs typeface="Meiryo UI" pitchFamily="50" charset="-128"/>
                </a:rPr>
                <a:t>において課題に感じる</a:t>
              </a:r>
              <a:r>
                <a:rPr lang="ja-JP" altLang="en-US" sz="1600" dirty="0" smtClean="0">
                  <a:solidFill>
                    <a:srgbClr val="000000"/>
                  </a:solidFill>
                  <a:cs typeface="Meiryo UI" pitchFamily="50" charset="-128"/>
                </a:rPr>
                <a:t>こと</a:t>
              </a:r>
              <a:endParaRPr lang="ja-JP" altLang="en-US" sz="900" dirty="0">
                <a:solidFill>
                  <a:srgbClr val="000000"/>
                </a:solidFill>
                <a:cs typeface="Meiryo UI" pitchFamily="50" charset="-128"/>
              </a:endParaRPr>
            </a:p>
            <a:p>
              <a:pPr marL="342900" indent="-342900" eaLnBrk="0" hangingPunct="0">
                <a:spcBef>
                  <a:spcPct val="20000"/>
                </a:spcBef>
              </a:pPr>
              <a:endParaRPr lang="ja-JP" altLang="en-US" sz="1600" dirty="0">
                <a:solidFill>
                  <a:srgbClr val="000000"/>
                </a:solidFill>
                <a:cs typeface="Meiryo UI" pitchFamily="50" charset="-128"/>
              </a:endParaRPr>
            </a:p>
          </p:txBody>
        </p:sp>
      </p:grpSp>
      <p:sp>
        <p:nvSpPr>
          <p:cNvPr id="19" name="テキスト ボックス 18"/>
          <p:cNvSpPr txBox="1"/>
          <p:nvPr/>
        </p:nvSpPr>
        <p:spPr>
          <a:xfrm>
            <a:off x="209135" y="5949280"/>
            <a:ext cx="3712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 smtClean="0">
                <a:solidFill>
                  <a:srgbClr val="333333"/>
                </a:solidFill>
              </a:rPr>
              <a:t>まず現場の負担を軽く出来なければ、評価・配置や労務の話にはならない･･･</a:t>
            </a:r>
            <a:endParaRPr lang="ja-JP" altLang="en-US" sz="1600" dirty="0">
              <a:solidFill>
                <a:srgbClr val="333333"/>
              </a:solidFill>
            </a:endParaRPr>
          </a:p>
        </p:txBody>
      </p:sp>
      <p:sp>
        <p:nvSpPr>
          <p:cNvPr id="27" name="スライド番号プレースホルダー 1"/>
          <p:cNvSpPr>
            <a:spLocks noGrp="1"/>
          </p:cNvSpPr>
          <p:nvPr>
            <p:ph type="sldNum" sz="quarter" idx="12"/>
          </p:nvPr>
        </p:nvSpPr>
        <p:spPr>
          <a:xfrm>
            <a:off x="7142163" y="6500813"/>
            <a:ext cx="1905000" cy="457200"/>
          </a:xfrm>
        </p:spPr>
        <p:txBody>
          <a:bodyPr/>
          <a:lstStyle/>
          <a:p>
            <a:pPr>
              <a:defRPr/>
            </a:pPr>
            <a:fld id="{C0CEAFE2-FC32-4C85-9C5F-F9D728D9D91C}" type="slidenum">
              <a:rPr lang="ja-JP" altLang="en-US" smtClean="0"/>
              <a:pPr>
                <a:defRPr/>
              </a:pPr>
              <a:t>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7538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6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857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ct val="0"/>
              </a:spcBef>
              <a:defRPr/>
            </a:pP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エリア偏差</a:t>
            </a:r>
            <a:endParaRPr lang="ja-JP" altLang="en-US" sz="2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54404" y="769259"/>
            <a:ext cx="8491175" cy="403033"/>
          </a:xfrm>
        </p:spPr>
        <p:txBody>
          <a:bodyPr/>
          <a:lstStyle/>
          <a:p>
            <a:r>
              <a:rPr lang="ja-JP" altLang="en-US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人材不足に関して、</a:t>
            </a:r>
            <a:r>
              <a:rPr lang="ja-JP" altLang="en-US" sz="2000" b="1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都市部において特に不足する</a:t>
            </a:r>
            <a:r>
              <a:rPr lang="ja-JP" altLang="en-US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と予測</a:t>
            </a:r>
            <a:endParaRPr lang="en-US" altLang="ja-JP" sz="2000" b="1" dirty="0" smtClean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タイトル 1"/>
          <p:cNvSpPr txBox="1">
            <a:spLocks/>
          </p:cNvSpPr>
          <p:nvPr/>
        </p:nvSpPr>
        <p:spPr>
          <a:xfrm>
            <a:off x="412012" y="1205655"/>
            <a:ext cx="8427188" cy="1040745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ja-JP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75</a:t>
            </a:r>
            <a:r>
              <a:rPr lang="ja-JP" altLang="en-US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歳以上人口は、多くの都道府県で</a:t>
            </a:r>
            <a:r>
              <a:rPr lang="en-US" altLang="ja-JP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2025</a:t>
            </a:r>
            <a:r>
              <a:rPr lang="ja-JP" altLang="en-US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年頃までは急速に上昇するが、その後の上昇は緩やか。</a:t>
            </a:r>
            <a:endParaRPr lang="en-US" altLang="ja-JP" sz="1600" b="0" kern="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>
              <a:spcBef>
                <a:spcPts val="1200"/>
              </a:spcBef>
            </a:pPr>
            <a:r>
              <a:rPr lang="ja-JP" altLang="en-US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今後</a:t>
            </a:r>
            <a:r>
              <a:rPr lang="en-US" altLang="ja-JP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</a:t>
            </a:r>
            <a:r>
              <a:rPr lang="ja-JP" altLang="en-US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年間で</a:t>
            </a:r>
            <a:r>
              <a:rPr lang="en-US" altLang="ja-JP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75</a:t>
            </a:r>
            <a:r>
              <a:rPr lang="ja-JP" altLang="en-US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歳以上人口は都市部においては急速に増加するが、地方ではそれほど増加しない。</a:t>
            </a:r>
            <a:endParaRPr lang="en-US" altLang="ja-JP" sz="1600" b="0" kern="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>
              <a:spcBef>
                <a:spcPts val="1200"/>
              </a:spcBef>
            </a:pPr>
            <a:r>
              <a:rPr lang="en-US" altLang="ja-JP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75</a:t>
            </a:r>
            <a:r>
              <a:rPr lang="ja-JP" altLang="en-US" sz="1600" b="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歳未満人口は特に地方において急速に減少する。</a:t>
            </a:r>
            <a:endParaRPr lang="ja-JP" altLang="en-US" sz="1600" b="0" kern="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サブタイトル 2"/>
          <p:cNvSpPr txBox="1">
            <a:spLocks/>
          </p:cNvSpPr>
          <p:nvPr/>
        </p:nvSpPr>
        <p:spPr bwMode="auto">
          <a:xfrm>
            <a:off x="286446" y="5910510"/>
            <a:ext cx="4301681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1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050" kern="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７５歳以上人口の将来推計（平成２２年の人口を１００としたときの指数）</a:t>
            </a:r>
            <a:endParaRPr lang="en-US" altLang="ja-JP" sz="1050" kern="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サブタイトル 2"/>
          <p:cNvSpPr txBox="1">
            <a:spLocks/>
          </p:cNvSpPr>
          <p:nvPr/>
        </p:nvSpPr>
        <p:spPr bwMode="auto">
          <a:xfrm>
            <a:off x="4499992" y="5910510"/>
            <a:ext cx="4403954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08" tIns="45651" rIns="91308" bIns="45651"/>
          <a:lstStyle>
            <a:lvl1pPr defTabSz="912813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12813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12813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12813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12813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</a:pPr>
            <a:r>
              <a:rPr lang="ja-JP" altLang="en-US" sz="105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７５歳未満人口の将来推計（平成２２年の人口を１００としたときの指数）</a:t>
            </a:r>
          </a:p>
        </p:txBody>
      </p:sp>
      <p:graphicFrame>
        <p:nvGraphicFramePr>
          <p:cNvPr id="10" name="グラフ 13"/>
          <p:cNvGraphicFramePr>
            <a:graphicFrameLocks/>
          </p:cNvGraphicFramePr>
          <p:nvPr>
            <p:extLst/>
          </p:nvPr>
        </p:nvGraphicFramePr>
        <p:xfrm>
          <a:off x="4588129" y="2637842"/>
          <a:ext cx="4173296" cy="3272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r:id="rId5" imgW="4913802" imgH="4389500" progId="Excel.Chart.8">
                  <p:embed/>
                </p:oleObj>
              </mc:Choice>
              <mc:Fallback>
                <p:oleObj r:id="rId5" imgW="4913802" imgH="4389500" progId="Excel.Char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8129" y="2637842"/>
                        <a:ext cx="4173296" cy="3272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グラフ 15"/>
          <p:cNvGraphicFramePr>
            <a:graphicFrameLocks/>
          </p:cNvGraphicFramePr>
          <p:nvPr>
            <p:extLst/>
          </p:nvPr>
        </p:nvGraphicFramePr>
        <p:xfrm>
          <a:off x="285720" y="2500473"/>
          <a:ext cx="4262158" cy="357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r:id="rId8" imgW="4810161" imgH="4255377" progId="Excel.Chart.8">
                  <p:embed/>
                </p:oleObj>
              </mc:Choice>
              <mc:Fallback>
                <p:oleObj r:id="rId8" imgW="4810161" imgH="4255377" progId="Excel.Char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2500473"/>
                        <a:ext cx="4262158" cy="357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サブタイトル 2"/>
          <p:cNvSpPr txBox="1">
            <a:spLocks/>
          </p:cNvSpPr>
          <p:nvPr/>
        </p:nvSpPr>
        <p:spPr bwMode="auto">
          <a:xfrm>
            <a:off x="-36512" y="6304235"/>
            <a:ext cx="637177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28" tIns="45665" rIns="91328" bIns="45665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</a:pPr>
            <a:r>
              <a:rPr lang="ja-JP" altLang="en-US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国立社会保障・人口問題研究所「日本の地域別将来推計人口</a:t>
            </a:r>
            <a:r>
              <a:rPr lang="en-US" altLang="ja-JP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平成</a:t>
            </a:r>
            <a:r>
              <a:rPr lang="en-US" altLang="ja-JP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25(2013)</a:t>
            </a:r>
            <a:r>
              <a:rPr lang="ja-JP" altLang="en-US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</a:t>
            </a:r>
            <a:r>
              <a:rPr lang="en-US" altLang="ja-JP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</a:t>
            </a:r>
            <a:r>
              <a:rPr lang="ja-JP" altLang="en-US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月推計</a:t>
            </a:r>
            <a:r>
              <a:rPr lang="en-US" altLang="ja-JP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lang="ja-JP" altLang="en-US" sz="105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」より作成</a:t>
            </a:r>
            <a:endParaRPr lang="en-US" altLang="ja-JP" sz="105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497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7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857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まとめ</a:t>
            </a:r>
            <a:endParaRPr kumimoji="1" lang="ja-JP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6634" y="880176"/>
            <a:ext cx="8559878" cy="698987"/>
          </a:xfrm>
        </p:spPr>
        <p:txBody>
          <a:bodyPr/>
          <a:lstStyle/>
          <a:p>
            <a:r>
              <a:rPr lang="ja-JP" altLang="en-US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先ほどの環境の変化を考慮に入れると、採用単価は高止まり、給付の伸び率は鈍化していく。</a:t>
            </a:r>
            <a:endParaRPr lang="en-US" altLang="ja-JP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ja-JP" altLang="en-US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一定数の事業者は淘汰され、中堅～大手規模の事業者に集約されていく見込み。</a:t>
            </a:r>
            <a:endParaRPr lang="en-US" altLang="ja-JP" dirty="0" smtClean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6" name="グループ化 5"/>
          <p:cNvGrpSpPr/>
          <p:nvPr/>
        </p:nvGrpSpPr>
        <p:grpSpPr>
          <a:xfrm>
            <a:off x="2123728" y="2060848"/>
            <a:ext cx="2808312" cy="360000"/>
            <a:chOff x="1547664" y="2996992"/>
            <a:chExt cx="3600000" cy="360000"/>
          </a:xfrm>
        </p:grpSpPr>
        <p:cxnSp>
          <p:nvCxnSpPr>
            <p:cNvPr id="7" name="直線コネクタ 6"/>
            <p:cNvCxnSpPr/>
            <p:nvPr/>
          </p:nvCxnSpPr>
          <p:spPr>
            <a:xfrm flipV="1">
              <a:off x="1547664" y="3356992"/>
              <a:ext cx="360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正方形/長方形 7"/>
            <p:cNvSpPr/>
            <p:nvPr/>
          </p:nvSpPr>
          <p:spPr>
            <a:xfrm>
              <a:off x="1547664" y="2996992"/>
              <a:ext cx="36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600" dirty="0" smtClean="0">
                  <a:solidFill>
                    <a:srgbClr val="333333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介護を取り巻く環境の変化</a:t>
              </a:r>
            </a:p>
          </p:txBody>
        </p:sp>
      </p:grpSp>
      <p:grpSp>
        <p:nvGrpSpPr>
          <p:cNvPr id="9" name="グループ化 8"/>
          <p:cNvGrpSpPr/>
          <p:nvPr/>
        </p:nvGrpSpPr>
        <p:grpSpPr>
          <a:xfrm>
            <a:off x="5652121" y="2060848"/>
            <a:ext cx="3134722" cy="360000"/>
            <a:chOff x="1547664" y="2996992"/>
            <a:chExt cx="3600000" cy="360000"/>
          </a:xfrm>
        </p:grpSpPr>
        <p:cxnSp>
          <p:nvCxnSpPr>
            <p:cNvPr id="10" name="直線コネクタ 9"/>
            <p:cNvCxnSpPr/>
            <p:nvPr/>
          </p:nvCxnSpPr>
          <p:spPr>
            <a:xfrm flipV="1">
              <a:off x="1547664" y="3356992"/>
              <a:ext cx="360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正方形/長方形 10"/>
            <p:cNvSpPr/>
            <p:nvPr/>
          </p:nvSpPr>
          <p:spPr>
            <a:xfrm>
              <a:off x="1547664" y="2996992"/>
              <a:ext cx="36000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600" dirty="0" smtClean="0">
                  <a:solidFill>
                    <a:srgbClr val="333333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従事者領域への示唆</a:t>
              </a:r>
            </a:p>
          </p:txBody>
        </p:sp>
      </p:grpSp>
      <p:sp>
        <p:nvSpPr>
          <p:cNvPr id="15" name="正方形/長方形 14"/>
          <p:cNvSpPr/>
          <p:nvPr/>
        </p:nvSpPr>
        <p:spPr>
          <a:xfrm>
            <a:off x="285720" y="2601096"/>
            <a:ext cx="1766000" cy="17281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人口構造の変化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2123728" y="2601096"/>
            <a:ext cx="2808312" cy="17281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92075" indent="-920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総人口と労働力は減少していく</a:t>
            </a:r>
            <a:endParaRPr lang="en-US" altLang="ja-JP" sz="16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92075" indent="-920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高齢化率は高まっていく</a:t>
            </a:r>
            <a:r>
              <a:rPr lang="en-US" altLang="ja-JP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高齢者数は増加するが、</a:t>
            </a:r>
            <a:r>
              <a:rPr lang="en-US" altLang="ja-JP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10</a:t>
            </a: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年後から</a:t>
            </a:r>
            <a:r>
              <a:rPr lang="en-US" altLang="ja-JP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75</a:t>
            </a:r>
            <a:r>
              <a:rPr lang="ja-JP" altLang="en-US" sz="16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歳以上</a:t>
            </a: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の人口は横ばい）</a:t>
            </a:r>
            <a:endParaRPr lang="en-US" altLang="ja-JP" sz="16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92075" indent="-920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地方では既にこの傾向があり、極端になっていく</a:t>
            </a:r>
            <a:endParaRPr lang="ja-JP" altLang="en-US" sz="160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23728" y="4437112"/>
            <a:ext cx="2808312" cy="184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92075" indent="-920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国の借金は年々増加</a:t>
            </a:r>
          </a:p>
          <a:p>
            <a:pPr marL="92075" indent="-920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給付は年々増大</a:t>
            </a:r>
          </a:p>
          <a:p>
            <a:pPr marL="92075" indent="-920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負担は社会保険料は横ばい、税負担が重くなって</a:t>
            </a: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いる</a:t>
            </a:r>
            <a:endParaRPr lang="en-US" altLang="ja-JP" sz="16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二等辺三角形 19"/>
          <p:cNvSpPr/>
          <p:nvPr/>
        </p:nvSpPr>
        <p:spPr>
          <a:xfrm rot="5400000">
            <a:off x="4799018" y="3091358"/>
            <a:ext cx="1022092" cy="25200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ja-JP" altLang="en-US" sz="1600" dirty="0" err="1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5580112" y="2564904"/>
            <a:ext cx="3276400" cy="1764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人の</a:t>
            </a:r>
            <a:r>
              <a:rPr lang="ja-JP" altLang="en-US" sz="16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集客</a:t>
            </a:r>
            <a:r>
              <a:rPr lang="ja-JP" altLang="en-US" sz="1600" u="sng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単価</a:t>
            </a:r>
            <a:r>
              <a:rPr lang="ja-JP" altLang="en-US" sz="16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は上がって</a:t>
            </a:r>
            <a:r>
              <a:rPr lang="ja-JP" altLang="en-US" sz="1600" u="sng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いく</a:t>
            </a:r>
            <a:endParaRPr lang="en-US" altLang="ja-JP" sz="1600" u="sng" dirty="0" smtClean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介護事業者の競争環境は</a:t>
            </a:r>
            <a:r>
              <a:rPr lang="en-US" altLang="ja-JP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参入増</a:t>
            </a:r>
            <a:r>
              <a:rPr lang="en-US" altLang="ja-JP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により激化していき、</a:t>
            </a:r>
            <a:r>
              <a:rPr lang="ja-JP" altLang="en-US" sz="1600" u="sng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採用単価は高止まりしていく</a:t>
            </a:r>
            <a:r>
              <a:rPr lang="en-US" altLang="ja-JP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*</a:t>
            </a:r>
            <a:endParaRPr lang="ja-JP" altLang="en-US" sz="160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285720" y="4536388"/>
            <a:ext cx="1766000" cy="15931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人口構造の変化に伴う社会保障費の変化</a:t>
            </a:r>
          </a:p>
        </p:txBody>
      </p:sp>
      <p:sp>
        <p:nvSpPr>
          <p:cNvPr id="22" name="正方形/長方形 21"/>
          <p:cNvSpPr/>
          <p:nvPr/>
        </p:nvSpPr>
        <p:spPr>
          <a:xfrm>
            <a:off x="5580112" y="4752412"/>
            <a:ext cx="3098755" cy="1412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</a:t>
            </a:r>
            <a:r>
              <a:rPr lang="ja-JP" altLang="en-US" sz="16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給付</a:t>
            </a:r>
            <a:r>
              <a:rPr lang="ja-JP" altLang="en-US" sz="16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は伸び続けるが、</a:t>
            </a:r>
            <a:r>
              <a:rPr lang="ja-JP" altLang="en-US" sz="1600" u="sng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伸び率は鈍化していく</a:t>
            </a:r>
            <a:endParaRPr lang="ja-JP" altLang="en-US" sz="1600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3" name="二等辺三角形 22"/>
          <p:cNvSpPr/>
          <p:nvPr/>
        </p:nvSpPr>
        <p:spPr>
          <a:xfrm rot="5400000">
            <a:off x="4799018" y="5332858"/>
            <a:ext cx="1022092" cy="25200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ja-JP" altLang="en-US" sz="1600" dirty="0" err="1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287243" y="4437112"/>
            <a:ext cx="8499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/>
          <p:cNvSpPr/>
          <p:nvPr/>
        </p:nvSpPr>
        <p:spPr>
          <a:xfrm>
            <a:off x="6624264" y="6196410"/>
            <a:ext cx="2232248" cy="256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4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*</a:t>
            </a:r>
            <a:r>
              <a:rPr lang="ja-JP" altLang="en-US" sz="14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時期・タイミングは要確認</a:t>
            </a:r>
            <a:endParaRPr lang="en-US" altLang="ja-JP" sz="14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50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8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09544" y="1267619"/>
            <a:ext cx="8501123" cy="417133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8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ミッションと取り組み</a:t>
            </a:r>
            <a:endParaRPr lang="en-US" altLang="ja-JP" sz="28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584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9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117152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ct val="0"/>
              </a:spcBef>
              <a:defRPr/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従事者領域の</a:t>
            </a: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ミッション</a:t>
            </a:r>
            <a:endParaRPr lang="ja-JP" altLang="en-US" sz="2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175500" y="756465"/>
            <a:ext cx="8695513" cy="1206945"/>
          </a:xfrm>
          <a:prstGeom prst="rect">
            <a:avLst/>
          </a:prstGeom>
          <a:solidFill>
            <a:schemeClr val="bg1"/>
          </a:solidFill>
          <a:ln w="12700">
            <a:solidFill>
              <a:srgbClr val="FFE100"/>
            </a:solidFill>
          </a:ln>
          <a:effectLst>
            <a:outerShdw dist="63500" dir="2700000" algn="tl" rotWithShape="0">
              <a:srgbClr val="FFE1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000" b="1" dirty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介護従事者不足を解消すること</a:t>
            </a:r>
            <a:r>
              <a:rPr lang="ja-JP" altLang="en-US" sz="20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で日本</a:t>
            </a:r>
            <a:r>
              <a:rPr lang="ja-JP" altLang="en-US" sz="2000" b="1" dirty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の介護を元気に</a:t>
            </a:r>
            <a:r>
              <a:rPr lang="ja-JP" altLang="en-US" sz="20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する</a:t>
            </a:r>
            <a:endParaRPr lang="en-US" altLang="ja-JP" sz="20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網羅的な価値提供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体制を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構築することで競争力を高めながら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</a:t>
            </a:r>
            <a:endParaRPr lang="en-US" altLang="ja-JP" sz="20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従事者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不足という社会課題に圧倒的に貢献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する</a:t>
            </a:r>
            <a:endParaRPr lang="ja-JP" altLang="en-US" sz="2000" b="1" dirty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54" name="左矢印 53"/>
          <p:cNvSpPr/>
          <p:nvPr/>
        </p:nvSpPr>
        <p:spPr>
          <a:xfrm rot="10800000">
            <a:off x="6148268" y="4834860"/>
            <a:ext cx="332505" cy="348320"/>
          </a:xfrm>
          <a:prstGeom prst="leftArrow">
            <a:avLst>
              <a:gd name="adj1" fmla="val 60000"/>
              <a:gd name="adj2" fmla="val 50000"/>
            </a:avLst>
          </a:prstGeom>
          <a:noFill/>
          <a:ln w="1905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57" name="二等辺三角形 56"/>
          <p:cNvSpPr/>
          <p:nvPr/>
        </p:nvSpPr>
        <p:spPr bwMode="auto">
          <a:xfrm>
            <a:off x="1330053" y="2011161"/>
            <a:ext cx="6195860" cy="4510923"/>
          </a:xfrm>
          <a:prstGeom prst="triangle">
            <a:avLst/>
          </a:prstGeom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ja-JP" altLang="en-US" dirty="0">
              <a:solidFill>
                <a:srgbClr val="333333"/>
              </a:solidFill>
            </a:endParaRPr>
          </a:p>
        </p:txBody>
      </p:sp>
      <p:sp>
        <p:nvSpPr>
          <p:cNvPr id="58" name="角丸四角形 57"/>
          <p:cNvSpPr/>
          <p:nvPr/>
        </p:nvSpPr>
        <p:spPr bwMode="auto">
          <a:xfrm>
            <a:off x="3258454" y="2814367"/>
            <a:ext cx="2196096" cy="439713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38100" cap="flat" cmpd="sng" algn="ctr">
            <a:solidFill>
              <a:srgbClr val="FF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従事者不足の解消</a:t>
            </a:r>
            <a:endParaRPr lang="ja-JP" altLang="en-US" sz="1600" dirty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59" name="角丸四角形 58"/>
          <p:cNvSpPr/>
          <p:nvPr/>
        </p:nvSpPr>
        <p:spPr bwMode="auto">
          <a:xfrm>
            <a:off x="4741058" y="3704583"/>
            <a:ext cx="2375163" cy="533970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400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業界内の定着率の向上</a:t>
            </a:r>
            <a:endParaRPr lang="en-US" altLang="ja-JP" sz="1400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400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（減らさない）</a:t>
            </a:r>
            <a:endParaRPr lang="ja-JP" altLang="en-US" sz="1400" dirty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0" name="左矢印 59"/>
          <p:cNvSpPr/>
          <p:nvPr/>
        </p:nvSpPr>
        <p:spPr>
          <a:xfrm rot="7800000">
            <a:off x="3528396" y="3293765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61" name="角丸四角形 60"/>
          <p:cNvSpPr/>
          <p:nvPr/>
        </p:nvSpPr>
        <p:spPr bwMode="auto">
          <a:xfrm>
            <a:off x="1777562" y="3704583"/>
            <a:ext cx="2375163" cy="533970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400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業界外</a:t>
            </a:r>
            <a:r>
              <a:rPr lang="ja-JP" altLang="en-US" sz="1400" dirty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から</a:t>
            </a:r>
            <a:r>
              <a:rPr lang="ja-JP" altLang="en-US" sz="1400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の参入促進</a:t>
            </a:r>
            <a:endParaRPr lang="en-US" altLang="ja-JP" sz="1400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400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（増やす）</a:t>
            </a:r>
            <a:endParaRPr lang="en-US" altLang="ja-JP" sz="1400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2" name="左矢印 61"/>
          <p:cNvSpPr/>
          <p:nvPr/>
        </p:nvSpPr>
        <p:spPr>
          <a:xfrm rot="3300000">
            <a:off x="4997807" y="3306608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63" name="角丸四角形 62"/>
          <p:cNvSpPr/>
          <p:nvPr/>
        </p:nvSpPr>
        <p:spPr bwMode="auto">
          <a:xfrm>
            <a:off x="4624104" y="4684012"/>
            <a:ext cx="1582667" cy="476851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業界内での適切な</a:t>
            </a:r>
            <a:endParaRPr lang="en-US" altLang="ja-JP" sz="16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流動性</a:t>
            </a:r>
            <a:r>
              <a:rPr lang="ja-JP" altLang="en-US" sz="1600" b="1" dirty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担保</a:t>
            </a:r>
            <a:endParaRPr lang="en-US" altLang="ja-JP" sz="16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4" name="角丸四角形 63"/>
          <p:cNvSpPr/>
          <p:nvPr/>
        </p:nvSpPr>
        <p:spPr bwMode="auto">
          <a:xfrm>
            <a:off x="6317501" y="4689895"/>
            <a:ext cx="1494859" cy="462950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離職防止</a:t>
            </a:r>
            <a:endParaRPr lang="en-US" altLang="ja-JP" sz="16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5" name="左矢印 64"/>
          <p:cNvSpPr/>
          <p:nvPr/>
        </p:nvSpPr>
        <p:spPr>
          <a:xfrm rot="7800000">
            <a:off x="5267495" y="4261497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66" name="左矢印 65"/>
          <p:cNvSpPr/>
          <p:nvPr/>
        </p:nvSpPr>
        <p:spPr>
          <a:xfrm rot="3300000">
            <a:off x="3351429" y="4277460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67" name="角丸四角形 66"/>
          <p:cNvSpPr/>
          <p:nvPr/>
        </p:nvSpPr>
        <p:spPr bwMode="auto">
          <a:xfrm>
            <a:off x="1102941" y="4697913"/>
            <a:ext cx="1662194" cy="462950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業界外への人材</a:t>
            </a:r>
            <a:endParaRPr lang="en-US" altLang="ja-JP" sz="16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獲得アプローチ</a:t>
            </a:r>
            <a:endParaRPr lang="en-US" altLang="ja-JP" sz="16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8" name="角丸四角形 67"/>
          <p:cNvSpPr/>
          <p:nvPr/>
        </p:nvSpPr>
        <p:spPr bwMode="auto">
          <a:xfrm>
            <a:off x="2898729" y="4697913"/>
            <a:ext cx="1591723" cy="462950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業界内での就業</a:t>
            </a:r>
            <a:endParaRPr lang="en-US" altLang="ja-JP" sz="16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</a:t>
            </a:r>
            <a:r>
              <a:rPr lang="ja-JP" altLang="en-US" sz="16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流れ</a:t>
            </a:r>
            <a:r>
              <a:rPr lang="ja-JP" altLang="en-US" sz="1600" b="1" dirty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強化</a:t>
            </a:r>
            <a:endParaRPr lang="en-US" altLang="ja-JP" sz="16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9" name="左矢印 68"/>
          <p:cNvSpPr/>
          <p:nvPr/>
        </p:nvSpPr>
        <p:spPr>
          <a:xfrm rot="7800000">
            <a:off x="2143497" y="4275716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70" name="左矢印 69"/>
          <p:cNvSpPr/>
          <p:nvPr/>
        </p:nvSpPr>
        <p:spPr>
          <a:xfrm rot="3300000">
            <a:off x="6568840" y="4259752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71" name="角丸四角形 70"/>
          <p:cNvSpPr/>
          <p:nvPr/>
        </p:nvSpPr>
        <p:spPr bwMode="auto">
          <a:xfrm>
            <a:off x="1102941" y="6041272"/>
            <a:ext cx="6709419" cy="462950"/>
          </a:xfrm>
          <a:prstGeom prst="roundRect">
            <a:avLst>
              <a:gd name="adj" fmla="val 12562"/>
            </a:avLst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業界の啓蒙活動</a:t>
            </a:r>
            <a:endParaRPr lang="en-US" altLang="ja-JP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72" name="左矢印 71"/>
          <p:cNvSpPr/>
          <p:nvPr/>
        </p:nvSpPr>
        <p:spPr>
          <a:xfrm rot="5400000">
            <a:off x="1767843" y="5618159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73" name="左矢印 72"/>
          <p:cNvSpPr/>
          <p:nvPr/>
        </p:nvSpPr>
        <p:spPr>
          <a:xfrm rot="5400000">
            <a:off x="3531056" y="5629672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74" name="左矢印 73"/>
          <p:cNvSpPr/>
          <p:nvPr/>
        </p:nvSpPr>
        <p:spPr>
          <a:xfrm rot="5400000">
            <a:off x="5235880" y="5629673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75" name="左矢印 74"/>
          <p:cNvSpPr/>
          <p:nvPr/>
        </p:nvSpPr>
        <p:spPr>
          <a:xfrm rot="5400000">
            <a:off x="6950026" y="5644103"/>
            <a:ext cx="332387" cy="348442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76" name="左矢印 75"/>
          <p:cNvSpPr/>
          <p:nvPr/>
        </p:nvSpPr>
        <p:spPr>
          <a:xfrm>
            <a:off x="4330235" y="4755227"/>
            <a:ext cx="332505" cy="348320"/>
          </a:xfrm>
          <a:prstGeom prst="leftArrow">
            <a:avLst>
              <a:gd name="adj1" fmla="val 60000"/>
              <a:gd name="adj2" fmla="val 50000"/>
            </a:avLst>
          </a:prstGeom>
          <a:noFill/>
          <a:ln w="1905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77" name="左矢印 76"/>
          <p:cNvSpPr/>
          <p:nvPr/>
        </p:nvSpPr>
        <p:spPr>
          <a:xfrm rot="10800000">
            <a:off x="6151249" y="4765011"/>
            <a:ext cx="332505" cy="348320"/>
          </a:xfrm>
          <a:prstGeom prst="leftArrow">
            <a:avLst>
              <a:gd name="adj1" fmla="val 60000"/>
              <a:gd name="adj2" fmla="val 50000"/>
            </a:avLst>
          </a:prstGeom>
          <a:noFill/>
          <a:ln w="1905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2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</p:sp>
      <p:sp>
        <p:nvSpPr>
          <p:cNvPr id="31" name="角丸四角形 30"/>
          <p:cNvSpPr/>
          <p:nvPr/>
        </p:nvSpPr>
        <p:spPr bwMode="auto">
          <a:xfrm>
            <a:off x="4620725" y="4616903"/>
            <a:ext cx="1640764" cy="1315070"/>
          </a:xfrm>
          <a:prstGeom prst="round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ja-JP" altLang="en-US" sz="2000" b="1" dirty="0" smtClean="0">
              <a:solidFill>
                <a:srgbClr val="333333"/>
              </a:solidFill>
              <a:latin typeface="Times New Roman" pitchFamily="18" charset="0"/>
            </a:endParaRPr>
          </a:p>
        </p:txBody>
      </p:sp>
      <p:pic>
        <p:nvPicPr>
          <p:cNvPr id="32" name="図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353" y="5280203"/>
            <a:ext cx="1595455" cy="30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4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333746" y="6304235"/>
            <a:ext cx="797068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10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814672" cy="42862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ct val="0"/>
              </a:spcBef>
              <a:defRPr/>
            </a:pP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介護人材紹介</a:t>
            </a:r>
            <a:r>
              <a:rPr lang="en-US" altLang="ja-JP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G</a:t>
            </a: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  <a:r>
              <a:rPr lang="en-US" altLang="ja-JP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VISION2020</a:t>
            </a:r>
            <a:endParaRPr lang="ja-JP" altLang="en-US" sz="2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357729" y="1916832"/>
            <a:ext cx="575959" cy="2880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000" b="1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定性</a:t>
            </a:r>
            <a:endParaRPr lang="ja-JP" altLang="en-US" sz="2000" b="1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357729" y="4869039"/>
            <a:ext cx="575959" cy="10081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eaVert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000" b="1" dirty="0" smtClean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定量</a:t>
            </a:r>
            <a:endParaRPr lang="ja-JP" altLang="en-US" sz="2000" b="1" baseline="300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5230" y="1916834"/>
            <a:ext cx="7671226" cy="2880197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144000" rIns="72000" bIns="36000" rtlCol="0" anchor="t"/>
          <a:lstStyle/>
          <a:p>
            <a:pPr marL="92075" indent="-92075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介護事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業者向け人材紹介に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おいて売上・利益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で圧倒的</a:t>
            </a: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NO.1</a:t>
            </a:r>
          </a:p>
          <a:p>
            <a:pPr marL="92075" indent="-92075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介護人材紹介においてターゲット事業所の取引シェア</a:t>
            </a:r>
            <a:r>
              <a:rPr lang="en-US" altLang="ja-JP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30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％以上</a:t>
            </a:r>
            <a:endParaRPr lang="en-US" altLang="ja-JP" sz="20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92075" indent="-92075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SMS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グループにおいて</a:t>
            </a: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NJB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に次ぐ</a:t>
            </a:r>
            <a:r>
              <a:rPr lang="en-US" altLang="ja-JP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超える？</a:t>
            </a:r>
            <a:r>
              <a:rPr lang="en-US" altLang="ja-JP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規模の人材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紹介事業の確立</a:t>
            </a:r>
            <a:endParaRPr lang="en-US" altLang="ja-JP" sz="200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92075" indent="-92075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従事者領域の各サービスの出口として介護人材紹介で収益貢献している</a:t>
            </a:r>
            <a:endParaRPr lang="en-US" altLang="ja-JP" sz="20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92075" indent="-92075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ja-JP" sz="20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1005230" y="4869039"/>
            <a:ext cx="7671226" cy="1008178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36000" tIns="36000" rIns="0" bIns="36000" rtlCol="0" anchor="ctr"/>
          <a:lstStyle/>
          <a:p>
            <a:pPr marL="92075" indent="-9207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貢献利益　</a:t>
            </a:r>
            <a:r>
              <a:rPr lang="en-US" altLang="ja-JP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</a:t>
            </a: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0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億　売上　</a:t>
            </a: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60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億</a:t>
            </a:r>
            <a:endParaRPr lang="ja-JP" altLang="en-US" sz="200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</a:t>
            </a:r>
            <a:r>
              <a:rPr lang="en-US" altLang="ja-JP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FY15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で貢献利益</a:t>
            </a:r>
            <a:r>
              <a:rPr lang="en-US" altLang="ja-JP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0.3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億　売上</a:t>
            </a:r>
            <a:r>
              <a:rPr lang="en-US" altLang="ja-JP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r>
              <a:rPr lang="ja-JP" altLang="en-US" sz="2000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億　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ja-JP" altLang="en-US" sz="200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175500" y="764704"/>
            <a:ext cx="8695513" cy="720000"/>
          </a:xfrm>
          <a:prstGeom prst="rect">
            <a:avLst/>
          </a:prstGeom>
          <a:solidFill>
            <a:schemeClr val="bg1"/>
          </a:solidFill>
          <a:ln w="12700">
            <a:solidFill>
              <a:srgbClr val="FFE100"/>
            </a:solidFill>
          </a:ln>
          <a:effectLst>
            <a:outerShdw dist="63500" dir="2700000" algn="tl" rotWithShape="0">
              <a:srgbClr val="FFE1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2000" dirty="0">
                <a:solidFill>
                  <a:srgbClr val="333333"/>
                </a:solidFill>
              </a:rPr>
              <a:t>介護人材紹介事業の圧倒的利益成長により、介護職</a:t>
            </a:r>
            <a:r>
              <a:rPr lang="ja-JP" altLang="en-US" sz="2000" dirty="0" smtClean="0">
                <a:solidFill>
                  <a:srgbClr val="333333"/>
                </a:solidFill>
              </a:rPr>
              <a:t>集客・各サービスの収益化が押し進められている状態</a:t>
            </a:r>
            <a:endParaRPr lang="ja-JP" altLang="en-US" sz="20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2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11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857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ct val="0"/>
              </a:spcBef>
              <a:defRPr/>
            </a:pP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我々の置かれている環境</a:t>
            </a:r>
            <a:endParaRPr lang="ja-JP" altLang="en-US" sz="2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268760"/>
            <a:ext cx="5324728" cy="3902091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5076056" y="5027477"/>
            <a:ext cx="3888432" cy="1282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紹介会社・派遣会社等のライバルは不在</a:t>
            </a:r>
            <a:endParaRPr lang="en-US" altLang="ja-JP" sz="16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大手資本を持った会社が参入しても</a:t>
            </a:r>
            <a:r>
              <a:rPr lang="en-US" altLang="ja-JP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KJA</a:t>
            </a:r>
            <a:r>
              <a:rPr lang="ja-JP" altLang="en-US" sz="1600" b="1" dirty="0" err="1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には</a:t>
            </a: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構造上勝負ができない可能性が高い</a:t>
            </a:r>
            <a:endParaRPr lang="en-US" altLang="ja-JP" sz="16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1600" b="1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ハローワークからどう求職者を持ってくるか</a:t>
            </a:r>
            <a:endParaRPr lang="en-US" altLang="ja-JP" sz="1600" b="1" dirty="0" smtClean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076056" y="1268760"/>
            <a:ext cx="3888432" cy="1282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介護職をターゲットとした</a:t>
            </a:r>
            <a:r>
              <a:rPr lang="ja-JP" altLang="en-US" sz="1600" b="1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人材紹介はマーケットにプレイヤーがほぼいない状況</a:t>
            </a:r>
            <a:endParaRPr lang="en-US" altLang="ja-JP" sz="1600" b="1" dirty="0" smtClean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求職</a:t>
            </a:r>
            <a:r>
              <a:rPr lang="ja-JP" altLang="en-US" sz="1600" b="1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者</a:t>
            </a: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もハローワーク</a:t>
            </a:r>
            <a:r>
              <a:rPr lang="ja-JP" altLang="en-US" sz="1600" b="1" dirty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か</a:t>
            </a: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縁故採用が主体と思っている</a:t>
            </a:r>
            <a:endParaRPr lang="en-US" altLang="ja-JP" sz="16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107091" y="5021750"/>
            <a:ext cx="4752941" cy="1282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ja-JP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KJ</a:t>
            </a: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という強力なプラットフォームを有している</a:t>
            </a:r>
            <a:endParaRPr lang="en-US" altLang="ja-JP" sz="16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</a:t>
            </a:r>
            <a:r>
              <a:rPr lang="ja-JP" altLang="en-US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介護職の個人情報を既に</a:t>
            </a:r>
            <a:r>
              <a:rPr lang="en-US" altLang="ja-JP" sz="16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60</a:t>
            </a:r>
            <a:r>
              <a:rPr lang="ja-JP" altLang="en-US" sz="1600" b="1" dirty="0" smtClean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万人保有している</a:t>
            </a: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）</a:t>
            </a:r>
            <a:endParaRPr lang="en-US" altLang="ja-JP" sz="16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171450" indent="-1714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事業所のアカウントも約</a:t>
            </a:r>
            <a:r>
              <a:rPr lang="en-US" altLang="ja-JP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40</a:t>
            </a:r>
            <a:r>
              <a:rPr lang="ja-JP" altLang="en-US" sz="16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％のシェアがある</a:t>
            </a:r>
            <a:endParaRPr lang="en-US" altLang="ja-JP" sz="16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30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333746" y="6304235"/>
            <a:ext cx="797068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12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814672" cy="42862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ct val="0"/>
              </a:spcBef>
              <a:defRPr/>
            </a:pP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人材紹介攻略の概要</a:t>
            </a:r>
            <a:endParaRPr lang="ja-JP" altLang="en-US" sz="2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12" name="グループ化 18"/>
          <p:cNvGrpSpPr/>
          <p:nvPr/>
        </p:nvGrpSpPr>
        <p:grpSpPr>
          <a:xfrm>
            <a:off x="35495" y="1186970"/>
            <a:ext cx="3239888" cy="385655"/>
            <a:chOff x="3929058" y="1645500"/>
            <a:chExt cx="2952000" cy="311114"/>
          </a:xfrm>
        </p:grpSpPr>
        <p:sp>
          <p:nvSpPr>
            <p:cNvPr id="13" name="正方形/長方形 12"/>
            <p:cNvSpPr/>
            <p:nvPr/>
          </p:nvSpPr>
          <p:spPr>
            <a:xfrm>
              <a:off x="3929058" y="1645500"/>
              <a:ext cx="2952000" cy="288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200" b="1" dirty="0">
                  <a:solidFill>
                    <a:srgbClr val="333333"/>
                  </a:solidFill>
                </a:rPr>
                <a:t>商材</a:t>
              </a:r>
            </a:p>
          </p:txBody>
        </p:sp>
        <p:cxnSp>
          <p:nvCxnSpPr>
            <p:cNvPr id="14" name="直線コネクタ 13"/>
            <p:cNvCxnSpPr/>
            <p:nvPr/>
          </p:nvCxnSpPr>
          <p:spPr>
            <a:xfrm>
              <a:off x="3929058" y="1956614"/>
              <a:ext cx="2952000" cy="0"/>
            </a:xfrm>
            <a:prstGeom prst="line">
              <a:avLst/>
            </a:prstGeom>
            <a:ln w="28575">
              <a:solidFill>
                <a:srgbClr val="FFE1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8"/>
          <p:cNvGrpSpPr/>
          <p:nvPr/>
        </p:nvGrpSpPr>
        <p:grpSpPr>
          <a:xfrm>
            <a:off x="8130581" y="1154111"/>
            <a:ext cx="835434" cy="418514"/>
            <a:chOff x="3929058" y="1643050"/>
            <a:chExt cx="2952000" cy="313564"/>
          </a:xfrm>
        </p:grpSpPr>
        <p:sp>
          <p:nvSpPr>
            <p:cNvPr id="18" name="正方形/長方形 17"/>
            <p:cNvSpPr/>
            <p:nvPr/>
          </p:nvSpPr>
          <p:spPr>
            <a:xfrm>
              <a:off x="3929058" y="1643050"/>
              <a:ext cx="2952000" cy="288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200" b="1" dirty="0" smtClean="0">
                  <a:solidFill>
                    <a:srgbClr val="333333"/>
                  </a:solidFill>
                </a:rPr>
                <a:t>優先順位</a:t>
              </a:r>
              <a:endParaRPr lang="ja-JP" altLang="en-US" sz="1200" b="1" dirty="0">
                <a:solidFill>
                  <a:srgbClr val="333333"/>
                </a:solidFill>
              </a:endParaRPr>
            </a:p>
          </p:txBody>
        </p:sp>
        <p:cxnSp>
          <p:nvCxnSpPr>
            <p:cNvPr id="19" name="直線コネクタ 18"/>
            <p:cNvCxnSpPr/>
            <p:nvPr/>
          </p:nvCxnSpPr>
          <p:spPr>
            <a:xfrm>
              <a:off x="3929058" y="1956614"/>
              <a:ext cx="2952000" cy="0"/>
            </a:xfrm>
            <a:prstGeom prst="line">
              <a:avLst/>
            </a:prstGeom>
            <a:ln w="28575">
              <a:solidFill>
                <a:srgbClr val="FFE1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正方形/長方形 19"/>
          <p:cNvSpPr>
            <a:spLocks noChangeArrowheads="1"/>
          </p:cNvSpPr>
          <p:nvPr/>
        </p:nvSpPr>
        <p:spPr bwMode="auto">
          <a:xfrm>
            <a:off x="179687" y="1932582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 smtClean="0">
                <a:solidFill>
                  <a:srgbClr val="000000"/>
                </a:solidFill>
              </a:rPr>
              <a:t>SOL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プライス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手数料</a:t>
            </a:r>
            <a:r>
              <a:rPr kumimoji="0" lang="en-US" altLang="ja-JP" sz="1200" dirty="0" smtClean="0">
                <a:solidFill>
                  <a:srgbClr val="000000"/>
                </a:solidFill>
              </a:rPr>
              <a:t>30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％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</p:txBody>
      </p:sp>
      <p:sp>
        <p:nvSpPr>
          <p:cNvPr id="21" name="正方形/長方形 20"/>
          <p:cNvSpPr>
            <a:spLocks noChangeArrowheads="1"/>
          </p:cNvSpPr>
          <p:nvPr/>
        </p:nvSpPr>
        <p:spPr bwMode="auto">
          <a:xfrm>
            <a:off x="179687" y="2594506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 smtClean="0">
                <a:solidFill>
                  <a:srgbClr val="000000"/>
                </a:solidFill>
              </a:rPr>
              <a:t>High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プライス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手数料</a:t>
            </a:r>
            <a:r>
              <a:rPr kumimoji="0" lang="en-US" altLang="ja-JP" sz="1200" dirty="0" smtClean="0">
                <a:solidFill>
                  <a:srgbClr val="000000"/>
                </a:solidFill>
              </a:rPr>
              <a:t>25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22" name="正方形/長方形 21"/>
          <p:cNvSpPr>
            <a:spLocks noChangeArrowheads="1"/>
          </p:cNvSpPr>
          <p:nvPr/>
        </p:nvSpPr>
        <p:spPr bwMode="auto">
          <a:xfrm>
            <a:off x="179687" y="3256430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>
                <a:solidFill>
                  <a:srgbClr val="000000"/>
                </a:solidFill>
              </a:rPr>
              <a:t>High</a:t>
            </a:r>
            <a:r>
              <a:rPr kumimoji="0" lang="ja-JP" altLang="en-US" sz="1200" dirty="0">
                <a:solidFill>
                  <a:srgbClr val="000000"/>
                </a:solidFill>
              </a:rPr>
              <a:t>プライス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手数料</a:t>
            </a:r>
            <a:r>
              <a:rPr kumimoji="0" lang="en-US" altLang="ja-JP" sz="1200" dirty="0">
                <a:solidFill>
                  <a:srgbClr val="000000"/>
                </a:solidFill>
              </a:rPr>
              <a:t>25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23" name="正方形/長方形 22"/>
          <p:cNvSpPr>
            <a:spLocks noChangeArrowheads="1"/>
          </p:cNvSpPr>
          <p:nvPr/>
        </p:nvSpPr>
        <p:spPr bwMode="auto">
          <a:xfrm>
            <a:off x="179687" y="3918354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一般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プライス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手数料</a:t>
            </a:r>
            <a:r>
              <a:rPr kumimoji="0" lang="en-US" altLang="ja-JP" sz="1200" dirty="0" smtClean="0">
                <a:solidFill>
                  <a:srgbClr val="000000"/>
                </a:solidFill>
              </a:rPr>
              <a:t>15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25" name="正方形/長方形 24"/>
          <p:cNvSpPr>
            <a:spLocks noChangeArrowheads="1"/>
          </p:cNvSpPr>
          <p:nvPr/>
        </p:nvSpPr>
        <p:spPr bwMode="auto">
          <a:xfrm>
            <a:off x="179687" y="4580278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一般プライス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手数料</a:t>
            </a:r>
            <a:r>
              <a:rPr kumimoji="0" lang="en-US" altLang="ja-JP" sz="1200" dirty="0">
                <a:solidFill>
                  <a:srgbClr val="000000"/>
                </a:solidFill>
              </a:rPr>
              <a:t>15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26" name="正方形/長方形 25"/>
          <p:cNvSpPr>
            <a:spLocks noChangeArrowheads="1"/>
          </p:cNvSpPr>
          <p:nvPr/>
        </p:nvSpPr>
        <p:spPr bwMode="auto">
          <a:xfrm>
            <a:off x="179687" y="5242202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 smtClean="0">
                <a:solidFill>
                  <a:srgbClr val="000000"/>
                </a:solidFill>
              </a:rPr>
              <a:t>Low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プライス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手数料</a:t>
            </a:r>
            <a:r>
              <a:rPr kumimoji="0" lang="en-US" altLang="ja-JP" sz="1200" dirty="0" smtClean="0">
                <a:solidFill>
                  <a:srgbClr val="000000"/>
                </a:solidFill>
              </a:rPr>
              <a:t>5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27" name="正方形/長方形 26"/>
          <p:cNvSpPr>
            <a:spLocks noChangeArrowheads="1"/>
          </p:cNvSpPr>
          <p:nvPr/>
        </p:nvSpPr>
        <p:spPr bwMode="auto">
          <a:xfrm>
            <a:off x="179687" y="5904126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無料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32" name="正方形/長方形 31"/>
          <p:cNvSpPr>
            <a:spLocks noChangeArrowheads="1"/>
          </p:cNvSpPr>
          <p:nvPr/>
        </p:nvSpPr>
        <p:spPr bwMode="auto">
          <a:xfrm>
            <a:off x="1871991" y="5802902"/>
            <a:ext cx="284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kumimoji="0" lang="ja-JP" altLang="en-US" sz="1200" dirty="0">
              <a:solidFill>
                <a:srgbClr val="000000"/>
              </a:solidFill>
            </a:endParaRPr>
          </a:p>
        </p:txBody>
      </p:sp>
      <p:cxnSp>
        <p:nvCxnSpPr>
          <p:cNvPr id="34" name="直線コネクタ 33"/>
          <p:cNvCxnSpPr/>
          <p:nvPr/>
        </p:nvCxnSpPr>
        <p:spPr>
          <a:xfrm rot="10800000">
            <a:off x="179687" y="2569544"/>
            <a:ext cx="1476000" cy="0"/>
          </a:xfrm>
          <a:prstGeom prst="line">
            <a:avLst/>
          </a:prstGeom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10800000">
            <a:off x="179687" y="3231468"/>
            <a:ext cx="1476000" cy="0"/>
          </a:xfrm>
          <a:prstGeom prst="line">
            <a:avLst/>
          </a:prstGeom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rot="10800000">
            <a:off x="179687" y="3893392"/>
            <a:ext cx="1476000" cy="0"/>
          </a:xfrm>
          <a:prstGeom prst="line">
            <a:avLst/>
          </a:prstGeom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/>
          <p:nvPr/>
        </p:nvCxnSpPr>
        <p:spPr>
          <a:xfrm rot="10800000">
            <a:off x="179687" y="4555316"/>
            <a:ext cx="1476000" cy="0"/>
          </a:xfrm>
          <a:prstGeom prst="line">
            <a:avLst/>
          </a:prstGeom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 rot="10800000">
            <a:off x="179687" y="5217240"/>
            <a:ext cx="1476000" cy="0"/>
          </a:xfrm>
          <a:prstGeom prst="line">
            <a:avLst/>
          </a:prstGeom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 rot="10800000">
            <a:off x="179687" y="5879164"/>
            <a:ext cx="1476000" cy="0"/>
          </a:xfrm>
          <a:prstGeom prst="line">
            <a:avLst/>
          </a:prstGeom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rot="10800000">
            <a:off x="179687" y="6541094"/>
            <a:ext cx="1476000" cy="0"/>
          </a:xfrm>
          <a:prstGeom prst="line">
            <a:avLst/>
          </a:prstGeom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正方形/長方形 40"/>
          <p:cNvSpPr>
            <a:spLocks noChangeArrowheads="1"/>
          </p:cNvSpPr>
          <p:nvPr/>
        </p:nvSpPr>
        <p:spPr bwMode="auto">
          <a:xfrm>
            <a:off x="35511" y="1932582"/>
            <a:ext cx="144000" cy="612000"/>
          </a:xfrm>
          <a:prstGeom prst="rect">
            <a:avLst/>
          </a:prstGeom>
          <a:solidFill>
            <a:srgbClr val="FFF28F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b="1" dirty="0" smtClean="0">
                <a:solidFill>
                  <a:srgbClr val="000000"/>
                </a:solidFill>
                <a:latin typeface="Calibri" pitchFamily="34" charset="0"/>
              </a:rPr>
              <a:t>1</a:t>
            </a:r>
            <a:endParaRPr kumimoji="0" lang="ja-JP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2" name="正方形/長方形 41"/>
          <p:cNvSpPr>
            <a:spLocks noChangeArrowheads="1"/>
          </p:cNvSpPr>
          <p:nvPr/>
        </p:nvSpPr>
        <p:spPr bwMode="auto">
          <a:xfrm>
            <a:off x="35511" y="2594506"/>
            <a:ext cx="144000" cy="612000"/>
          </a:xfrm>
          <a:prstGeom prst="rect">
            <a:avLst/>
          </a:prstGeom>
          <a:solidFill>
            <a:srgbClr val="FFF28F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b="1" dirty="0" smtClean="0">
                <a:solidFill>
                  <a:srgbClr val="000000"/>
                </a:solidFill>
                <a:latin typeface="Calibri" pitchFamily="34" charset="0"/>
              </a:rPr>
              <a:t>2</a:t>
            </a:r>
            <a:endParaRPr kumimoji="0" lang="ja-JP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3" name="正方形/長方形 42"/>
          <p:cNvSpPr>
            <a:spLocks noChangeArrowheads="1"/>
          </p:cNvSpPr>
          <p:nvPr/>
        </p:nvSpPr>
        <p:spPr bwMode="auto">
          <a:xfrm>
            <a:off x="35511" y="3256430"/>
            <a:ext cx="144000" cy="612000"/>
          </a:xfrm>
          <a:prstGeom prst="rect">
            <a:avLst/>
          </a:prstGeom>
          <a:solidFill>
            <a:srgbClr val="FFF28F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b="1" dirty="0" smtClean="0">
                <a:solidFill>
                  <a:srgbClr val="000000"/>
                </a:solidFill>
                <a:latin typeface="Calibri" pitchFamily="34" charset="0"/>
              </a:rPr>
              <a:t>3</a:t>
            </a:r>
            <a:endParaRPr kumimoji="0" lang="ja-JP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4" name="正方形/長方形 43"/>
          <p:cNvSpPr>
            <a:spLocks noChangeArrowheads="1"/>
          </p:cNvSpPr>
          <p:nvPr/>
        </p:nvSpPr>
        <p:spPr bwMode="auto">
          <a:xfrm>
            <a:off x="35511" y="3918354"/>
            <a:ext cx="144000" cy="612000"/>
          </a:xfrm>
          <a:prstGeom prst="rect">
            <a:avLst/>
          </a:prstGeom>
          <a:solidFill>
            <a:srgbClr val="FFF28F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b="1" dirty="0" smtClean="0">
                <a:solidFill>
                  <a:srgbClr val="000000"/>
                </a:solidFill>
                <a:latin typeface="Calibri" pitchFamily="34" charset="0"/>
              </a:rPr>
              <a:t>4</a:t>
            </a:r>
            <a:endParaRPr kumimoji="0" lang="ja-JP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5" name="正方形/長方形 44"/>
          <p:cNvSpPr>
            <a:spLocks noChangeArrowheads="1"/>
          </p:cNvSpPr>
          <p:nvPr/>
        </p:nvSpPr>
        <p:spPr bwMode="auto">
          <a:xfrm>
            <a:off x="35511" y="4580278"/>
            <a:ext cx="144000" cy="612000"/>
          </a:xfrm>
          <a:prstGeom prst="rect">
            <a:avLst/>
          </a:prstGeom>
          <a:solidFill>
            <a:srgbClr val="FFF28F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b="1" dirty="0" smtClean="0">
                <a:solidFill>
                  <a:srgbClr val="000000"/>
                </a:solidFill>
                <a:latin typeface="Calibri" pitchFamily="34" charset="0"/>
              </a:rPr>
              <a:t>5</a:t>
            </a:r>
            <a:endParaRPr kumimoji="0" lang="ja-JP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6" name="正方形/長方形 45"/>
          <p:cNvSpPr>
            <a:spLocks noChangeArrowheads="1"/>
          </p:cNvSpPr>
          <p:nvPr/>
        </p:nvSpPr>
        <p:spPr bwMode="auto">
          <a:xfrm>
            <a:off x="35511" y="5242202"/>
            <a:ext cx="144000" cy="612000"/>
          </a:xfrm>
          <a:prstGeom prst="rect">
            <a:avLst/>
          </a:prstGeom>
          <a:solidFill>
            <a:srgbClr val="FFF28F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b="1" dirty="0" smtClean="0">
                <a:solidFill>
                  <a:srgbClr val="000000"/>
                </a:solidFill>
                <a:latin typeface="Calibri" pitchFamily="34" charset="0"/>
              </a:rPr>
              <a:t>6</a:t>
            </a:r>
            <a:endParaRPr kumimoji="0" lang="ja-JP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7" name="正方形/長方形 46"/>
          <p:cNvSpPr>
            <a:spLocks noChangeArrowheads="1"/>
          </p:cNvSpPr>
          <p:nvPr/>
        </p:nvSpPr>
        <p:spPr bwMode="auto">
          <a:xfrm>
            <a:off x="35511" y="5904126"/>
            <a:ext cx="144000" cy="612000"/>
          </a:xfrm>
          <a:prstGeom prst="rect">
            <a:avLst/>
          </a:prstGeom>
          <a:solidFill>
            <a:srgbClr val="FFF28F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b="1" dirty="0" smtClean="0">
                <a:solidFill>
                  <a:srgbClr val="000000"/>
                </a:solidFill>
                <a:latin typeface="Calibri" pitchFamily="34" charset="0"/>
              </a:rPr>
              <a:t>7</a:t>
            </a:r>
            <a:endParaRPr kumimoji="0" lang="ja-JP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9" name="正方形/長方形 48"/>
          <p:cNvSpPr>
            <a:spLocks noChangeArrowheads="1"/>
          </p:cNvSpPr>
          <p:nvPr/>
        </p:nvSpPr>
        <p:spPr bwMode="auto">
          <a:xfrm>
            <a:off x="8102503" y="1691026"/>
            <a:ext cx="835434" cy="816837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kumimoji="0" lang="ja-JP" altLang="en-US" sz="1200" dirty="0">
              <a:solidFill>
                <a:srgbClr val="000000"/>
              </a:solidFill>
            </a:endParaRPr>
          </a:p>
        </p:txBody>
      </p:sp>
      <p:cxnSp>
        <p:nvCxnSpPr>
          <p:cNvPr id="78" name="直線コネクタ 77"/>
          <p:cNvCxnSpPr/>
          <p:nvPr/>
        </p:nvCxnSpPr>
        <p:spPr>
          <a:xfrm flipH="1">
            <a:off x="1763983" y="256954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/>
          <p:cNvCxnSpPr/>
          <p:nvPr/>
        </p:nvCxnSpPr>
        <p:spPr>
          <a:xfrm flipH="1" flipV="1">
            <a:off x="1763983" y="3231468"/>
            <a:ext cx="1511872" cy="464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/>
          <p:cNvCxnSpPr/>
          <p:nvPr/>
        </p:nvCxnSpPr>
        <p:spPr>
          <a:xfrm flipH="1" flipV="1">
            <a:off x="1763983" y="3893392"/>
            <a:ext cx="1511872" cy="4118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/>
          <p:cNvCxnSpPr/>
          <p:nvPr/>
        </p:nvCxnSpPr>
        <p:spPr>
          <a:xfrm flipH="1">
            <a:off x="1763983" y="4555316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/>
          <p:nvPr/>
        </p:nvCxnSpPr>
        <p:spPr>
          <a:xfrm flipH="1" flipV="1">
            <a:off x="1763983" y="5217241"/>
            <a:ext cx="1511872" cy="6574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/>
          <p:nvPr/>
        </p:nvCxnSpPr>
        <p:spPr>
          <a:xfrm flipH="1">
            <a:off x="1763983" y="587916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/>
          <p:cNvCxnSpPr/>
          <p:nvPr/>
        </p:nvCxnSpPr>
        <p:spPr>
          <a:xfrm rot="5400000">
            <a:off x="1511687" y="223858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/>
          <p:cNvCxnSpPr/>
          <p:nvPr/>
        </p:nvCxnSpPr>
        <p:spPr>
          <a:xfrm rot="5400000">
            <a:off x="1511687" y="290166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/>
          <p:cNvCxnSpPr/>
          <p:nvPr/>
        </p:nvCxnSpPr>
        <p:spPr>
          <a:xfrm rot="5400000">
            <a:off x="1511687" y="3564750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 rot="5400000">
            <a:off x="1511687" y="4227834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/>
          <p:cNvCxnSpPr/>
          <p:nvPr/>
        </p:nvCxnSpPr>
        <p:spPr>
          <a:xfrm rot="5400000">
            <a:off x="1511687" y="4890918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 rot="5400000">
            <a:off x="1511687" y="555400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/>
          <p:cNvCxnSpPr/>
          <p:nvPr/>
        </p:nvCxnSpPr>
        <p:spPr>
          <a:xfrm rot="5400000">
            <a:off x="1511686" y="621708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正方形/長方形 96"/>
          <p:cNvSpPr>
            <a:spLocks noChangeArrowheads="1"/>
          </p:cNvSpPr>
          <p:nvPr/>
        </p:nvSpPr>
        <p:spPr bwMode="auto">
          <a:xfrm>
            <a:off x="1763687" y="1691026"/>
            <a:ext cx="1511696" cy="11909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100" b="1" dirty="0" smtClean="0">
                <a:solidFill>
                  <a:srgbClr val="000000"/>
                </a:solidFill>
              </a:rPr>
              <a:t>Target</a:t>
            </a:r>
            <a:r>
              <a:rPr kumimoji="0" lang="ja-JP" altLang="en-US" sz="1100" b="1" dirty="0">
                <a:solidFill>
                  <a:srgbClr val="000000"/>
                </a:solidFill>
              </a:rPr>
              <a:t> </a:t>
            </a:r>
            <a:r>
              <a:rPr kumimoji="0" lang="en-US" altLang="ja-JP" sz="1100" b="1" dirty="0" smtClean="0">
                <a:solidFill>
                  <a:srgbClr val="000000"/>
                </a:solidFill>
              </a:rPr>
              <a:t>User</a:t>
            </a:r>
          </a:p>
        </p:txBody>
      </p:sp>
      <p:sp>
        <p:nvSpPr>
          <p:cNvPr id="98" name="正方形/長方形 97"/>
          <p:cNvSpPr>
            <a:spLocks noChangeArrowheads="1"/>
          </p:cNvSpPr>
          <p:nvPr/>
        </p:nvSpPr>
        <p:spPr bwMode="auto">
          <a:xfrm>
            <a:off x="179687" y="1691026"/>
            <a:ext cx="1584000" cy="12719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100" b="1" dirty="0" smtClean="0">
                <a:solidFill>
                  <a:srgbClr val="000000"/>
                </a:solidFill>
              </a:rPr>
              <a:t>プライス</a:t>
            </a:r>
            <a:endParaRPr kumimoji="0" lang="en-US" altLang="ja-JP" sz="1100" b="1" dirty="0" smtClean="0">
              <a:solidFill>
                <a:srgbClr val="000000"/>
              </a:solidFill>
            </a:endParaRPr>
          </a:p>
        </p:txBody>
      </p:sp>
      <p:sp>
        <p:nvSpPr>
          <p:cNvPr id="99" name="正方形/長方形 98"/>
          <p:cNvSpPr>
            <a:spLocks noChangeArrowheads="1"/>
          </p:cNvSpPr>
          <p:nvPr/>
        </p:nvSpPr>
        <p:spPr bwMode="auto">
          <a:xfrm>
            <a:off x="1835871" y="1932018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全従事者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</p:txBody>
      </p:sp>
      <p:sp>
        <p:nvSpPr>
          <p:cNvPr id="100" name="正方形/長方形 99"/>
          <p:cNvSpPr>
            <a:spLocks noChangeArrowheads="1"/>
          </p:cNvSpPr>
          <p:nvPr/>
        </p:nvSpPr>
        <p:spPr bwMode="auto">
          <a:xfrm>
            <a:off x="1835871" y="2593942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上位従事者</a:t>
            </a:r>
            <a:endParaRPr kumimoji="0" lang="en-US" altLang="ja-JP" sz="1200" dirty="0">
              <a:solidFill>
                <a:srgbClr val="000000"/>
              </a:solidFill>
            </a:endParaRPr>
          </a:p>
        </p:txBody>
      </p:sp>
      <p:sp>
        <p:nvSpPr>
          <p:cNvPr id="101" name="正方形/長方形 100"/>
          <p:cNvSpPr>
            <a:spLocks noChangeArrowheads="1"/>
          </p:cNvSpPr>
          <p:nvPr/>
        </p:nvSpPr>
        <p:spPr bwMode="auto">
          <a:xfrm>
            <a:off x="1835871" y="3255866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全従事者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02" name="正方形/長方形 101"/>
          <p:cNvSpPr>
            <a:spLocks noChangeArrowheads="1"/>
          </p:cNvSpPr>
          <p:nvPr/>
        </p:nvSpPr>
        <p:spPr bwMode="auto">
          <a:xfrm>
            <a:off x="1835871" y="3917790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上位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従事者</a:t>
            </a:r>
            <a:endParaRPr kumimoji="0" lang="en-US" altLang="ja-JP" sz="1200" dirty="0">
              <a:solidFill>
                <a:srgbClr val="000000"/>
              </a:solidFill>
            </a:endParaRPr>
          </a:p>
        </p:txBody>
      </p:sp>
      <p:sp>
        <p:nvSpPr>
          <p:cNvPr id="103" name="正方形/長方形 102"/>
          <p:cNvSpPr>
            <a:spLocks noChangeArrowheads="1"/>
          </p:cNvSpPr>
          <p:nvPr/>
        </p:nvSpPr>
        <p:spPr bwMode="auto">
          <a:xfrm>
            <a:off x="1835871" y="4579714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全従事者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04" name="正方形/長方形 103"/>
          <p:cNvSpPr>
            <a:spLocks noChangeArrowheads="1"/>
          </p:cNvSpPr>
          <p:nvPr/>
        </p:nvSpPr>
        <p:spPr bwMode="auto">
          <a:xfrm>
            <a:off x="1835871" y="5241638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全従事者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sp>
        <p:nvSpPr>
          <p:cNvPr id="105" name="正方形/長方形 104"/>
          <p:cNvSpPr>
            <a:spLocks noChangeArrowheads="1"/>
          </p:cNvSpPr>
          <p:nvPr/>
        </p:nvSpPr>
        <p:spPr bwMode="auto">
          <a:xfrm>
            <a:off x="1835871" y="5903562"/>
            <a:ext cx="158400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全従事者</a:t>
            </a:r>
            <a:endParaRPr kumimoji="0" lang="ja-JP" altLang="en-US" sz="1200" dirty="0">
              <a:solidFill>
                <a:srgbClr val="000000"/>
              </a:solidFill>
            </a:endParaRPr>
          </a:p>
        </p:txBody>
      </p:sp>
      <p:cxnSp>
        <p:nvCxnSpPr>
          <p:cNvPr id="130" name="直線コネクタ 129"/>
          <p:cNvCxnSpPr/>
          <p:nvPr/>
        </p:nvCxnSpPr>
        <p:spPr>
          <a:xfrm flipH="1">
            <a:off x="1763511" y="654109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グループ化 18"/>
          <p:cNvGrpSpPr/>
          <p:nvPr/>
        </p:nvGrpSpPr>
        <p:grpSpPr>
          <a:xfrm>
            <a:off x="3347863" y="1186970"/>
            <a:ext cx="1522171" cy="385655"/>
            <a:chOff x="3929058" y="1645500"/>
            <a:chExt cx="2952000" cy="311114"/>
          </a:xfrm>
        </p:grpSpPr>
        <p:sp>
          <p:nvSpPr>
            <p:cNvPr id="132" name="正方形/長方形 131"/>
            <p:cNvSpPr/>
            <p:nvPr/>
          </p:nvSpPr>
          <p:spPr>
            <a:xfrm>
              <a:off x="3929058" y="1645500"/>
              <a:ext cx="2952000" cy="288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200" b="1" dirty="0" smtClean="0">
                  <a:solidFill>
                    <a:srgbClr val="333333"/>
                  </a:solidFill>
                </a:rPr>
                <a:t>ターゲット顧客</a:t>
              </a:r>
              <a:endParaRPr lang="ja-JP" altLang="en-US" sz="1200" b="1" dirty="0">
                <a:solidFill>
                  <a:srgbClr val="333333"/>
                </a:solidFill>
              </a:endParaRPr>
            </a:p>
          </p:txBody>
        </p:sp>
        <p:cxnSp>
          <p:nvCxnSpPr>
            <p:cNvPr id="133" name="直線コネクタ 132"/>
            <p:cNvCxnSpPr/>
            <p:nvPr/>
          </p:nvCxnSpPr>
          <p:spPr>
            <a:xfrm>
              <a:off x="3929058" y="1956614"/>
              <a:ext cx="2952000" cy="0"/>
            </a:xfrm>
            <a:prstGeom prst="line">
              <a:avLst/>
            </a:prstGeom>
            <a:ln w="28575">
              <a:solidFill>
                <a:srgbClr val="FFE1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グループ化 18"/>
          <p:cNvGrpSpPr/>
          <p:nvPr/>
        </p:nvGrpSpPr>
        <p:grpSpPr>
          <a:xfrm>
            <a:off x="4932039" y="1186970"/>
            <a:ext cx="1522172" cy="385655"/>
            <a:chOff x="3929057" y="1645500"/>
            <a:chExt cx="2952001" cy="311114"/>
          </a:xfrm>
        </p:grpSpPr>
        <p:sp>
          <p:nvSpPr>
            <p:cNvPr id="135" name="正方形/長方形 134"/>
            <p:cNvSpPr/>
            <p:nvPr/>
          </p:nvSpPr>
          <p:spPr>
            <a:xfrm>
              <a:off x="3929057" y="1645500"/>
              <a:ext cx="2952000" cy="288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b="1" dirty="0" smtClean="0">
                  <a:solidFill>
                    <a:srgbClr val="333333"/>
                  </a:solidFill>
                </a:rPr>
                <a:t>CP</a:t>
              </a:r>
              <a:r>
                <a:rPr lang="ja-JP" altLang="en-US" sz="1200" b="1" dirty="0" smtClean="0">
                  <a:solidFill>
                    <a:srgbClr val="333333"/>
                  </a:solidFill>
                </a:rPr>
                <a:t>スキル</a:t>
              </a:r>
              <a:endParaRPr lang="ja-JP" altLang="en-US" sz="1200" b="1" dirty="0">
                <a:solidFill>
                  <a:srgbClr val="333333"/>
                </a:solidFill>
              </a:endParaRPr>
            </a:p>
          </p:txBody>
        </p:sp>
        <p:cxnSp>
          <p:nvCxnSpPr>
            <p:cNvPr id="136" name="直線コネクタ 135"/>
            <p:cNvCxnSpPr/>
            <p:nvPr/>
          </p:nvCxnSpPr>
          <p:spPr>
            <a:xfrm>
              <a:off x="3929058" y="1956614"/>
              <a:ext cx="2952000" cy="0"/>
            </a:xfrm>
            <a:prstGeom prst="line">
              <a:avLst/>
            </a:prstGeom>
            <a:ln w="28575">
              <a:solidFill>
                <a:srgbClr val="FFE1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7" name="直線コネクタ 136"/>
          <p:cNvCxnSpPr/>
          <p:nvPr/>
        </p:nvCxnSpPr>
        <p:spPr>
          <a:xfrm flipH="1">
            <a:off x="3348319" y="256954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137"/>
          <p:cNvCxnSpPr/>
          <p:nvPr/>
        </p:nvCxnSpPr>
        <p:spPr>
          <a:xfrm flipH="1" flipV="1">
            <a:off x="3348319" y="3231468"/>
            <a:ext cx="1511872" cy="464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/>
          <p:cNvCxnSpPr/>
          <p:nvPr/>
        </p:nvCxnSpPr>
        <p:spPr>
          <a:xfrm flipH="1" flipV="1">
            <a:off x="3348319" y="3893392"/>
            <a:ext cx="1511872" cy="4118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/>
          <p:cNvCxnSpPr/>
          <p:nvPr/>
        </p:nvCxnSpPr>
        <p:spPr>
          <a:xfrm flipH="1">
            <a:off x="3348319" y="4555316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コネクタ 140"/>
          <p:cNvCxnSpPr/>
          <p:nvPr/>
        </p:nvCxnSpPr>
        <p:spPr>
          <a:xfrm flipH="1" flipV="1">
            <a:off x="3348319" y="5217241"/>
            <a:ext cx="1511872" cy="6574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コネクタ 141"/>
          <p:cNvCxnSpPr/>
          <p:nvPr/>
        </p:nvCxnSpPr>
        <p:spPr>
          <a:xfrm flipH="1">
            <a:off x="3348319" y="587916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コネクタ 142"/>
          <p:cNvCxnSpPr/>
          <p:nvPr/>
        </p:nvCxnSpPr>
        <p:spPr>
          <a:xfrm rot="5400000">
            <a:off x="3096023" y="223858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143"/>
          <p:cNvCxnSpPr/>
          <p:nvPr/>
        </p:nvCxnSpPr>
        <p:spPr>
          <a:xfrm rot="5400000">
            <a:off x="3096023" y="290166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コネクタ 144"/>
          <p:cNvCxnSpPr/>
          <p:nvPr/>
        </p:nvCxnSpPr>
        <p:spPr>
          <a:xfrm rot="5400000">
            <a:off x="3096023" y="3564750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コネクタ 145"/>
          <p:cNvCxnSpPr/>
          <p:nvPr/>
        </p:nvCxnSpPr>
        <p:spPr>
          <a:xfrm rot="5400000">
            <a:off x="3096023" y="4227834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コネクタ 146"/>
          <p:cNvCxnSpPr/>
          <p:nvPr/>
        </p:nvCxnSpPr>
        <p:spPr>
          <a:xfrm rot="5400000">
            <a:off x="3096023" y="4890918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コネクタ 147"/>
          <p:cNvCxnSpPr/>
          <p:nvPr/>
        </p:nvCxnSpPr>
        <p:spPr>
          <a:xfrm rot="5400000">
            <a:off x="3096023" y="555400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/>
          <p:cNvCxnSpPr/>
          <p:nvPr/>
        </p:nvCxnSpPr>
        <p:spPr>
          <a:xfrm rot="5400000">
            <a:off x="3096022" y="621708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正方形/長方形 149"/>
          <p:cNvSpPr>
            <a:spLocks noChangeArrowheads="1"/>
          </p:cNvSpPr>
          <p:nvPr/>
        </p:nvSpPr>
        <p:spPr bwMode="auto">
          <a:xfrm>
            <a:off x="3420207" y="1932018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社福・医療法人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大手事業所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900" dirty="0" smtClean="0">
                <a:solidFill>
                  <a:srgbClr val="000000"/>
                </a:solidFill>
              </a:rPr>
              <a:t>(</a:t>
            </a:r>
            <a:r>
              <a:rPr kumimoji="0" lang="ja-JP" altLang="en-US" sz="900" dirty="0" smtClean="0">
                <a:solidFill>
                  <a:srgbClr val="000000"/>
                </a:solidFill>
              </a:rPr>
              <a:t>経済余裕・困窮が条件</a:t>
            </a:r>
            <a:r>
              <a:rPr kumimoji="0" lang="en-US" altLang="ja-JP" sz="900" dirty="0" smtClean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51" name="正方形/長方形 150"/>
          <p:cNvSpPr>
            <a:spLocks noChangeArrowheads="1"/>
          </p:cNvSpPr>
          <p:nvPr/>
        </p:nvSpPr>
        <p:spPr bwMode="auto">
          <a:xfrm>
            <a:off x="3420207" y="2593942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社福・医療法人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大手・中堅事業所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900" dirty="0">
                <a:solidFill>
                  <a:srgbClr val="000000"/>
                </a:solidFill>
              </a:rPr>
              <a:t>(</a:t>
            </a:r>
            <a:r>
              <a:rPr kumimoji="0" lang="ja-JP" altLang="en-US" sz="900" dirty="0">
                <a:solidFill>
                  <a:srgbClr val="000000"/>
                </a:solidFill>
              </a:rPr>
              <a:t>経済余裕・困窮が条件</a:t>
            </a:r>
            <a:r>
              <a:rPr kumimoji="0" lang="en-US" altLang="ja-JP" sz="900" dirty="0" smtClean="0">
                <a:solidFill>
                  <a:srgbClr val="000000"/>
                </a:solidFill>
              </a:rPr>
              <a:t>)</a:t>
            </a:r>
            <a:endParaRPr kumimoji="0" lang="en-US" altLang="ja-JP" sz="900" dirty="0">
              <a:solidFill>
                <a:srgbClr val="000000"/>
              </a:solidFill>
            </a:endParaRPr>
          </a:p>
        </p:txBody>
      </p:sp>
      <p:sp>
        <p:nvSpPr>
          <p:cNvPr id="152" name="正方形/長方形 151"/>
          <p:cNvSpPr>
            <a:spLocks noChangeArrowheads="1"/>
          </p:cNvSpPr>
          <p:nvPr/>
        </p:nvSpPr>
        <p:spPr bwMode="auto">
          <a:xfrm>
            <a:off x="3420207" y="3255866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社福・医療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法人</a:t>
            </a:r>
            <a:endParaRPr kumimoji="0" lang="en-US" altLang="ja-JP" sz="900" dirty="0" smtClean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一部大手・中堅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900" dirty="0" smtClean="0">
                <a:solidFill>
                  <a:srgbClr val="000000"/>
                </a:solidFill>
              </a:rPr>
              <a:t>(</a:t>
            </a:r>
            <a:r>
              <a:rPr kumimoji="0" lang="ja-JP" altLang="en-US" sz="900" dirty="0" smtClean="0">
                <a:solidFill>
                  <a:srgbClr val="000000"/>
                </a:solidFill>
              </a:rPr>
              <a:t>経済余裕・困窮が条件</a:t>
            </a:r>
            <a:r>
              <a:rPr kumimoji="0" lang="en-US" altLang="ja-JP" sz="900" dirty="0" smtClean="0">
                <a:solidFill>
                  <a:srgbClr val="000000"/>
                </a:solidFill>
              </a:rPr>
              <a:t>)</a:t>
            </a:r>
            <a:endParaRPr kumimoji="0" lang="en-US" altLang="ja-JP" sz="900" dirty="0">
              <a:solidFill>
                <a:srgbClr val="000000"/>
              </a:solidFill>
            </a:endParaRPr>
          </a:p>
        </p:txBody>
      </p:sp>
      <p:sp>
        <p:nvSpPr>
          <p:cNvPr id="153" name="正方形/長方形 152"/>
          <p:cNvSpPr>
            <a:spLocks noChangeArrowheads="1"/>
          </p:cNvSpPr>
          <p:nvPr/>
        </p:nvSpPr>
        <p:spPr bwMode="auto">
          <a:xfrm>
            <a:off x="3420207" y="3917790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社福・医療法人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大手・中小事業所</a:t>
            </a:r>
            <a:endParaRPr kumimoji="0" lang="en-US" altLang="ja-JP" sz="1200" dirty="0" smtClean="0">
              <a:solidFill>
                <a:srgbClr val="000000"/>
              </a:solidFill>
            </a:endParaRPr>
          </a:p>
        </p:txBody>
      </p:sp>
      <p:sp>
        <p:nvSpPr>
          <p:cNvPr id="154" name="正方形/長方形 153"/>
          <p:cNvSpPr>
            <a:spLocks noChangeArrowheads="1"/>
          </p:cNvSpPr>
          <p:nvPr/>
        </p:nvSpPr>
        <p:spPr bwMode="auto">
          <a:xfrm>
            <a:off x="3420207" y="4579714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社福・医療法人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大手・中小事業所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900" dirty="0">
                <a:solidFill>
                  <a:srgbClr val="000000"/>
                </a:solidFill>
              </a:rPr>
              <a:t>(</a:t>
            </a:r>
            <a:r>
              <a:rPr kumimoji="0" lang="ja-JP" altLang="en-US" sz="900" dirty="0">
                <a:solidFill>
                  <a:srgbClr val="000000"/>
                </a:solidFill>
              </a:rPr>
              <a:t>困窮が条件</a:t>
            </a:r>
            <a:r>
              <a:rPr kumimoji="0" lang="en-US" altLang="ja-JP" sz="900" dirty="0" smtClean="0">
                <a:solidFill>
                  <a:srgbClr val="000000"/>
                </a:solidFill>
              </a:rPr>
              <a:t>)</a:t>
            </a:r>
            <a:endParaRPr kumimoji="0" lang="en-US" altLang="ja-JP" sz="900" dirty="0">
              <a:solidFill>
                <a:srgbClr val="000000"/>
              </a:solidFill>
            </a:endParaRPr>
          </a:p>
        </p:txBody>
      </p:sp>
      <p:sp>
        <p:nvSpPr>
          <p:cNvPr id="155" name="正方形/長方形 154"/>
          <p:cNvSpPr>
            <a:spLocks noChangeArrowheads="1"/>
          </p:cNvSpPr>
          <p:nvPr/>
        </p:nvSpPr>
        <p:spPr bwMode="auto">
          <a:xfrm>
            <a:off x="3420207" y="5241638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社福・医療法人</a:t>
            </a:r>
            <a:endParaRPr kumimoji="0" lang="en-US" altLang="ja-JP" sz="1200" dirty="0">
              <a:solidFill>
                <a:srgbClr val="000000"/>
              </a:solidFill>
            </a:endParaRPr>
          </a:p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rgbClr val="000000"/>
                </a:solidFill>
              </a:rPr>
              <a:t>大手・</a:t>
            </a:r>
            <a:r>
              <a:rPr kumimoji="0" lang="ja-JP" altLang="en-US" sz="1200" dirty="0" smtClean="0">
                <a:solidFill>
                  <a:srgbClr val="000000"/>
                </a:solidFill>
              </a:rPr>
              <a:t>中小事業所</a:t>
            </a:r>
            <a:endParaRPr kumimoji="0" lang="en-US" altLang="ja-JP" sz="1200" dirty="0">
              <a:solidFill>
                <a:srgbClr val="000000"/>
              </a:solidFill>
            </a:endParaRPr>
          </a:p>
        </p:txBody>
      </p:sp>
      <p:sp>
        <p:nvSpPr>
          <p:cNvPr id="156" name="正方形/長方形 155"/>
          <p:cNvSpPr>
            <a:spLocks noChangeArrowheads="1"/>
          </p:cNvSpPr>
          <p:nvPr/>
        </p:nvSpPr>
        <p:spPr bwMode="auto">
          <a:xfrm>
            <a:off x="3420207" y="5903562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 smtClean="0">
                <a:solidFill>
                  <a:srgbClr val="000000"/>
                </a:solidFill>
              </a:rPr>
              <a:t>全ての介護事業所</a:t>
            </a:r>
            <a:endParaRPr kumimoji="0" lang="en-US" altLang="ja-JP" sz="1200" dirty="0">
              <a:solidFill>
                <a:srgbClr val="000000"/>
              </a:solidFill>
            </a:endParaRPr>
          </a:p>
        </p:txBody>
      </p:sp>
      <p:cxnSp>
        <p:nvCxnSpPr>
          <p:cNvPr id="157" name="直線コネクタ 156"/>
          <p:cNvCxnSpPr/>
          <p:nvPr/>
        </p:nvCxnSpPr>
        <p:spPr>
          <a:xfrm flipH="1">
            <a:off x="3347847" y="654109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コネクタ 164"/>
          <p:cNvCxnSpPr/>
          <p:nvPr/>
        </p:nvCxnSpPr>
        <p:spPr>
          <a:xfrm flipH="1">
            <a:off x="4932511" y="256954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コネクタ 165"/>
          <p:cNvCxnSpPr/>
          <p:nvPr/>
        </p:nvCxnSpPr>
        <p:spPr>
          <a:xfrm flipH="1" flipV="1">
            <a:off x="4932511" y="3231468"/>
            <a:ext cx="1511872" cy="464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コネクタ 166"/>
          <p:cNvCxnSpPr/>
          <p:nvPr/>
        </p:nvCxnSpPr>
        <p:spPr>
          <a:xfrm flipH="1" flipV="1">
            <a:off x="4932511" y="3893392"/>
            <a:ext cx="1511872" cy="4118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67"/>
          <p:cNvCxnSpPr/>
          <p:nvPr/>
        </p:nvCxnSpPr>
        <p:spPr>
          <a:xfrm flipH="1">
            <a:off x="4932511" y="4555316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コネクタ 168"/>
          <p:cNvCxnSpPr/>
          <p:nvPr/>
        </p:nvCxnSpPr>
        <p:spPr>
          <a:xfrm flipH="1" flipV="1">
            <a:off x="4932511" y="5217241"/>
            <a:ext cx="1511872" cy="6574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コネクタ 169"/>
          <p:cNvCxnSpPr/>
          <p:nvPr/>
        </p:nvCxnSpPr>
        <p:spPr>
          <a:xfrm flipH="1">
            <a:off x="4932511" y="587916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コネクタ 170"/>
          <p:cNvCxnSpPr/>
          <p:nvPr/>
        </p:nvCxnSpPr>
        <p:spPr>
          <a:xfrm rot="5400000">
            <a:off x="4680215" y="223858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コネクタ 171"/>
          <p:cNvCxnSpPr/>
          <p:nvPr/>
        </p:nvCxnSpPr>
        <p:spPr>
          <a:xfrm rot="5400000">
            <a:off x="4680215" y="290166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コネクタ 172"/>
          <p:cNvCxnSpPr/>
          <p:nvPr/>
        </p:nvCxnSpPr>
        <p:spPr>
          <a:xfrm rot="5400000">
            <a:off x="4680215" y="3564750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コネクタ 173"/>
          <p:cNvCxnSpPr/>
          <p:nvPr/>
        </p:nvCxnSpPr>
        <p:spPr>
          <a:xfrm rot="5400000">
            <a:off x="4680215" y="4227834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コネクタ 174"/>
          <p:cNvCxnSpPr/>
          <p:nvPr/>
        </p:nvCxnSpPr>
        <p:spPr>
          <a:xfrm rot="5400000">
            <a:off x="4680215" y="4890918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コネクタ 175"/>
          <p:cNvCxnSpPr/>
          <p:nvPr/>
        </p:nvCxnSpPr>
        <p:spPr>
          <a:xfrm rot="5400000">
            <a:off x="4680215" y="555400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線コネクタ 176"/>
          <p:cNvCxnSpPr/>
          <p:nvPr/>
        </p:nvCxnSpPr>
        <p:spPr>
          <a:xfrm rot="5400000">
            <a:off x="4680214" y="621708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正方形/長方形 177"/>
          <p:cNvSpPr>
            <a:spLocks noChangeArrowheads="1"/>
          </p:cNvSpPr>
          <p:nvPr/>
        </p:nvSpPr>
        <p:spPr bwMode="auto">
          <a:xfrm>
            <a:off x="5004399" y="1932018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 smtClean="0">
                <a:solidFill>
                  <a:srgbClr val="000000"/>
                </a:solidFill>
              </a:rPr>
              <a:t>中</a:t>
            </a:r>
            <a:endParaRPr kumimoji="0" lang="en-US" altLang="ja-JP" sz="1400" dirty="0" smtClean="0">
              <a:solidFill>
                <a:srgbClr val="000000"/>
              </a:solidFill>
            </a:endParaRPr>
          </a:p>
        </p:txBody>
      </p:sp>
      <p:sp>
        <p:nvSpPr>
          <p:cNvPr id="179" name="正方形/長方形 178"/>
          <p:cNvSpPr>
            <a:spLocks noChangeArrowheads="1"/>
          </p:cNvSpPr>
          <p:nvPr/>
        </p:nvSpPr>
        <p:spPr bwMode="auto">
          <a:xfrm>
            <a:off x="5004399" y="2593942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 smtClean="0">
                <a:solidFill>
                  <a:srgbClr val="000000"/>
                </a:solidFill>
              </a:rPr>
              <a:t>高</a:t>
            </a:r>
            <a:endParaRPr kumimoji="0" lang="en-US" altLang="ja-JP" sz="1400" dirty="0" smtClean="0">
              <a:solidFill>
                <a:srgbClr val="000000"/>
              </a:solidFill>
            </a:endParaRPr>
          </a:p>
        </p:txBody>
      </p:sp>
      <p:sp>
        <p:nvSpPr>
          <p:cNvPr id="180" name="正方形/長方形 179"/>
          <p:cNvSpPr>
            <a:spLocks noChangeArrowheads="1"/>
          </p:cNvSpPr>
          <p:nvPr/>
        </p:nvSpPr>
        <p:spPr bwMode="auto">
          <a:xfrm>
            <a:off x="5004399" y="3255866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 smtClean="0">
                <a:solidFill>
                  <a:srgbClr val="000000"/>
                </a:solidFill>
              </a:rPr>
              <a:t>中</a:t>
            </a:r>
            <a:endParaRPr kumimoji="0" lang="en-US" altLang="ja-JP" sz="1400" dirty="0" smtClean="0">
              <a:solidFill>
                <a:srgbClr val="000000"/>
              </a:solidFill>
            </a:endParaRPr>
          </a:p>
        </p:txBody>
      </p:sp>
      <p:sp>
        <p:nvSpPr>
          <p:cNvPr id="181" name="正方形/長方形 180"/>
          <p:cNvSpPr>
            <a:spLocks noChangeArrowheads="1"/>
          </p:cNvSpPr>
          <p:nvPr/>
        </p:nvSpPr>
        <p:spPr bwMode="auto">
          <a:xfrm>
            <a:off x="5004399" y="3917790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 smtClean="0">
                <a:solidFill>
                  <a:srgbClr val="000000"/>
                </a:solidFill>
              </a:rPr>
              <a:t>中</a:t>
            </a:r>
            <a:endParaRPr kumimoji="0" lang="en-US" altLang="ja-JP" sz="1400" dirty="0" smtClean="0">
              <a:solidFill>
                <a:srgbClr val="000000"/>
              </a:solidFill>
            </a:endParaRPr>
          </a:p>
        </p:txBody>
      </p:sp>
      <p:sp>
        <p:nvSpPr>
          <p:cNvPr id="182" name="正方形/長方形 181"/>
          <p:cNvSpPr>
            <a:spLocks noChangeArrowheads="1"/>
          </p:cNvSpPr>
          <p:nvPr/>
        </p:nvSpPr>
        <p:spPr bwMode="auto">
          <a:xfrm>
            <a:off x="5004399" y="4579714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 smtClean="0">
                <a:solidFill>
                  <a:srgbClr val="000000"/>
                </a:solidFill>
              </a:rPr>
              <a:t>低</a:t>
            </a:r>
            <a:endParaRPr kumimoji="0" lang="en-US" altLang="ja-JP" sz="1400" dirty="0" smtClean="0">
              <a:solidFill>
                <a:srgbClr val="000000"/>
              </a:solidFill>
            </a:endParaRPr>
          </a:p>
        </p:txBody>
      </p:sp>
      <p:sp>
        <p:nvSpPr>
          <p:cNvPr id="183" name="正方形/長方形 182"/>
          <p:cNvSpPr>
            <a:spLocks noChangeArrowheads="1"/>
          </p:cNvSpPr>
          <p:nvPr/>
        </p:nvSpPr>
        <p:spPr bwMode="auto">
          <a:xfrm>
            <a:off x="5004399" y="5241638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 smtClean="0">
                <a:solidFill>
                  <a:srgbClr val="000000"/>
                </a:solidFill>
              </a:rPr>
              <a:t>低</a:t>
            </a:r>
            <a:endParaRPr kumimoji="0" lang="en-US" altLang="ja-JP" sz="1050" dirty="0">
              <a:solidFill>
                <a:srgbClr val="000000"/>
              </a:solidFill>
            </a:endParaRPr>
          </a:p>
        </p:txBody>
      </p:sp>
      <p:sp>
        <p:nvSpPr>
          <p:cNvPr id="184" name="正方形/長方形 183"/>
          <p:cNvSpPr>
            <a:spLocks noChangeArrowheads="1"/>
          </p:cNvSpPr>
          <p:nvPr/>
        </p:nvSpPr>
        <p:spPr bwMode="auto">
          <a:xfrm>
            <a:off x="5004399" y="5903562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400" dirty="0" smtClean="0">
                <a:solidFill>
                  <a:srgbClr val="000000"/>
                </a:solidFill>
              </a:rPr>
              <a:t>低</a:t>
            </a:r>
            <a:endParaRPr kumimoji="0" lang="en-US" altLang="ja-JP" sz="1000" dirty="0">
              <a:solidFill>
                <a:srgbClr val="000000"/>
              </a:solidFill>
            </a:endParaRPr>
          </a:p>
        </p:txBody>
      </p:sp>
      <p:cxnSp>
        <p:nvCxnSpPr>
          <p:cNvPr id="185" name="直線コネクタ 184"/>
          <p:cNvCxnSpPr/>
          <p:nvPr/>
        </p:nvCxnSpPr>
        <p:spPr>
          <a:xfrm flipH="1">
            <a:off x="4932039" y="654109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グループ化 18"/>
          <p:cNvGrpSpPr/>
          <p:nvPr/>
        </p:nvGrpSpPr>
        <p:grpSpPr>
          <a:xfrm>
            <a:off x="6506196" y="1186970"/>
            <a:ext cx="1522172" cy="385655"/>
            <a:chOff x="3929057" y="1645500"/>
            <a:chExt cx="2952001" cy="311114"/>
          </a:xfrm>
        </p:grpSpPr>
        <p:sp>
          <p:nvSpPr>
            <p:cNvPr id="187" name="正方形/長方形 186"/>
            <p:cNvSpPr/>
            <p:nvPr/>
          </p:nvSpPr>
          <p:spPr>
            <a:xfrm>
              <a:off x="3929057" y="1645500"/>
              <a:ext cx="2952000" cy="2880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200" b="1" dirty="0" smtClean="0">
                  <a:solidFill>
                    <a:srgbClr val="333333"/>
                  </a:solidFill>
                </a:rPr>
                <a:t>オポチュニティー</a:t>
              </a:r>
              <a:endParaRPr lang="en-US" altLang="ja-JP" sz="1200" b="1" dirty="0" smtClean="0">
                <a:solidFill>
                  <a:srgbClr val="333333"/>
                </a:solidFill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200" b="1" dirty="0" smtClean="0">
                  <a:solidFill>
                    <a:srgbClr val="333333"/>
                  </a:solidFill>
                </a:rPr>
                <a:t>紹介合計金額</a:t>
              </a:r>
              <a:endParaRPr lang="ja-JP" altLang="en-US" sz="1200" b="1" dirty="0">
                <a:solidFill>
                  <a:srgbClr val="333333"/>
                </a:solidFill>
              </a:endParaRPr>
            </a:p>
          </p:txBody>
        </p:sp>
        <p:cxnSp>
          <p:nvCxnSpPr>
            <p:cNvPr id="188" name="直線コネクタ 187"/>
            <p:cNvCxnSpPr/>
            <p:nvPr/>
          </p:nvCxnSpPr>
          <p:spPr>
            <a:xfrm>
              <a:off x="3929058" y="1956614"/>
              <a:ext cx="2952000" cy="0"/>
            </a:xfrm>
            <a:prstGeom prst="line">
              <a:avLst/>
            </a:prstGeom>
            <a:ln w="28575">
              <a:solidFill>
                <a:srgbClr val="FFE1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9" name="直線コネクタ 188"/>
          <p:cNvCxnSpPr/>
          <p:nvPr/>
        </p:nvCxnSpPr>
        <p:spPr>
          <a:xfrm flipH="1">
            <a:off x="6506668" y="256954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コネクタ 189"/>
          <p:cNvCxnSpPr/>
          <p:nvPr/>
        </p:nvCxnSpPr>
        <p:spPr>
          <a:xfrm flipH="1" flipV="1">
            <a:off x="6506668" y="3231468"/>
            <a:ext cx="1511872" cy="464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コネクタ 190"/>
          <p:cNvCxnSpPr/>
          <p:nvPr/>
        </p:nvCxnSpPr>
        <p:spPr>
          <a:xfrm flipH="1" flipV="1">
            <a:off x="6506668" y="3893392"/>
            <a:ext cx="1511872" cy="4118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コネクタ 191"/>
          <p:cNvCxnSpPr/>
          <p:nvPr/>
        </p:nvCxnSpPr>
        <p:spPr>
          <a:xfrm flipH="1">
            <a:off x="6506668" y="4555316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コネクタ 192"/>
          <p:cNvCxnSpPr/>
          <p:nvPr/>
        </p:nvCxnSpPr>
        <p:spPr>
          <a:xfrm flipH="1" flipV="1">
            <a:off x="6506668" y="5217241"/>
            <a:ext cx="1511872" cy="6574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コネクタ 193"/>
          <p:cNvCxnSpPr/>
          <p:nvPr/>
        </p:nvCxnSpPr>
        <p:spPr>
          <a:xfrm flipH="1">
            <a:off x="6506668" y="587916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コネクタ 194"/>
          <p:cNvCxnSpPr/>
          <p:nvPr/>
        </p:nvCxnSpPr>
        <p:spPr>
          <a:xfrm rot="5400000">
            <a:off x="6254372" y="223858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コネクタ 195"/>
          <p:cNvCxnSpPr/>
          <p:nvPr/>
        </p:nvCxnSpPr>
        <p:spPr>
          <a:xfrm rot="5400000">
            <a:off x="6254372" y="290166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コネクタ 196"/>
          <p:cNvCxnSpPr/>
          <p:nvPr/>
        </p:nvCxnSpPr>
        <p:spPr>
          <a:xfrm rot="5400000">
            <a:off x="6254372" y="3564750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コネクタ 197"/>
          <p:cNvCxnSpPr/>
          <p:nvPr/>
        </p:nvCxnSpPr>
        <p:spPr>
          <a:xfrm rot="5400000">
            <a:off x="6254372" y="4227834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コネクタ 198"/>
          <p:cNvCxnSpPr/>
          <p:nvPr/>
        </p:nvCxnSpPr>
        <p:spPr>
          <a:xfrm rot="5400000">
            <a:off x="6254372" y="4890918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コネクタ 199"/>
          <p:cNvCxnSpPr/>
          <p:nvPr/>
        </p:nvCxnSpPr>
        <p:spPr>
          <a:xfrm rot="5400000">
            <a:off x="6254372" y="555400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コネクタ 200"/>
          <p:cNvCxnSpPr/>
          <p:nvPr/>
        </p:nvCxnSpPr>
        <p:spPr>
          <a:xfrm rot="5400000">
            <a:off x="6254371" y="621708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正方形/長方形 201"/>
          <p:cNvSpPr>
            <a:spLocks noChangeArrowheads="1"/>
          </p:cNvSpPr>
          <p:nvPr/>
        </p:nvSpPr>
        <p:spPr bwMode="auto">
          <a:xfrm>
            <a:off x="6578556" y="1932018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dirty="0" smtClean="0">
                <a:solidFill>
                  <a:srgbClr val="000000"/>
                </a:solidFill>
              </a:rPr>
              <a:t>△</a:t>
            </a:r>
            <a:endParaRPr kumimoji="0" lang="en-US" altLang="ja-JP" dirty="0" smtClean="0">
              <a:solidFill>
                <a:srgbClr val="000000"/>
              </a:solidFill>
            </a:endParaRPr>
          </a:p>
        </p:txBody>
      </p:sp>
      <p:sp>
        <p:nvSpPr>
          <p:cNvPr id="203" name="正方形/長方形 202"/>
          <p:cNvSpPr>
            <a:spLocks noChangeArrowheads="1"/>
          </p:cNvSpPr>
          <p:nvPr/>
        </p:nvSpPr>
        <p:spPr bwMode="auto">
          <a:xfrm>
            <a:off x="6578556" y="2593942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dirty="0" smtClean="0">
                <a:solidFill>
                  <a:srgbClr val="000000"/>
                </a:solidFill>
              </a:rPr>
              <a:t>◎</a:t>
            </a:r>
            <a:endParaRPr kumimoji="0" lang="en-US" altLang="ja-JP" dirty="0">
              <a:solidFill>
                <a:srgbClr val="000000"/>
              </a:solidFill>
            </a:endParaRPr>
          </a:p>
        </p:txBody>
      </p:sp>
      <p:sp>
        <p:nvSpPr>
          <p:cNvPr id="204" name="正方形/長方形 203"/>
          <p:cNvSpPr>
            <a:spLocks noChangeArrowheads="1"/>
          </p:cNvSpPr>
          <p:nvPr/>
        </p:nvSpPr>
        <p:spPr bwMode="auto">
          <a:xfrm>
            <a:off x="6578556" y="3255866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dirty="0" smtClean="0">
                <a:solidFill>
                  <a:srgbClr val="000000"/>
                </a:solidFill>
              </a:rPr>
              <a:t>○</a:t>
            </a:r>
            <a:endParaRPr kumimoji="0" lang="en-US" altLang="ja-JP" dirty="0">
              <a:solidFill>
                <a:srgbClr val="000000"/>
              </a:solidFill>
            </a:endParaRPr>
          </a:p>
        </p:txBody>
      </p:sp>
      <p:sp>
        <p:nvSpPr>
          <p:cNvPr id="205" name="正方形/長方形 204"/>
          <p:cNvSpPr>
            <a:spLocks noChangeArrowheads="1"/>
          </p:cNvSpPr>
          <p:nvPr/>
        </p:nvSpPr>
        <p:spPr bwMode="auto">
          <a:xfrm>
            <a:off x="6578556" y="3917790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dirty="0" smtClean="0">
                <a:solidFill>
                  <a:srgbClr val="000000"/>
                </a:solidFill>
              </a:rPr>
              <a:t>△</a:t>
            </a:r>
            <a:endParaRPr kumimoji="0" lang="en-US" altLang="ja-JP" dirty="0">
              <a:solidFill>
                <a:srgbClr val="000000"/>
              </a:solidFill>
            </a:endParaRPr>
          </a:p>
        </p:txBody>
      </p:sp>
      <p:sp>
        <p:nvSpPr>
          <p:cNvPr id="206" name="正方形/長方形 205"/>
          <p:cNvSpPr>
            <a:spLocks noChangeArrowheads="1"/>
          </p:cNvSpPr>
          <p:nvPr/>
        </p:nvSpPr>
        <p:spPr bwMode="auto">
          <a:xfrm>
            <a:off x="6578556" y="4579714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dirty="0">
                <a:solidFill>
                  <a:srgbClr val="000000"/>
                </a:solidFill>
              </a:rPr>
              <a:t>×</a:t>
            </a:r>
          </a:p>
        </p:txBody>
      </p:sp>
      <p:sp>
        <p:nvSpPr>
          <p:cNvPr id="207" name="正方形/長方形 206"/>
          <p:cNvSpPr>
            <a:spLocks noChangeArrowheads="1"/>
          </p:cNvSpPr>
          <p:nvPr/>
        </p:nvSpPr>
        <p:spPr bwMode="auto">
          <a:xfrm>
            <a:off x="6578556" y="5241638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dirty="0">
                <a:solidFill>
                  <a:srgbClr val="000000"/>
                </a:solidFill>
              </a:rPr>
              <a:t>△</a:t>
            </a:r>
            <a:endParaRPr kumimoji="0" lang="en-US" altLang="ja-JP" dirty="0">
              <a:solidFill>
                <a:srgbClr val="000000"/>
              </a:solidFill>
            </a:endParaRPr>
          </a:p>
        </p:txBody>
      </p:sp>
      <p:sp>
        <p:nvSpPr>
          <p:cNvPr id="208" name="正方形/長方形 207"/>
          <p:cNvSpPr>
            <a:spLocks noChangeArrowheads="1"/>
          </p:cNvSpPr>
          <p:nvPr/>
        </p:nvSpPr>
        <p:spPr bwMode="auto">
          <a:xfrm>
            <a:off x="6578556" y="5903562"/>
            <a:ext cx="1449827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dirty="0" smtClean="0">
                <a:solidFill>
                  <a:srgbClr val="000000"/>
                </a:solidFill>
              </a:rPr>
              <a:t>×</a:t>
            </a:r>
            <a:endParaRPr kumimoji="0" lang="en-US" altLang="ja-JP" dirty="0">
              <a:solidFill>
                <a:srgbClr val="000000"/>
              </a:solidFill>
            </a:endParaRPr>
          </a:p>
        </p:txBody>
      </p:sp>
      <p:cxnSp>
        <p:nvCxnSpPr>
          <p:cNvPr id="209" name="直線コネクタ 208"/>
          <p:cNvCxnSpPr/>
          <p:nvPr/>
        </p:nvCxnSpPr>
        <p:spPr>
          <a:xfrm flipH="1">
            <a:off x="6506196" y="6541094"/>
            <a:ext cx="1511872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コネクタ 210"/>
          <p:cNvCxnSpPr/>
          <p:nvPr/>
        </p:nvCxnSpPr>
        <p:spPr>
          <a:xfrm flipH="1">
            <a:off x="8172871" y="2569544"/>
            <a:ext cx="699243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コネクタ 211"/>
          <p:cNvCxnSpPr/>
          <p:nvPr/>
        </p:nvCxnSpPr>
        <p:spPr>
          <a:xfrm flipH="1" flipV="1">
            <a:off x="8172871" y="3228902"/>
            <a:ext cx="699243" cy="7206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線コネクタ 212"/>
          <p:cNvCxnSpPr/>
          <p:nvPr/>
        </p:nvCxnSpPr>
        <p:spPr>
          <a:xfrm flipH="1" flipV="1">
            <a:off x="8172871" y="3891115"/>
            <a:ext cx="699243" cy="6395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線コネクタ 213"/>
          <p:cNvCxnSpPr/>
          <p:nvPr/>
        </p:nvCxnSpPr>
        <p:spPr>
          <a:xfrm flipH="1">
            <a:off x="8172871" y="4555316"/>
            <a:ext cx="699243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線コネクタ 214"/>
          <p:cNvCxnSpPr/>
          <p:nvPr/>
        </p:nvCxnSpPr>
        <p:spPr>
          <a:xfrm flipH="1" flipV="1">
            <a:off x="8172871" y="5213605"/>
            <a:ext cx="699243" cy="1021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線コネクタ 215"/>
          <p:cNvCxnSpPr/>
          <p:nvPr/>
        </p:nvCxnSpPr>
        <p:spPr>
          <a:xfrm flipH="1">
            <a:off x="8172871" y="5879164"/>
            <a:ext cx="699243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正方形/長方形 223"/>
          <p:cNvSpPr>
            <a:spLocks noChangeArrowheads="1"/>
          </p:cNvSpPr>
          <p:nvPr/>
        </p:nvSpPr>
        <p:spPr bwMode="auto">
          <a:xfrm>
            <a:off x="8158658" y="1932018"/>
            <a:ext cx="77928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dirty="0">
                <a:solidFill>
                  <a:srgbClr val="000000"/>
                </a:solidFill>
              </a:rPr>
              <a:t>3</a:t>
            </a:r>
            <a:endParaRPr kumimoji="0" lang="en-US" altLang="ja-JP" sz="2000" dirty="0" smtClean="0">
              <a:solidFill>
                <a:srgbClr val="000000"/>
              </a:solidFill>
            </a:endParaRPr>
          </a:p>
        </p:txBody>
      </p:sp>
      <p:sp>
        <p:nvSpPr>
          <p:cNvPr id="225" name="正方形/長方形 224"/>
          <p:cNvSpPr>
            <a:spLocks noChangeArrowheads="1"/>
          </p:cNvSpPr>
          <p:nvPr/>
        </p:nvSpPr>
        <p:spPr bwMode="auto">
          <a:xfrm>
            <a:off x="8158658" y="2593942"/>
            <a:ext cx="77928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26" name="正方形/長方形 225"/>
          <p:cNvSpPr>
            <a:spLocks noChangeArrowheads="1"/>
          </p:cNvSpPr>
          <p:nvPr/>
        </p:nvSpPr>
        <p:spPr bwMode="auto">
          <a:xfrm>
            <a:off x="8158658" y="3255866"/>
            <a:ext cx="77928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7" name="正方形/長方形 226"/>
          <p:cNvSpPr>
            <a:spLocks noChangeArrowheads="1"/>
          </p:cNvSpPr>
          <p:nvPr/>
        </p:nvSpPr>
        <p:spPr bwMode="auto">
          <a:xfrm>
            <a:off x="8158658" y="3917790"/>
            <a:ext cx="77928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dirty="0" smtClean="0">
                <a:solidFill>
                  <a:srgbClr val="000000"/>
                </a:solidFill>
              </a:rPr>
              <a:t>4</a:t>
            </a:r>
            <a:endParaRPr kumimoji="0" lang="en-US" altLang="ja-JP" sz="2000" dirty="0">
              <a:solidFill>
                <a:srgbClr val="000000"/>
              </a:solidFill>
            </a:endParaRPr>
          </a:p>
        </p:txBody>
      </p:sp>
      <p:sp>
        <p:nvSpPr>
          <p:cNvPr id="228" name="正方形/長方形 227"/>
          <p:cNvSpPr>
            <a:spLocks noChangeArrowheads="1"/>
          </p:cNvSpPr>
          <p:nvPr/>
        </p:nvSpPr>
        <p:spPr bwMode="auto">
          <a:xfrm>
            <a:off x="8158658" y="4579714"/>
            <a:ext cx="77928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dirty="0" smtClean="0">
                <a:solidFill>
                  <a:srgbClr val="000000"/>
                </a:solidFill>
              </a:rPr>
              <a:t>-</a:t>
            </a:r>
            <a:endParaRPr kumimoji="0" lang="en-US" altLang="ja-JP" sz="2000" dirty="0">
              <a:solidFill>
                <a:srgbClr val="000000"/>
              </a:solidFill>
            </a:endParaRPr>
          </a:p>
        </p:txBody>
      </p:sp>
      <p:sp>
        <p:nvSpPr>
          <p:cNvPr id="229" name="正方形/長方形 228"/>
          <p:cNvSpPr>
            <a:spLocks noChangeArrowheads="1"/>
          </p:cNvSpPr>
          <p:nvPr/>
        </p:nvSpPr>
        <p:spPr bwMode="auto">
          <a:xfrm>
            <a:off x="8158658" y="5241638"/>
            <a:ext cx="77928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dirty="0" smtClean="0">
                <a:solidFill>
                  <a:srgbClr val="000000"/>
                </a:solidFill>
              </a:rPr>
              <a:t>5</a:t>
            </a:r>
            <a:endParaRPr kumimoji="0" lang="en-US" altLang="ja-JP" sz="2000" dirty="0">
              <a:solidFill>
                <a:srgbClr val="000000"/>
              </a:solidFill>
            </a:endParaRPr>
          </a:p>
        </p:txBody>
      </p:sp>
      <p:sp>
        <p:nvSpPr>
          <p:cNvPr id="230" name="正方形/長方形 229"/>
          <p:cNvSpPr>
            <a:spLocks noChangeArrowheads="1"/>
          </p:cNvSpPr>
          <p:nvPr/>
        </p:nvSpPr>
        <p:spPr bwMode="auto">
          <a:xfrm>
            <a:off x="8158658" y="5903562"/>
            <a:ext cx="779280" cy="61200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000" dirty="0" smtClean="0">
                <a:solidFill>
                  <a:srgbClr val="000000"/>
                </a:solidFill>
              </a:rPr>
              <a:t>-</a:t>
            </a:r>
            <a:endParaRPr kumimoji="0" lang="en-US" altLang="ja-JP" sz="2000" dirty="0">
              <a:solidFill>
                <a:srgbClr val="000000"/>
              </a:solidFill>
            </a:endParaRPr>
          </a:p>
        </p:txBody>
      </p:sp>
      <p:cxnSp>
        <p:nvCxnSpPr>
          <p:cNvPr id="231" name="直線コネクタ 230"/>
          <p:cNvCxnSpPr/>
          <p:nvPr/>
        </p:nvCxnSpPr>
        <p:spPr>
          <a:xfrm flipH="1">
            <a:off x="8172399" y="6541094"/>
            <a:ext cx="699243" cy="0"/>
          </a:xfrm>
          <a:prstGeom prst="line">
            <a:avLst/>
          </a:prstGeom>
          <a:solidFill>
            <a:schemeClr val="bg1"/>
          </a:solidFill>
          <a:ln w="12700">
            <a:solidFill>
              <a:srgbClr val="FFE1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コネクタ 245"/>
          <p:cNvCxnSpPr/>
          <p:nvPr/>
        </p:nvCxnSpPr>
        <p:spPr>
          <a:xfrm rot="5400000">
            <a:off x="7850503" y="223858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コネクタ 246"/>
          <p:cNvCxnSpPr/>
          <p:nvPr/>
        </p:nvCxnSpPr>
        <p:spPr>
          <a:xfrm rot="5400000">
            <a:off x="7850503" y="290166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コネクタ 247"/>
          <p:cNvCxnSpPr/>
          <p:nvPr/>
        </p:nvCxnSpPr>
        <p:spPr>
          <a:xfrm rot="5400000">
            <a:off x="7850503" y="3564750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コネクタ 248"/>
          <p:cNvCxnSpPr/>
          <p:nvPr/>
        </p:nvCxnSpPr>
        <p:spPr>
          <a:xfrm rot="5400000">
            <a:off x="7850503" y="4227834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コネクタ 249"/>
          <p:cNvCxnSpPr/>
          <p:nvPr/>
        </p:nvCxnSpPr>
        <p:spPr>
          <a:xfrm rot="5400000">
            <a:off x="7850503" y="4890918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線コネクタ 250"/>
          <p:cNvCxnSpPr/>
          <p:nvPr/>
        </p:nvCxnSpPr>
        <p:spPr>
          <a:xfrm rot="5400000">
            <a:off x="7850503" y="5554002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線コネクタ 251"/>
          <p:cNvCxnSpPr/>
          <p:nvPr/>
        </p:nvCxnSpPr>
        <p:spPr>
          <a:xfrm rot="5400000">
            <a:off x="7850502" y="6217086"/>
            <a:ext cx="504000" cy="0"/>
          </a:xfrm>
          <a:prstGeom prst="line">
            <a:avLst/>
          </a:prstGeom>
          <a:ln w="28575">
            <a:solidFill>
              <a:srgbClr val="FFE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正方形/長方形 157"/>
          <p:cNvSpPr/>
          <p:nvPr/>
        </p:nvSpPr>
        <p:spPr>
          <a:xfrm>
            <a:off x="175500" y="764704"/>
            <a:ext cx="8695513" cy="372906"/>
          </a:xfrm>
          <a:prstGeom prst="rect">
            <a:avLst/>
          </a:prstGeom>
          <a:solidFill>
            <a:schemeClr val="bg1"/>
          </a:solidFill>
          <a:ln w="12700">
            <a:solidFill>
              <a:srgbClr val="FFE100"/>
            </a:solidFill>
          </a:ln>
          <a:effectLst>
            <a:outerShdw dist="63500" dir="2700000" algn="tl" rotWithShape="0">
              <a:srgbClr val="FFE1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ja-JP" altLang="en-US" sz="2000" dirty="0" smtClean="0">
                <a:solidFill>
                  <a:srgbClr val="333333"/>
                </a:solidFill>
              </a:rPr>
              <a:t>まずは</a:t>
            </a:r>
            <a:r>
              <a:rPr lang="en-US" altLang="ja-JP" sz="2000" dirty="0" smtClean="0">
                <a:solidFill>
                  <a:srgbClr val="333333"/>
                </a:solidFill>
              </a:rPr>
              <a:t>High</a:t>
            </a:r>
            <a:r>
              <a:rPr lang="ja-JP" altLang="en-US" sz="2000" dirty="0" smtClean="0">
                <a:solidFill>
                  <a:srgbClr val="333333"/>
                </a:solidFill>
              </a:rPr>
              <a:t>プライス</a:t>
            </a:r>
            <a:r>
              <a:rPr lang="en-US" altLang="ja-JP" sz="2000" dirty="0" smtClean="0">
                <a:solidFill>
                  <a:srgbClr val="333333"/>
                </a:solidFill>
              </a:rPr>
              <a:t>×</a:t>
            </a:r>
            <a:r>
              <a:rPr lang="ja-JP" altLang="en-US" sz="2000" dirty="0" smtClean="0">
                <a:solidFill>
                  <a:srgbClr val="333333"/>
                </a:solidFill>
              </a:rPr>
              <a:t>上位従事者の攻略を行い、エリアスケールしていく</a:t>
            </a:r>
            <a:endParaRPr lang="ja-JP" altLang="en-US" sz="200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8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B43332-2B92-4FB4-A4DB-0FC787D21F88}" type="slidenum">
              <a:rPr lang="en-US" altLang="ja-JP" smtClean="0">
                <a:solidFill>
                  <a:srgbClr val="333333"/>
                </a:solidFill>
              </a:rPr>
              <a:pPr>
                <a:defRPr/>
              </a:pPr>
              <a:t>13</a:t>
            </a:fld>
            <a:endParaRPr lang="en-US" altLang="ja-JP">
              <a:solidFill>
                <a:srgbClr val="333333"/>
              </a:solidFill>
            </a:endParaRPr>
          </a:p>
        </p:txBody>
      </p:sp>
      <p:sp>
        <p:nvSpPr>
          <p:cNvPr id="5" name="タイトル 1"/>
          <p:cNvSpPr txBox="1">
            <a:spLocks/>
          </p:cNvSpPr>
          <p:nvPr/>
        </p:nvSpPr>
        <p:spPr bwMode="auto">
          <a:xfrm>
            <a:off x="285720" y="120052"/>
            <a:ext cx="7686700" cy="42862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Times New Roman" pitchFamily="18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algn="l" eaLnBrk="0" hangingPunct="0">
              <a:defRPr/>
            </a:pPr>
            <a:r>
              <a:rPr lang="ja-JP" altLang="en-US" sz="28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下期の主な取り組み</a:t>
            </a:r>
            <a:endParaRPr lang="ja-JP" altLang="en-US" sz="2800" b="1" kern="0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1520" y="777434"/>
            <a:ext cx="8585293" cy="1756990"/>
          </a:xfrm>
          <a:prstGeom prst="rect">
            <a:avLst/>
          </a:prstGeom>
          <a:solidFill>
            <a:schemeClr val="bg1"/>
          </a:solidFill>
          <a:ln w="12700">
            <a:solidFill>
              <a:srgbClr val="FFE100"/>
            </a:solidFill>
          </a:ln>
          <a:effectLst>
            <a:outerShdw dist="63500" dir="2700000" algn="tl" rotWithShape="0">
              <a:srgbClr val="FFE1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2000" u="sng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&lt;</a:t>
            </a:r>
            <a:r>
              <a:rPr lang="ja-JP" altLang="en-US" sz="2000" u="sng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取り組み</a:t>
            </a:r>
            <a:r>
              <a:rPr lang="en-US" altLang="ja-JP" sz="2000" u="sng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&gt;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採用強化</a:t>
            </a: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(FY16_3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月に</a:t>
            </a: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35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名以上体制へ</a:t>
            </a: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チームリーダー育成、登用</a:t>
            </a:r>
            <a:endParaRPr lang="en-US" altLang="ja-JP" sz="20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一人前になるまでの期間の短縮と、その後の安定化</a:t>
            </a:r>
            <a:endParaRPr lang="en-US" altLang="ja-JP" sz="20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ja-JP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OPS</a:t>
            </a:r>
            <a:r>
              <a:rPr lang="ja-JP" altLang="en-US" sz="2000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の強化</a:t>
            </a:r>
            <a:endParaRPr lang="en-US" altLang="ja-JP" sz="2000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grpSp>
        <p:nvGrpSpPr>
          <p:cNvPr id="12" name="グループ化 11"/>
          <p:cNvGrpSpPr/>
          <p:nvPr/>
        </p:nvGrpSpPr>
        <p:grpSpPr>
          <a:xfrm>
            <a:off x="251520" y="3680398"/>
            <a:ext cx="6737136" cy="2150114"/>
            <a:chOff x="978663" y="23024"/>
            <a:chExt cx="7553422" cy="5714250"/>
          </a:xfrm>
        </p:grpSpPr>
        <p:grpSp>
          <p:nvGrpSpPr>
            <p:cNvPr id="13" name="グループ化 12"/>
            <p:cNvGrpSpPr/>
            <p:nvPr/>
          </p:nvGrpSpPr>
          <p:grpSpPr>
            <a:xfrm>
              <a:off x="978663" y="23024"/>
              <a:ext cx="7553422" cy="5714250"/>
              <a:chOff x="3450483" y="-345706"/>
              <a:chExt cx="7553422" cy="5714250"/>
            </a:xfrm>
            <a:solidFill>
              <a:srgbClr val="FFFF99"/>
            </a:solidFill>
          </p:grpSpPr>
          <p:sp>
            <p:nvSpPr>
              <p:cNvPr id="17" name="山形 16"/>
              <p:cNvSpPr/>
              <p:nvPr/>
            </p:nvSpPr>
            <p:spPr bwMode="auto">
              <a:xfrm rot="20468655">
                <a:off x="4639106" y="3517723"/>
                <a:ext cx="1512000" cy="1008112"/>
              </a:xfrm>
              <a:prstGeom prst="chevron">
                <a:avLst/>
              </a:prstGeom>
              <a:solidFill>
                <a:srgbClr val="FFC000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square" lIns="72000" tIns="0" rIns="72000" bIns="0" rtlCol="0" anchor="t"/>
              <a:lstStyle/>
              <a:p>
                <a:pPr algn="ctr" fontAlgn="base">
                  <a:spcBef>
                    <a:spcPct val="0"/>
                  </a:spcBef>
                </a:pPr>
                <a:endParaRPr lang="ja-JP" altLang="en-US" sz="20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  <p:sp>
            <p:nvSpPr>
              <p:cNvPr id="18" name="山形 17"/>
              <p:cNvSpPr/>
              <p:nvPr/>
            </p:nvSpPr>
            <p:spPr bwMode="auto">
              <a:xfrm rot="20595979">
                <a:off x="5858083" y="2633628"/>
                <a:ext cx="1512000" cy="1008113"/>
              </a:xfrm>
              <a:prstGeom prst="chevron">
                <a:avLst/>
              </a:prstGeom>
              <a:solidFill>
                <a:srgbClr val="FFC000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square" lIns="72000" tIns="0" rIns="72000" bIns="0" rtlCol="0" anchor="t"/>
              <a:lstStyle/>
              <a:p>
                <a:pPr algn="ctr" fontAlgn="base">
                  <a:spcBef>
                    <a:spcPct val="0"/>
                  </a:spcBef>
                </a:pPr>
                <a:endParaRPr lang="ja-JP" altLang="en-US" sz="20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  <p:sp>
            <p:nvSpPr>
              <p:cNvPr id="19" name="山形 18"/>
              <p:cNvSpPr/>
              <p:nvPr/>
            </p:nvSpPr>
            <p:spPr bwMode="auto">
              <a:xfrm rot="20512342">
                <a:off x="7066437" y="1706207"/>
                <a:ext cx="1512000" cy="1008113"/>
              </a:xfrm>
              <a:prstGeom prst="chevron">
                <a:avLst/>
              </a:prstGeom>
              <a:solidFill>
                <a:srgbClr val="FFFF00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square" lIns="72000" tIns="0" rIns="72000" bIns="0" rtlCol="0" anchor="t"/>
              <a:lstStyle/>
              <a:p>
                <a:pPr algn="ctr" fontAlgn="base">
                  <a:spcBef>
                    <a:spcPct val="0"/>
                  </a:spcBef>
                </a:pPr>
                <a:endParaRPr lang="ja-JP" altLang="en-US" sz="20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  <p:sp>
            <p:nvSpPr>
              <p:cNvPr id="20" name="山形 19"/>
              <p:cNvSpPr/>
              <p:nvPr/>
            </p:nvSpPr>
            <p:spPr bwMode="auto">
              <a:xfrm rot="20426974">
                <a:off x="8276430" y="694830"/>
                <a:ext cx="1512000" cy="1008113"/>
              </a:xfrm>
              <a:prstGeom prst="chevron">
                <a:avLst/>
              </a:prstGeom>
              <a:solidFill>
                <a:srgbClr val="FFFF00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square" lIns="72000" tIns="0" rIns="72000" bIns="0" rtlCol="0" anchor="t"/>
              <a:lstStyle/>
              <a:p>
                <a:pPr algn="ctr" fontAlgn="base">
                  <a:spcBef>
                    <a:spcPct val="0"/>
                  </a:spcBef>
                </a:pPr>
                <a:endParaRPr lang="ja-JP" altLang="en-US" sz="20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  <p:sp>
            <p:nvSpPr>
              <p:cNvPr id="21" name="山形 20"/>
              <p:cNvSpPr/>
              <p:nvPr/>
            </p:nvSpPr>
            <p:spPr bwMode="auto">
              <a:xfrm rot="20354642">
                <a:off x="9491905" y="-345706"/>
                <a:ext cx="1512000" cy="1008113"/>
              </a:xfrm>
              <a:prstGeom prst="chevron">
                <a:avLst/>
              </a:prstGeom>
              <a:solidFill>
                <a:srgbClr val="FFFF00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square" lIns="72000" tIns="0" rIns="72000" bIns="0" rtlCol="0" anchor="t"/>
              <a:lstStyle/>
              <a:p>
                <a:pPr algn="ctr" fontAlgn="base">
                  <a:spcBef>
                    <a:spcPct val="0"/>
                  </a:spcBef>
                </a:pPr>
                <a:endParaRPr lang="ja-JP" altLang="en-US" sz="20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  <p:sp>
            <p:nvSpPr>
              <p:cNvPr id="22" name="山形 21"/>
              <p:cNvSpPr/>
              <p:nvPr/>
            </p:nvSpPr>
            <p:spPr bwMode="auto">
              <a:xfrm rot="20572032">
                <a:off x="3450483" y="4360431"/>
                <a:ext cx="1512000" cy="1008113"/>
              </a:xfrm>
              <a:prstGeom prst="chevron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square" lIns="72000" tIns="0" rIns="72000" bIns="0" rtlCol="0" anchor="t"/>
              <a:lstStyle/>
              <a:p>
                <a:pPr algn="ctr" fontAlgn="base">
                  <a:spcBef>
                    <a:spcPct val="0"/>
                  </a:spcBef>
                </a:pPr>
                <a:endParaRPr lang="ja-JP" altLang="en-US" sz="20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endParaRPr>
              </a:p>
            </p:txBody>
          </p:sp>
        </p:grpSp>
        <p:sp>
          <p:nvSpPr>
            <p:cNvPr id="14" name="正方形/長方形 13"/>
            <p:cNvSpPr/>
            <p:nvPr/>
          </p:nvSpPr>
          <p:spPr bwMode="auto">
            <a:xfrm>
              <a:off x="5605671" y="2482298"/>
              <a:ext cx="1493672" cy="802694"/>
            </a:xfrm>
            <a:prstGeom prst="rect">
              <a:avLst/>
            </a:prstGeom>
            <a:noFill/>
            <a:ln w="9525">
              <a:noFill/>
              <a:round/>
              <a:headEnd type="oval" w="med" len="med"/>
              <a:tailEnd type="triangle" w="med" len="med"/>
            </a:ln>
            <a:effectLst/>
          </p:spPr>
          <p:txBody>
            <a:bodyPr wrap="square" lIns="72000" tIns="0" rIns="72000" bIns="0" rtlCol="0" anchor="ctr"/>
            <a:lstStyle/>
            <a:p>
              <a:pPr algn="ctr" fontAlgn="base">
                <a:spcBef>
                  <a:spcPct val="0"/>
                </a:spcBef>
              </a:pPr>
              <a:endParaRPr lang="ja-JP" altLang="en-US" sz="2800" b="1" dirty="0" smtClean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endParaRPr>
            </a:p>
          </p:txBody>
        </p:sp>
        <p:sp>
          <p:nvSpPr>
            <p:cNvPr id="15" name="正方形/長方形 14"/>
            <p:cNvSpPr/>
            <p:nvPr/>
          </p:nvSpPr>
          <p:spPr bwMode="auto">
            <a:xfrm>
              <a:off x="2850871" y="3922458"/>
              <a:ext cx="1493672" cy="936104"/>
            </a:xfrm>
            <a:prstGeom prst="rect">
              <a:avLst/>
            </a:prstGeom>
            <a:noFill/>
            <a:ln w="9525">
              <a:noFill/>
              <a:round/>
              <a:headEnd type="oval" w="med" len="med"/>
              <a:tailEnd type="triangle" w="med" len="med"/>
            </a:ln>
            <a:effectLst/>
          </p:spPr>
          <p:txBody>
            <a:bodyPr wrap="square" lIns="72000" tIns="0" rIns="72000" bIns="0" rtlCol="0" anchor="t"/>
            <a:lstStyle/>
            <a:p>
              <a:pPr algn="ctr" fontAlgn="base">
                <a:spcBef>
                  <a:spcPct val="0"/>
                </a:spcBef>
              </a:pPr>
              <a:r>
                <a:rPr lang="en-US" altLang="ja-JP" sz="28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rPr>
                <a:t>FY16</a:t>
              </a:r>
            </a:p>
            <a:p>
              <a:pPr algn="ctr" fontAlgn="base">
                <a:spcBef>
                  <a:spcPct val="0"/>
                </a:spcBef>
              </a:pPr>
              <a:r>
                <a:rPr lang="en-US" altLang="ja-JP" sz="28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rPr>
                <a:t>3</a:t>
              </a:r>
              <a:r>
                <a:rPr lang="ja-JP" altLang="en-US" sz="2800" b="1" dirty="0" smtClean="0">
                  <a:solidFill>
                    <a:prstClr val="black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rPr>
                <a:t>月</a:t>
              </a:r>
              <a:endParaRPr lang="en-US" altLang="ja-JP" sz="2800" b="1" dirty="0" smtClean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endParaRPr>
            </a:p>
          </p:txBody>
        </p:sp>
        <p:sp>
          <p:nvSpPr>
            <p:cNvPr id="16" name="正方形/長方形 15"/>
            <p:cNvSpPr/>
            <p:nvPr/>
          </p:nvSpPr>
          <p:spPr bwMode="auto">
            <a:xfrm>
              <a:off x="1280592" y="4761156"/>
              <a:ext cx="1066223" cy="468052"/>
            </a:xfrm>
            <a:prstGeom prst="rect">
              <a:avLst/>
            </a:prstGeom>
            <a:noFill/>
            <a:ln w="9525">
              <a:noFill/>
              <a:round/>
              <a:headEnd type="oval" w="med" len="med"/>
              <a:tailEnd type="triangle" w="med" len="med"/>
            </a:ln>
            <a:effectLst/>
          </p:spPr>
          <p:txBody>
            <a:bodyPr wrap="square" lIns="72000" tIns="0" rIns="72000" bIns="0" rtlCol="0" anchor="ctr"/>
            <a:lstStyle/>
            <a:p>
              <a:pPr algn="ctr" fontAlgn="base">
                <a:spcBef>
                  <a:spcPct val="0"/>
                </a:spcBef>
              </a:pPr>
              <a:r>
                <a:rPr lang="ja-JP" altLang="en-US" sz="2800" b="1" dirty="0" smtClean="0">
                  <a:solidFill>
                    <a:srgbClr val="333333"/>
                  </a:solidFill>
                  <a:latin typeface="Meiryo UI" pitchFamily="50" charset="-128"/>
                  <a:ea typeface="Meiryo UI" pitchFamily="50" charset="-128"/>
                  <a:cs typeface="Meiryo UI" pitchFamily="50" charset="-128"/>
                </a:rPr>
                <a:t>現在</a:t>
              </a:r>
            </a:p>
          </p:txBody>
        </p:sp>
      </p:grpSp>
      <p:sp>
        <p:nvSpPr>
          <p:cNvPr id="24" name="正方形/長方形 23"/>
          <p:cNvSpPr/>
          <p:nvPr/>
        </p:nvSpPr>
        <p:spPr bwMode="auto">
          <a:xfrm>
            <a:off x="2149737" y="4305197"/>
            <a:ext cx="963249" cy="360040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round/>
            <a:headEnd type="oval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0" rtlCol="0" anchor="ctr"/>
          <a:lstStyle/>
          <a:p>
            <a:pPr fontAlgn="base">
              <a:spcBef>
                <a:spcPct val="0"/>
              </a:spcBef>
            </a:pPr>
            <a:r>
              <a:rPr lang="en-US" altLang="ja-JP" sz="2400" b="1" dirty="0" smtClean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35</a:t>
            </a:r>
            <a:r>
              <a:rPr lang="ja-JP" altLang="en-US" sz="2400" b="1" dirty="0" smtClean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名</a:t>
            </a:r>
            <a:endParaRPr lang="en-US" altLang="ja-JP" sz="2400" b="1" dirty="0" smtClean="0">
              <a:solidFill>
                <a:srgbClr val="FF0000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5" name="正方形/長方形 24"/>
          <p:cNvSpPr/>
          <p:nvPr/>
        </p:nvSpPr>
        <p:spPr bwMode="auto">
          <a:xfrm>
            <a:off x="4677716" y="3328329"/>
            <a:ext cx="879208" cy="363825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 type="oval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0" rtlCol="0" anchor="ctr"/>
          <a:lstStyle/>
          <a:p>
            <a:pPr fontAlgn="base">
              <a:spcBef>
                <a:spcPct val="0"/>
              </a:spcBef>
            </a:pPr>
            <a:r>
              <a:rPr lang="en-US" altLang="ja-JP" sz="2400" b="1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70</a:t>
            </a:r>
            <a:r>
              <a:rPr lang="ja-JP" altLang="en-US" sz="2400" b="1" dirty="0">
                <a:solidFill>
                  <a:srgbClr val="FF000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名</a:t>
            </a:r>
            <a:endParaRPr lang="en-US" altLang="ja-JP" sz="2400" b="1" dirty="0">
              <a:solidFill>
                <a:srgbClr val="FF0000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6" name="正方形/長方形 25"/>
          <p:cNvSpPr/>
          <p:nvPr/>
        </p:nvSpPr>
        <p:spPr bwMode="auto">
          <a:xfrm>
            <a:off x="4483417" y="3870060"/>
            <a:ext cx="1608427" cy="597301"/>
          </a:xfrm>
          <a:prstGeom prst="rect">
            <a:avLst/>
          </a:prstGeom>
          <a:noFill/>
          <a:ln w="9525">
            <a:noFill/>
            <a:round/>
            <a:headEnd type="oval" w="med" len="med"/>
            <a:tailEnd type="triangle" w="med" len="med"/>
          </a:ln>
          <a:effectLst/>
        </p:spPr>
        <p:txBody>
          <a:bodyPr wrap="square" lIns="72000" tIns="0" rIns="72000" bIns="0" rtlCol="0" anchor="t"/>
          <a:lstStyle/>
          <a:p>
            <a:pPr algn="ctr" fontAlgn="base">
              <a:spcBef>
                <a:spcPct val="0"/>
              </a:spcBef>
            </a:pPr>
            <a:r>
              <a:rPr lang="en-US" altLang="ja-JP" sz="2800" b="1" dirty="0" smtClean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FY17</a:t>
            </a:r>
          </a:p>
          <a:p>
            <a:pPr algn="ctr" fontAlgn="base">
              <a:spcBef>
                <a:spcPct val="0"/>
              </a:spcBef>
            </a:pPr>
            <a:r>
              <a:rPr lang="en-US" altLang="ja-JP" sz="2800" b="1" dirty="0" smtClean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3</a:t>
            </a:r>
            <a:r>
              <a:rPr lang="ja-JP" altLang="en-US" sz="2800" b="1" dirty="0" smtClean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月</a:t>
            </a:r>
            <a:endParaRPr lang="en-US" altLang="ja-JP" sz="2800" b="1" dirty="0" smtClean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7" name="正方形/長方形 26"/>
          <p:cNvSpPr/>
          <p:nvPr/>
        </p:nvSpPr>
        <p:spPr bwMode="auto">
          <a:xfrm>
            <a:off x="6618094" y="3050190"/>
            <a:ext cx="1944216" cy="1008112"/>
          </a:xfrm>
          <a:prstGeom prst="rect">
            <a:avLst/>
          </a:prstGeom>
          <a:solidFill>
            <a:srgbClr val="FF0000"/>
          </a:solidFill>
          <a:ln w="9525">
            <a:noFill/>
            <a:round/>
            <a:headEnd type="oval" w="med" len="med"/>
            <a:tailEnd type="triangl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 lIns="72000" tIns="0" rIns="72000" bIns="0" rtlCol="0" anchor="t"/>
          <a:lstStyle/>
          <a:p>
            <a:pPr algn="ctr" fontAlgn="base">
              <a:spcBef>
                <a:spcPct val="0"/>
              </a:spcBef>
            </a:pPr>
            <a:r>
              <a:rPr lang="en-US" altLang="ja-JP" sz="3200" b="1" dirty="0" smtClean="0">
                <a:solidFill>
                  <a:srgbClr val="FFFFFF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VISION</a:t>
            </a:r>
          </a:p>
          <a:p>
            <a:pPr algn="ctr" fontAlgn="base">
              <a:spcBef>
                <a:spcPct val="0"/>
              </a:spcBef>
            </a:pPr>
            <a:r>
              <a:rPr lang="en-US" altLang="ja-JP" sz="3200" b="1" dirty="0" smtClean="0">
                <a:solidFill>
                  <a:srgbClr val="FFFFFF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2020</a:t>
            </a:r>
            <a:endParaRPr lang="ja-JP" altLang="en-US" sz="3200" b="1" dirty="0" smtClean="0">
              <a:solidFill>
                <a:srgbClr val="FFFFFF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8" name="正方形/長方形 27"/>
          <p:cNvSpPr/>
          <p:nvPr/>
        </p:nvSpPr>
        <p:spPr bwMode="auto">
          <a:xfrm>
            <a:off x="6684496" y="4241930"/>
            <a:ext cx="1816214" cy="1221296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 type="oval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0" rtlCol="0" anchor="ctr"/>
          <a:lstStyle/>
          <a:p>
            <a:pPr fontAlgn="base">
              <a:spcBef>
                <a:spcPct val="0"/>
              </a:spcBef>
            </a:pPr>
            <a:r>
              <a:rPr lang="ja-JP" altLang="en-US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売上</a:t>
            </a:r>
            <a:r>
              <a:rPr lang="en-US" altLang="ja-JP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60</a:t>
            </a:r>
            <a:r>
              <a:rPr lang="ja-JP" altLang="en-US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億円</a:t>
            </a:r>
            <a:endParaRPr lang="en-US" altLang="ja-JP" sz="24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9" name="正方形/長方形 28"/>
          <p:cNvSpPr/>
          <p:nvPr/>
        </p:nvSpPr>
        <p:spPr bwMode="auto">
          <a:xfrm>
            <a:off x="4481882" y="4756232"/>
            <a:ext cx="1816214" cy="1221296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 type="oval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0" rtlCol="0" anchor="ctr"/>
          <a:lstStyle/>
          <a:p>
            <a:pPr fontAlgn="base">
              <a:spcBef>
                <a:spcPct val="0"/>
              </a:spcBef>
            </a:pPr>
            <a:r>
              <a:rPr lang="ja-JP" altLang="en-US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売上</a:t>
            </a:r>
            <a:r>
              <a:rPr lang="en-US" altLang="ja-JP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10</a:t>
            </a:r>
            <a:r>
              <a:rPr lang="ja-JP" altLang="en-US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億円</a:t>
            </a:r>
            <a:endParaRPr lang="en-US" altLang="ja-JP" sz="24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23" name="正方形/長方形 22"/>
          <p:cNvSpPr/>
          <p:nvPr/>
        </p:nvSpPr>
        <p:spPr bwMode="auto">
          <a:xfrm>
            <a:off x="1555604" y="2975159"/>
            <a:ext cx="2060941" cy="1221296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 type="oval" w="med" len="med"/>
            <a:tailEnd type="triangle" w="med" len="me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lIns="72000" tIns="0" rIns="72000" bIns="0" rtlCol="0" anchor="ctr"/>
          <a:lstStyle/>
          <a:p>
            <a:pPr fontAlgn="base">
              <a:spcBef>
                <a:spcPct val="0"/>
              </a:spcBef>
            </a:pPr>
            <a:r>
              <a:rPr lang="ja-JP" altLang="en-US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売上</a:t>
            </a:r>
            <a:r>
              <a:rPr lang="en-US" altLang="ja-JP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3.6</a:t>
            </a:r>
            <a:r>
              <a:rPr lang="ja-JP" altLang="en-US" sz="2400" b="1" dirty="0" smtClean="0">
                <a:solidFill>
                  <a:srgbClr val="333333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億円</a:t>
            </a:r>
            <a:endParaRPr lang="en-US" altLang="ja-JP" sz="2400" b="1" dirty="0" smtClean="0">
              <a:solidFill>
                <a:srgbClr val="333333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447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14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09544" y="1267619"/>
            <a:ext cx="8501123" cy="417133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8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キャリアパートナーの心得</a:t>
            </a:r>
            <a:endParaRPr lang="en-US" altLang="ja-JP" sz="28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1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>
          <a:xfrm>
            <a:off x="7331633" y="6576776"/>
            <a:ext cx="1905000" cy="457200"/>
          </a:xfrm>
        </p:spPr>
        <p:txBody>
          <a:bodyPr/>
          <a:lstStyle/>
          <a:p>
            <a:pPr>
              <a:defRPr/>
            </a:pPr>
            <a:fld id="{C0CEAFE2-FC32-4C85-9C5F-F9D728D9D91C}" type="slidenum">
              <a:rPr lang="ja-JP" altLang="en-US" smtClean="0"/>
              <a:pPr>
                <a:defRPr/>
              </a:pPr>
              <a:t>15</a:t>
            </a:fld>
            <a:endParaRPr lang="en-US" altLang="ja-JP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>
                <a:solidFill>
                  <a:schemeClr val="tx1"/>
                </a:solidFill>
              </a:rPr>
              <a:t>キャリアパートナーの役割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>
          <a:xfrm>
            <a:off x="250825" y="687961"/>
            <a:ext cx="8642350" cy="672634"/>
          </a:xfrm>
        </p:spPr>
        <p:txBody>
          <a:bodyPr/>
          <a:lstStyle/>
          <a:p>
            <a:pPr algn="ctr"/>
            <a:r>
              <a:rPr lang="ja-JP" altLang="en-US" sz="1600" b="0" dirty="0" smtClean="0">
                <a:solidFill>
                  <a:schemeClr val="tx1"/>
                </a:solidFill>
              </a:rPr>
              <a:t>求職者にとっては、ライフサイクル</a:t>
            </a:r>
            <a:r>
              <a:rPr lang="ja-JP" altLang="en-US" sz="1600" b="0" dirty="0">
                <a:solidFill>
                  <a:schemeClr val="tx1"/>
                </a:solidFill>
              </a:rPr>
              <a:t>の変化に伴って生じるキャリアにおける問題</a:t>
            </a:r>
            <a:r>
              <a:rPr lang="ja-JP" altLang="en-US" sz="1600" b="0" dirty="0" smtClean="0">
                <a:solidFill>
                  <a:schemeClr val="tx1"/>
                </a:solidFill>
              </a:rPr>
              <a:t>を</a:t>
            </a:r>
            <a:endParaRPr lang="en-US" altLang="ja-JP" sz="1600" b="0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sz="1600" b="0" dirty="0" smtClean="0">
                <a:solidFill>
                  <a:schemeClr val="tx1"/>
                </a:solidFill>
              </a:rPr>
              <a:t>「</a:t>
            </a:r>
            <a:r>
              <a:rPr lang="ja-JP" altLang="en-US" sz="1600" b="0" dirty="0">
                <a:solidFill>
                  <a:schemeClr val="tx1"/>
                </a:solidFill>
              </a:rPr>
              <a:t>転職」という手段を用いて一緒に解決</a:t>
            </a:r>
            <a:r>
              <a:rPr lang="ja-JP" altLang="en-US" sz="1600" b="0" dirty="0" smtClean="0">
                <a:solidFill>
                  <a:schemeClr val="tx1"/>
                </a:solidFill>
              </a:rPr>
              <a:t>するパートナーであり、</a:t>
            </a:r>
            <a:endParaRPr lang="en-US" altLang="ja-JP" sz="1600" b="0" dirty="0" smtClean="0">
              <a:solidFill>
                <a:schemeClr val="tx1"/>
              </a:solidFill>
            </a:endParaRPr>
          </a:p>
          <a:p>
            <a:pPr algn="ctr"/>
            <a:r>
              <a:rPr lang="ja-JP" altLang="en-US" sz="1600" b="0" dirty="0" smtClean="0">
                <a:solidFill>
                  <a:schemeClr val="tx1"/>
                </a:solidFill>
              </a:rPr>
              <a:t>事業者にとっては、従事者不足の問題を解決してくれるパートナーである。</a:t>
            </a:r>
            <a:endParaRPr lang="ja-JP" altLang="en-US" sz="1600" b="0" dirty="0">
              <a:solidFill>
                <a:schemeClr val="tx1"/>
              </a:solidFill>
            </a:endParaRPr>
          </a:p>
        </p:txBody>
      </p:sp>
      <p:sp>
        <p:nvSpPr>
          <p:cNvPr id="5" name="Rectangle 57"/>
          <p:cNvSpPr>
            <a:spLocks noChangeArrowheads="1"/>
          </p:cNvSpPr>
          <p:nvPr/>
        </p:nvSpPr>
        <p:spPr bwMode="auto">
          <a:xfrm>
            <a:off x="3233738" y="1750848"/>
            <a:ext cx="2533650" cy="4448771"/>
          </a:xfrm>
          <a:prstGeom prst="rect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12700" algn="ctr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400">
              <a:solidFill>
                <a:srgbClr val="000000"/>
              </a:solidFill>
            </a:endParaRPr>
          </a:p>
        </p:txBody>
      </p:sp>
      <p:sp>
        <p:nvSpPr>
          <p:cNvPr id="6" name="Rectangle 89"/>
          <p:cNvSpPr>
            <a:spLocks noChangeArrowheads="1"/>
          </p:cNvSpPr>
          <p:nvPr/>
        </p:nvSpPr>
        <p:spPr bwMode="auto">
          <a:xfrm>
            <a:off x="3322638" y="1806134"/>
            <a:ext cx="2361470" cy="22801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FF66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ja-JP" altLang="en-US" sz="2400" b="1">
              <a:solidFill>
                <a:srgbClr val="FFFFFF"/>
              </a:solidFill>
            </a:endParaRPr>
          </a:p>
        </p:txBody>
      </p:sp>
      <p:sp>
        <p:nvSpPr>
          <p:cNvPr id="8" name="Line 166"/>
          <p:cNvSpPr>
            <a:spLocks noChangeShapeType="1"/>
          </p:cNvSpPr>
          <p:nvPr/>
        </p:nvSpPr>
        <p:spPr bwMode="auto">
          <a:xfrm flipH="1" flipV="1">
            <a:off x="2023097" y="4520109"/>
            <a:ext cx="1578940" cy="542859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 type="oval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ja-JP" altLang="en-US">
              <a:solidFill>
                <a:srgbClr val="333333"/>
              </a:solidFill>
            </a:endParaRPr>
          </a:p>
        </p:txBody>
      </p:sp>
      <p:sp>
        <p:nvSpPr>
          <p:cNvPr id="9" name="Text Box 167"/>
          <p:cNvSpPr txBox="1">
            <a:spLocks noChangeArrowheads="1"/>
          </p:cNvSpPr>
          <p:nvPr/>
        </p:nvSpPr>
        <p:spPr bwMode="auto">
          <a:xfrm>
            <a:off x="2211152" y="4291444"/>
            <a:ext cx="1044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1400" b="1" dirty="0">
                <a:solidFill>
                  <a:srgbClr val="FF5050"/>
                </a:solidFill>
              </a:rPr>
              <a:t>求職者紹介</a:t>
            </a:r>
          </a:p>
        </p:txBody>
      </p:sp>
      <p:sp>
        <p:nvSpPr>
          <p:cNvPr id="10" name="Line 168"/>
          <p:cNvSpPr>
            <a:spLocks noChangeShapeType="1"/>
          </p:cNvSpPr>
          <p:nvPr/>
        </p:nvSpPr>
        <p:spPr bwMode="auto">
          <a:xfrm flipH="1" flipV="1">
            <a:off x="2012155" y="4843238"/>
            <a:ext cx="1513682" cy="534055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 type="triangle" w="lg" len="lg"/>
            <a:tailEnd type="oval" w="med" len="med"/>
          </a:ln>
        </p:spPr>
        <p:txBody>
          <a:bodyPr wrap="none" lIns="0" tIns="0" rIns="0" bIns="0" anchor="ctr"/>
          <a:lstStyle/>
          <a:p>
            <a:pPr>
              <a:defRPr/>
            </a:pPr>
            <a:endParaRPr lang="ja-JP" altLang="en-US" sz="1400">
              <a:solidFill>
                <a:srgbClr val="000000"/>
              </a:solidFill>
              <a:cs typeface="Meiryo UI" panose="020B0604030504040204" pitchFamily="50" charset="-128"/>
            </a:endParaRPr>
          </a:p>
        </p:txBody>
      </p:sp>
      <p:sp>
        <p:nvSpPr>
          <p:cNvPr id="11" name="Text Box 169"/>
          <p:cNvSpPr txBox="1">
            <a:spLocks noChangeArrowheads="1"/>
          </p:cNvSpPr>
          <p:nvPr/>
        </p:nvSpPr>
        <p:spPr bwMode="auto">
          <a:xfrm>
            <a:off x="1908175" y="5215788"/>
            <a:ext cx="1044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1400" b="1">
                <a:solidFill>
                  <a:srgbClr val="7F7F7F"/>
                </a:solidFill>
              </a:rPr>
              <a:t>求人依頼</a:t>
            </a:r>
          </a:p>
        </p:txBody>
      </p:sp>
      <p:sp>
        <p:nvSpPr>
          <p:cNvPr id="14" name="Line 173"/>
          <p:cNvSpPr>
            <a:spLocks noChangeShapeType="1"/>
          </p:cNvSpPr>
          <p:nvPr/>
        </p:nvSpPr>
        <p:spPr bwMode="auto">
          <a:xfrm flipV="1">
            <a:off x="5616575" y="4551794"/>
            <a:ext cx="1463675" cy="509587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 type="oval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endParaRPr lang="ja-JP" altLang="en-US">
              <a:solidFill>
                <a:srgbClr val="333333"/>
              </a:solidFill>
            </a:endParaRPr>
          </a:p>
        </p:txBody>
      </p:sp>
      <p:sp>
        <p:nvSpPr>
          <p:cNvPr id="15" name="Text Box 174"/>
          <p:cNvSpPr txBox="1">
            <a:spLocks noChangeArrowheads="1"/>
          </p:cNvSpPr>
          <p:nvPr/>
        </p:nvSpPr>
        <p:spPr bwMode="auto">
          <a:xfrm>
            <a:off x="5731734" y="4291444"/>
            <a:ext cx="1044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1400" b="1" dirty="0">
                <a:solidFill>
                  <a:srgbClr val="FF5050"/>
                </a:solidFill>
              </a:rPr>
              <a:t>求人紹介</a:t>
            </a:r>
          </a:p>
        </p:txBody>
      </p:sp>
      <p:sp>
        <p:nvSpPr>
          <p:cNvPr id="16" name="Line 175"/>
          <p:cNvSpPr>
            <a:spLocks noChangeShapeType="1"/>
          </p:cNvSpPr>
          <p:nvPr/>
        </p:nvSpPr>
        <p:spPr bwMode="auto">
          <a:xfrm flipV="1">
            <a:off x="5616575" y="4859769"/>
            <a:ext cx="1463675" cy="509587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 type="triangle" w="lg" len="lg"/>
            <a:tailEnd type="oval" w="med" len="med"/>
          </a:ln>
        </p:spPr>
        <p:txBody>
          <a:bodyPr wrap="none" lIns="0" tIns="0" rIns="0" bIns="0" anchor="ctr"/>
          <a:lstStyle/>
          <a:p>
            <a:pPr>
              <a:defRPr/>
            </a:pPr>
            <a:endParaRPr lang="ja-JP" altLang="en-US" sz="1400">
              <a:solidFill>
                <a:srgbClr val="000000"/>
              </a:solidFill>
              <a:cs typeface="Meiryo UI" panose="020B0604030504040204" pitchFamily="50" charset="-128"/>
            </a:endParaRPr>
          </a:p>
        </p:txBody>
      </p:sp>
      <p:sp>
        <p:nvSpPr>
          <p:cNvPr id="17" name="Text Box 176"/>
          <p:cNvSpPr txBox="1">
            <a:spLocks noChangeArrowheads="1"/>
          </p:cNvSpPr>
          <p:nvPr/>
        </p:nvSpPr>
        <p:spPr bwMode="auto">
          <a:xfrm>
            <a:off x="5976938" y="5180444"/>
            <a:ext cx="10445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1400" b="1" dirty="0">
                <a:solidFill>
                  <a:srgbClr val="7F7F7F"/>
                </a:solidFill>
              </a:rPr>
              <a:t>相談</a:t>
            </a:r>
          </a:p>
        </p:txBody>
      </p:sp>
      <p:sp>
        <p:nvSpPr>
          <p:cNvPr id="21" name="Text Box 180"/>
          <p:cNvSpPr txBox="1">
            <a:spLocks noChangeArrowheads="1"/>
          </p:cNvSpPr>
          <p:nvPr/>
        </p:nvSpPr>
        <p:spPr bwMode="auto">
          <a:xfrm>
            <a:off x="3335960" y="1857085"/>
            <a:ext cx="2348148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600" b="1" dirty="0" smtClean="0">
                <a:solidFill>
                  <a:srgbClr val="FF5050"/>
                </a:solidFill>
              </a:rPr>
              <a:t>意思決定の主体は求職者であり、事業者であって、キャリアパートナーではない</a:t>
            </a:r>
            <a:endParaRPr lang="en-US" altLang="ja-JP" sz="1600" b="1" dirty="0" smtClean="0">
              <a:solidFill>
                <a:srgbClr val="FF505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600" b="1" dirty="0">
              <a:solidFill>
                <a:srgbClr val="FF505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600" b="1" dirty="0" smtClean="0">
                <a:solidFill>
                  <a:srgbClr val="FF5050"/>
                </a:solidFill>
              </a:rPr>
              <a:t>どちらにも引っ張られすぎず</a:t>
            </a:r>
            <a:endParaRPr lang="en-US" altLang="ja-JP" sz="1600" b="1" dirty="0" smtClean="0">
              <a:solidFill>
                <a:srgbClr val="FF505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600" b="1" dirty="0" smtClean="0">
                <a:solidFill>
                  <a:srgbClr val="FF5050"/>
                </a:solidFill>
              </a:rPr>
              <a:t>中立的に判断し、マッチングを適切に進める</a:t>
            </a:r>
            <a:endParaRPr lang="ja-JP" altLang="en-US" sz="1600" b="1" dirty="0">
              <a:solidFill>
                <a:srgbClr val="FF5050"/>
              </a:solidFill>
            </a:endParaRPr>
          </a:p>
        </p:txBody>
      </p:sp>
      <p:cxnSp>
        <p:nvCxnSpPr>
          <p:cNvPr id="22" name="AutoShape 181"/>
          <p:cNvCxnSpPr>
            <a:cxnSpLocks noChangeShapeType="1"/>
            <a:stCxn id="37" idx="4"/>
            <a:endCxn id="5" idx="2"/>
          </p:cNvCxnSpPr>
          <p:nvPr/>
        </p:nvCxnSpPr>
        <p:spPr bwMode="auto">
          <a:xfrm rot="16200000" flipH="1">
            <a:off x="2403944" y="4102999"/>
            <a:ext cx="730665" cy="3462574"/>
          </a:xfrm>
          <a:prstGeom prst="bentConnector3">
            <a:avLst>
              <a:gd name="adj1" fmla="val 131287"/>
            </a:avLst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 type="oval" w="med" len="med"/>
            <a:tailEnd type="triangle" w="lg" len="lg"/>
          </a:ln>
        </p:spPr>
      </p:cxnSp>
      <p:sp>
        <p:nvSpPr>
          <p:cNvPr id="23" name="Text Box 182"/>
          <p:cNvSpPr txBox="1">
            <a:spLocks noChangeArrowheads="1"/>
          </p:cNvSpPr>
          <p:nvPr/>
        </p:nvSpPr>
        <p:spPr bwMode="auto">
          <a:xfrm>
            <a:off x="627544" y="6176977"/>
            <a:ext cx="29591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ja-JP" altLang="en-US" sz="1400" b="1" dirty="0">
                <a:solidFill>
                  <a:srgbClr val="7F7F7F"/>
                </a:solidFill>
              </a:rPr>
              <a:t>人材紹介手数料の</a:t>
            </a:r>
            <a:r>
              <a:rPr lang="ja-JP" altLang="en-US" sz="1400" b="1" dirty="0" smtClean="0">
                <a:solidFill>
                  <a:srgbClr val="7F7F7F"/>
                </a:solidFill>
              </a:rPr>
              <a:t>支払い</a:t>
            </a:r>
            <a:endParaRPr lang="ja-JP" altLang="en-US" sz="1400" b="1" dirty="0">
              <a:solidFill>
                <a:srgbClr val="7F7F7F"/>
              </a:solidFill>
            </a:endParaRPr>
          </a:p>
        </p:txBody>
      </p:sp>
      <p:sp>
        <p:nvSpPr>
          <p:cNvPr id="29" name="円/楕円 157"/>
          <p:cNvSpPr>
            <a:spLocks noChangeAspect="1"/>
          </p:cNvSpPr>
          <p:nvPr/>
        </p:nvSpPr>
        <p:spPr bwMode="auto">
          <a:xfrm>
            <a:off x="7135084" y="3453243"/>
            <a:ext cx="1860550" cy="2016125"/>
          </a:xfrm>
          <a:prstGeom prst="ellipse">
            <a:avLst/>
          </a:prstGeom>
          <a:noFill/>
          <a:ln w="6350" algn="ctr">
            <a:solidFill>
              <a:schemeClr val="accent6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>
            <a:lvl1pPr defTabSz="330200" eaLnBrk="0" hangingPunct="0">
              <a:spcBef>
                <a:spcPct val="20000"/>
              </a:spcBef>
              <a:buFont typeface="Wingdings" panose="05000000000000000000" pitchFamily="2" charset="2"/>
              <a:tabLst>
                <a:tab pos="1346200" algn="l"/>
              </a:tabLst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defTabSz="330200" eaLnBrk="0" hangingPunct="0">
              <a:spcBef>
                <a:spcPct val="20000"/>
              </a:spcBef>
              <a:buChar char="–"/>
              <a:tabLst>
                <a:tab pos="1346200" algn="l"/>
              </a:tabLst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defTabSz="330200" eaLnBrk="0" hangingPunct="0">
              <a:spcBef>
                <a:spcPct val="20000"/>
              </a:spcBef>
              <a:buChar char="•"/>
              <a:tabLst>
                <a:tab pos="1346200" algn="l"/>
              </a:tabLst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defTabSz="330200" eaLnBrk="0" hangingPunct="0">
              <a:spcBef>
                <a:spcPct val="20000"/>
              </a:spcBef>
              <a:buChar char="–"/>
              <a:tabLst>
                <a:tab pos="1346200" algn="l"/>
              </a:tabLst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defTabSz="330200" eaLnBrk="0" hangingPunct="0">
              <a:spcBef>
                <a:spcPct val="20000"/>
              </a:spcBef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ja-JP" altLang="en-US" sz="1100">
              <a:solidFill>
                <a:srgbClr val="333333"/>
              </a:solidFill>
              <a:latin typeface="Calibri" panose="020F0502020204030204" pitchFamily="34" charset="0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31" name="テキスト ボックス 159"/>
          <p:cNvSpPr txBox="1">
            <a:spLocks noChangeArrowheads="1"/>
          </p:cNvSpPr>
          <p:nvPr/>
        </p:nvSpPr>
        <p:spPr bwMode="auto">
          <a:xfrm>
            <a:off x="7724046" y="3631441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1400">
                <a:solidFill>
                  <a:srgbClr val="333333"/>
                </a:solidFill>
              </a:rPr>
              <a:t>求職者</a:t>
            </a:r>
          </a:p>
        </p:txBody>
      </p:sp>
      <p:sp>
        <p:nvSpPr>
          <p:cNvPr id="32" name="円/楕円 160"/>
          <p:cNvSpPr>
            <a:spLocks noChangeAspect="1"/>
          </p:cNvSpPr>
          <p:nvPr/>
        </p:nvSpPr>
        <p:spPr bwMode="auto">
          <a:xfrm>
            <a:off x="3546475" y="4140631"/>
            <a:ext cx="1862138" cy="20161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FF6600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>
            <a:lvl1pPr defTabSz="330200" eaLnBrk="0" hangingPunct="0">
              <a:spcBef>
                <a:spcPct val="20000"/>
              </a:spcBef>
              <a:buFont typeface="Wingdings" panose="05000000000000000000" pitchFamily="2" charset="2"/>
              <a:tabLst>
                <a:tab pos="1346200" algn="l"/>
              </a:tabLst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defTabSz="330200" eaLnBrk="0" hangingPunct="0">
              <a:spcBef>
                <a:spcPct val="20000"/>
              </a:spcBef>
              <a:buChar char="–"/>
              <a:tabLst>
                <a:tab pos="1346200" algn="l"/>
              </a:tabLst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defTabSz="330200" eaLnBrk="0" hangingPunct="0">
              <a:spcBef>
                <a:spcPct val="20000"/>
              </a:spcBef>
              <a:buChar char="•"/>
              <a:tabLst>
                <a:tab pos="1346200" algn="l"/>
              </a:tabLst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defTabSz="330200" eaLnBrk="0" hangingPunct="0">
              <a:spcBef>
                <a:spcPct val="20000"/>
              </a:spcBef>
              <a:buChar char="–"/>
              <a:tabLst>
                <a:tab pos="1346200" algn="l"/>
              </a:tabLst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defTabSz="330200" eaLnBrk="0" hangingPunct="0">
              <a:spcBef>
                <a:spcPct val="20000"/>
              </a:spcBef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defTabSz="330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46200" algn="l"/>
              </a:tabLst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ja-JP" altLang="en-US" sz="1100">
              <a:solidFill>
                <a:srgbClr val="333333"/>
              </a:solidFill>
              <a:latin typeface="Calibri" panose="020F0502020204030204" pitchFamily="34" charset="0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33" name="テキスト ボックス 161"/>
          <p:cNvSpPr txBox="1">
            <a:spLocks noChangeArrowheads="1"/>
          </p:cNvSpPr>
          <p:nvPr/>
        </p:nvSpPr>
        <p:spPr bwMode="auto">
          <a:xfrm>
            <a:off x="4040441" y="4320019"/>
            <a:ext cx="899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defRPr kumimoji="1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1400" dirty="0">
                <a:solidFill>
                  <a:srgbClr val="333333"/>
                </a:solidFill>
              </a:rPr>
              <a:t>キャリア</a:t>
            </a:r>
            <a:endParaRPr lang="en-US" altLang="ja-JP" sz="1400" dirty="0">
              <a:solidFill>
                <a:srgbClr val="333333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1400" dirty="0" smtClean="0">
                <a:solidFill>
                  <a:srgbClr val="333333"/>
                </a:solidFill>
              </a:rPr>
              <a:t>パートナー</a:t>
            </a:r>
            <a:endParaRPr lang="ja-JP" altLang="en-US" sz="1400" dirty="0">
              <a:solidFill>
                <a:srgbClr val="333333"/>
              </a:solidFill>
            </a:endParaRPr>
          </a:p>
        </p:txBody>
      </p:sp>
      <p:pic>
        <p:nvPicPr>
          <p:cNvPr id="34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50" y="4855006"/>
            <a:ext cx="738188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5" name="グループ化 163"/>
          <p:cNvGrpSpPr>
            <a:grpSpLocks/>
          </p:cNvGrpSpPr>
          <p:nvPr/>
        </p:nvGrpSpPr>
        <p:grpSpPr bwMode="auto">
          <a:xfrm>
            <a:off x="107714" y="3452829"/>
            <a:ext cx="1860550" cy="2016125"/>
            <a:chOff x="251520" y="2996952"/>
            <a:chExt cx="1861130" cy="2016224"/>
          </a:xfrm>
        </p:grpSpPr>
        <p:sp>
          <p:nvSpPr>
            <p:cNvPr id="37" name="円/楕円 165"/>
            <p:cNvSpPr>
              <a:spLocks noChangeAspect="1"/>
            </p:cNvSpPr>
            <p:nvPr/>
          </p:nvSpPr>
          <p:spPr bwMode="auto">
            <a:xfrm>
              <a:off x="251520" y="2996952"/>
              <a:ext cx="1861130" cy="2016224"/>
            </a:xfrm>
            <a:prstGeom prst="ellipse">
              <a:avLst/>
            </a:prstGeom>
            <a:noFill/>
            <a:ln w="6350" algn="ctr">
              <a:solidFill>
                <a:schemeClr val="accent6">
                  <a:lumMod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>
              <a:lvl1pPr defTabSz="330200" eaLnBrk="0" hangingPunct="0">
                <a:spcBef>
                  <a:spcPct val="20000"/>
                </a:spcBef>
                <a:buFont typeface="Wingdings" panose="05000000000000000000" pitchFamily="2" charset="2"/>
                <a:tabLst>
                  <a:tab pos="1346200" algn="l"/>
                </a:tabLst>
                <a:defRPr kumimoji="1" sz="20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1pPr>
              <a:lvl2pPr marL="742950" indent="-285750" defTabSz="330200" eaLnBrk="0" hangingPunct="0">
                <a:spcBef>
                  <a:spcPct val="20000"/>
                </a:spcBef>
                <a:buChar char="–"/>
                <a:tabLst>
                  <a:tab pos="1346200" algn="l"/>
                </a:tabLst>
                <a:defRPr kumimoji="1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2pPr>
              <a:lvl3pPr marL="1143000" indent="-228600" defTabSz="330200" eaLnBrk="0" hangingPunct="0">
                <a:spcBef>
                  <a:spcPct val="20000"/>
                </a:spcBef>
                <a:buChar char="•"/>
                <a:tabLst>
                  <a:tab pos="1346200" algn="l"/>
                </a:tabLst>
                <a:defRPr kumimoji="1" sz="16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3pPr>
              <a:lvl4pPr marL="1600200" indent="-228600" defTabSz="330200" eaLnBrk="0" hangingPunct="0">
                <a:spcBef>
                  <a:spcPct val="20000"/>
                </a:spcBef>
                <a:buChar char="–"/>
                <a:tabLst>
                  <a:tab pos="1346200" algn="l"/>
                </a:tabLst>
                <a:defRPr kumimoji="1"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4pPr>
              <a:lvl5pPr marL="2057400" indent="-228600" defTabSz="330200" eaLnBrk="0" hangingPunct="0">
                <a:spcBef>
                  <a:spcPct val="20000"/>
                </a:spcBef>
                <a:buChar char="»"/>
                <a:tabLst>
                  <a:tab pos="1346200" algn="l"/>
                </a:tabLst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5pPr>
              <a:lvl6pPr marL="2514600" indent="-228600" defTabSz="330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346200" algn="l"/>
                </a:tabLst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6pPr>
              <a:lvl7pPr marL="2971800" indent="-228600" defTabSz="330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346200" algn="l"/>
                </a:tabLst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7pPr>
              <a:lvl8pPr marL="3429000" indent="-228600" defTabSz="330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346200" algn="l"/>
                </a:tabLst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8pPr>
              <a:lvl9pPr marL="3886200" indent="-228600" defTabSz="330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346200" algn="l"/>
                </a:tabLst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ja-JP" altLang="en-US" sz="1100">
                <a:solidFill>
                  <a:srgbClr val="333333"/>
                </a:solidFill>
                <a:latin typeface="Calibri" panose="020F0502020204030204" pitchFamily="34" charset="0"/>
                <a:ea typeface="Arial Unicode MS" panose="020B0604020202020204" pitchFamily="50" charset="-128"/>
                <a:cs typeface="Arial Unicode MS" panose="020B0604020202020204" pitchFamily="50" charset="-128"/>
              </a:endParaRPr>
            </a:p>
          </p:txBody>
        </p:sp>
        <p:sp>
          <p:nvSpPr>
            <p:cNvPr id="38" name="テキスト ボックス 166"/>
            <p:cNvSpPr txBox="1">
              <a:spLocks noChangeArrowheads="1"/>
            </p:cNvSpPr>
            <p:nvPr/>
          </p:nvSpPr>
          <p:spPr bwMode="auto">
            <a:xfrm>
              <a:off x="820448" y="3144733"/>
              <a:ext cx="72327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Wingdings" panose="05000000000000000000" pitchFamily="2" charset="2"/>
                <a:defRPr kumimoji="1" sz="20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16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1400" dirty="0">
                  <a:solidFill>
                    <a:srgbClr val="333333"/>
                  </a:solidFill>
                </a:rPr>
                <a:t>事業所</a:t>
              </a:r>
            </a:p>
          </p:txBody>
        </p:sp>
      </p:grpSp>
      <p:sp>
        <p:nvSpPr>
          <p:cNvPr id="39" name="四角形吹き出し 38"/>
          <p:cNvSpPr/>
          <p:nvPr/>
        </p:nvSpPr>
        <p:spPr bwMode="auto">
          <a:xfrm>
            <a:off x="250825" y="1750848"/>
            <a:ext cx="2790825" cy="1644327"/>
          </a:xfrm>
          <a:prstGeom prst="wedgeRectCallout">
            <a:avLst>
              <a:gd name="adj1" fmla="val 38689"/>
              <a:gd name="adj2" fmla="val 97099"/>
            </a:avLst>
          </a:prstGeom>
          <a:solidFill>
            <a:schemeClr val="accent1">
              <a:lumMod val="40000"/>
              <a:lumOff val="60000"/>
            </a:schemeClr>
          </a:solidFill>
          <a:ln w="6350" algn="ctr">
            <a:solidFill>
              <a:srgbClr val="FFC000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defTabSz="330200">
              <a:spcAft>
                <a:spcPts val="600"/>
              </a:spcAft>
              <a:tabLst>
                <a:tab pos="1346200" algn="l"/>
              </a:tabLst>
              <a:defRPr/>
            </a:pPr>
            <a:r>
              <a:rPr lang="en-US" altLang="ja-JP" sz="1400" dirty="0">
                <a:solidFill>
                  <a:srgbClr val="333333"/>
                </a:solidFill>
                <a:cs typeface="Meiryo UI" panose="020B0604030504040204" pitchFamily="50" charset="-128"/>
              </a:rPr>
              <a:t>【</a:t>
            </a:r>
            <a:r>
              <a:rPr lang="ja-JP" altLang="en-US" sz="1400" dirty="0">
                <a:solidFill>
                  <a:srgbClr val="333333"/>
                </a:solidFill>
                <a:cs typeface="Meiryo UI" panose="020B0604030504040204" pitchFamily="50" charset="-128"/>
              </a:rPr>
              <a:t>事業所にとっての価値</a:t>
            </a:r>
            <a:r>
              <a:rPr lang="en-US" altLang="ja-JP" sz="1400" dirty="0">
                <a:solidFill>
                  <a:srgbClr val="333333"/>
                </a:solidFill>
                <a:cs typeface="Meiryo UI" panose="020B0604030504040204" pitchFamily="50" charset="-128"/>
              </a:rPr>
              <a:t>】</a:t>
            </a:r>
          </a:p>
          <a:p>
            <a:pPr marL="171450" indent="-171450" defTabSz="330200">
              <a:spcAft>
                <a:spcPts val="600"/>
              </a:spcAft>
              <a:buFont typeface="Wingdings" pitchFamily="2" charset="2"/>
              <a:buChar char="ü"/>
              <a:tabLst>
                <a:tab pos="1346200" algn="l"/>
              </a:tabLst>
              <a:defRPr/>
            </a:pPr>
            <a:r>
              <a:rPr lang="ja-JP" altLang="en-US" sz="1400" dirty="0">
                <a:solidFill>
                  <a:srgbClr val="333333"/>
                </a:solidFill>
                <a:cs typeface="Meiryo UI" panose="020B0604030504040204" pitchFamily="50" charset="-128"/>
              </a:rPr>
              <a:t>母集団</a:t>
            </a: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形成とスクリーニングの代行</a:t>
            </a:r>
            <a:endParaRPr lang="en-US" altLang="ja-JP" sz="1400" dirty="0">
              <a:solidFill>
                <a:srgbClr val="333333"/>
              </a:solidFill>
              <a:cs typeface="Meiryo UI" panose="020B0604030504040204" pitchFamily="50" charset="-128"/>
            </a:endParaRPr>
          </a:p>
          <a:p>
            <a:pPr marL="171450" indent="-171450" defTabSz="330200">
              <a:spcAft>
                <a:spcPts val="600"/>
              </a:spcAft>
              <a:buFont typeface="Wingdings" pitchFamily="2" charset="2"/>
              <a:buChar char="ü"/>
              <a:tabLst>
                <a:tab pos="1346200" algn="l"/>
              </a:tabLst>
              <a:defRPr/>
            </a:pP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タイムリーな採用の実現</a:t>
            </a:r>
            <a:endParaRPr lang="en-US" altLang="ja-JP" sz="1400" dirty="0" smtClean="0">
              <a:solidFill>
                <a:srgbClr val="333333"/>
              </a:solidFill>
              <a:cs typeface="Meiryo UI" panose="020B0604030504040204" pitchFamily="50" charset="-128"/>
            </a:endParaRPr>
          </a:p>
          <a:p>
            <a:pPr marL="171450" indent="-171450" defTabSz="330200">
              <a:spcAft>
                <a:spcPts val="600"/>
              </a:spcAft>
              <a:buFont typeface="Wingdings" pitchFamily="2" charset="2"/>
              <a:buChar char="ü"/>
              <a:tabLst>
                <a:tab pos="1346200" algn="l"/>
              </a:tabLst>
              <a:defRPr/>
            </a:pP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人手不足の解消</a:t>
            </a:r>
            <a:endParaRPr lang="en-US" altLang="ja-JP" sz="1400" dirty="0" smtClean="0">
              <a:solidFill>
                <a:srgbClr val="333333"/>
              </a:solidFill>
              <a:cs typeface="Meiryo UI" panose="020B0604030504040204" pitchFamily="50" charset="-128"/>
            </a:endParaRPr>
          </a:p>
          <a:p>
            <a:pPr marL="171450" indent="-171450" defTabSz="330200">
              <a:spcAft>
                <a:spcPts val="600"/>
              </a:spcAft>
              <a:buFont typeface="Wingdings" pitchFamily="2" charset="2"/>
              <a:buChar char="ü"/>
              <a:tabLst>
                <a:tab pos="1346200" algn="l"/>
              </a:tabLst>
              <a:defRPr/>
            </a:pP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人材提供による事業の改善</a:t>
            </a:r>
            <a:r>
              <a:rPr lang="en-US" altLang="ja-JP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/</a:t>
            </a: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発展</a:t>
            </a:r>
            <a:endParaRPr lang="en-US" altLang="ja-JP" sz="1400" dirty="0" smtClean="0">
              <a:solidFill>
                <a:srgbClr val="333333"/>
              </a:solidFill>
              <a:cs typeface="Meiryo UI" panose="020B0604030504040204" pitchFamily="50" charset="-128"/>
            </a:endParaRPr>
          </a:p>
        </p:txBody>
      </p:sp>
      <p:sp>
        <p:nvSpPr>
          <p:cNvPr id="40" name="四角形吹き出し 39"/>
          <p:cNvSpPr/>
          <p:nvPr/>
        </p:nvSpPr>
        <p:spPr bwMode="auto">
          <a:xfrm>
            <a:off x="5959477" y="1750849"/>
            <a:ext cx="2933698" cy="1644326"/>
          </a:xfrm>
          <a:prstGeom prst="wedgeRectCallout">
            <a:avLst>
              <a:gd name="adj1" fmla="val -43598"/>
              <a:gd name="adj2" fmla="val 95403"/>
            </a:avLst>
          </a:prstGeom>
          <a:solidFill>
            <a:schemeClr val="accent1">
              <a:lumMod val="40000"/>
              <a:lumOff val="60000"/>
            </a:schemeClr>
          </a:solidFill>
          <a:ln w="6350" algn="ctr">
            <a:solidFill>
              <a:srgbClr val="FFC000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defTabSz="330200">
              <a:spcAft>
                <a:spcPts val="600"/>
              </a:spcAft>
              <a:tabLst>
                <a:tab pos="1346200" algn="l"/>
              </a:tabLst>
              <a:defRPr/>
            </a:pPr>
            <a:r>
              <a:rPr lang="en-US" altLang="ja-JP" sz="1400" dirty="0">
                <a:solidFill>
                  <a:srgbClr val="333333"/>
                </a:solidFill>
                <a:cs typeface="Meiryo UI" panose="020B0604030504040204" pitchFamily="50" charset="-128"/>
              </a:rPr>
              <a:t>【</a:t>
            </a:r>
            <a:r>
              <a:rPr lang="ja-JP" altLang="en-US" sz="1400" dirty="0">
                <a:solidFill>
                  <a:srgbClr val="333333"/>
                </a:solidFill>
                <a:cs typeface="Meiryo UI" panose="020B0604030504040204" pitchFamily="50" charset="-128"/>
              </a:rPr>
              <a:t>求職者にとっての価値</a:t>
            </a:r>
            <a:r>
              <a:rPr lang="en-US" altLang="ja-JP" sz="1400" dirty="0">
                <a:solidFill>
                  <a:srgbClr val="333333"/>
                </a:solidFill>
                <a:cs typeface="Meiryo UI" panose="020B0604030504040204" pitchFamily="50" charset="-128"/>
              </a:rPr>
              <a:t>】</a:t>
            </a:r>
          </a:p>
          <a:p>
            <a:pPr marL="171450" indent="-171450" defTabSz="330200">
              <a:spcAft>
                <a:spcPts val="600"/>
              </a:spcAft>
              <a:buFont typeface="Wingdings" pitchFamily="2" charset="2"/>
              <a:buChar char="ü"/>
              <a:tabLst>
                <a:tab pos="1346200" algn="l"/>
              </a:tabLst>
              <a:defRPr/>
            </a:pP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豊富な事業者への接触機会の提供</a:t>
            </a:r>
            <a:endParaRPr lang="en-US" altLang="ja-JP" sz="1400" dirty="0" smtClean="0">
              <a:solidFill>
                <a:srgbClr val="333333"/>
              </a:solidFill>
              <a:cs typeface="Meiryo UI" panose="020B0604030504040204" pitchFamily="50" charset="-128"/>
            </a:endParaRPr>
          </a:p>
          <a:p>
            <a:pPr marL="171450" indent="-171450" defTabSz="330200">
              <a:spcAft>
                <a:spcPts val="600"/>
              </a:spcAft>
              <a:buFont typeface="Wingdings" pitchFamily="2" charset="2"/>
              <a:buChar char="ü"/>
              <a:tabLst>
                <a:tab pos="1346200" algn="l"/>
              </a:tabLst>
              <a:defRPr/>
            </a:pP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転職の提案による現状の「不」の解消</a:t>
            </a:r>
            <a:endParaRPr lang="en-US" altLang="ja-JP" sz="1400" dirty="0">
              <a:solidFill>
                <a:srgbClr val="333333"/>
              </a:solidFill>
              <a:cs typeface="Meiryo UI" panose="020B0604030504040204" pitchFamily="50" charset="-128"/>
            </a:endParaRPr>
          </a:p>
          <a:p>
            <a:pPr marL="171450" indent="-171450" defTabSz="330200">
              <a:spcAft>
                <a:spcPts val="600"/>
              </a:spcAft>
              <a:buFont typeface="Wingdings" pitchFamily="2" charset="2"/>
              <a:buChar char="ü"/>
              <a:tabLst>
                <a:tab pos="1346200" algn="l"/>
              </a:tabLst>
              <a:defRPr/>
            </a:pP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事業所との交渉代行</a:t>
            </a:r>
            <a:endParaRPr lang="ja-JP" altLang="en-US" sz="1400" dirty="0">
              <a:solidFill>
                <a:srgbClr val="333333"/>
              </a:solidFill>
              <a:cs typeface="Meiryo UI" panose="020B0604030504040204" pitchFamily="50" charset="-128"/>
            </a:endParaRPr>
          </a:p>
        </p:txBody>
      </p:sp>
      <p:pic>
        <p:nvPicPr>
          <p:cNvPr id="44" name="図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828" y="4021284"/>
            <a:ext cx="1443896" cy="962597"/>
          </a:xfrm>
          <a:prstGeom prst="rect">
            <a:avLst/>
          </a:prstGeom>
        </p:spPr>
      </p:pic>
      <p:pic>
        <p:nvPicPr>
          <p:cNvPr id="46" name="図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48" y="4044690"/>
            <a:ext cx="1399660" cy="88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CEAFE2-FC32-4C85-9C5F-F9D728D9D91C}" type="slidenum">
              <a:rPr lang="ja-JP" altLang="en-US" smtClean="0"/>
              <a:pPr>
                <a:defRPr/>
              </a:pPr>
              <a:t>16</a:t>
            </a:fld>
            <a:endParaRPr lang="en-US" altLang="ja-JP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>
                <a:solidFill>
                  <a:schemeClr val="tx1"/>
                </a:solidFill>
              </a:rPr>
              <a:t>キャリアパートナーの役割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>
          <a:xfrm>
            <a:off x="250825" y="672855"/>
            <a:ext cx="8736656" cy="1152525"/>
          </a:xfrm>
        </p:spPr>
        <p:txBody>
          <a:bodyPr/>
          <a:lstStyle/>
          <a:p>
            <a:r>
              <a:rPr lang="ja-JP" altLang="en-US" b="0" dirty="0" smtClean="0">
                <a:solidFill>
                  <a:schemeClr val="tx1"/>
                </a:solidFill>
              </a:rPr>
              <a:t>転職</a:t>
            </a:r>
            <a:r>
              <a:rPr lang="ja-JP" altLang="en-US" b="0" dirty="0">
                <a:solidFill>
                  <a:schemeClr val="tx1"/>
                </a:solidFill>
              </a:rPr>
              <a:t>は求職者の人生にとって大きなイベントで</a:t>
            </a:r>
            <a:r>
              <a:rPr lang="ja-JP" altLang="en-US" b="0" dirty="0" smtClean="0">
                <a:solidFill>
                  <a:schemeClr val="tx1"/>
                </a:solidFill>
              </a:rPr>
              <a:t>あり、キャリアパートナーが主役ではない事業所・求職者双方の納得度が重要。互いに、書類上</a:t>
            </a:r>
            <a:r>
              <a:rPr lang="en-US" altLang="ja-JP" b="0" dirty="0" smtClean="0">
                <a:solidFill>
                  <a:schemeClr val="tx1"/>
                </a:solidFill>
              </a:rPr>
              <a:t>NG</a:t>
            </a:r>
            <a:r>
              <a:rPr lang="ja-JP" altLang="en-US" b="0" dirty="0" smtClean="0">
                <a:solidFill>
                  <a:schemeClr val="tx1"/>
                </a:solidFill>
              </a:rPr>
              <a:t>など</a:t>
            </a:r>
            <a:r>
              <a:rPr lang="ja-JP" altLang="en-US" b="0" dirty="0">
                <a:solidFill>
                  <a:schemeClr val="tx1"/>
                </a:solidFill>
              </a:rPr>
              <a:t>の</a:t>
            </a:r>
            <a:r>
              <a:rPr lang="ja-JP" altLang="en-US" b="0" dirty="0" smtClean="0">
                <a:solidFill>
                  <a:schemeClr val="tx1"/>
                </a:solidFill>
              </a:rPr>
              <a:t>先入観があるが、そこを覆し選択肢を広げることに</a:t>
            </a:r>
            <a:r>
              <a:rPr lang="ja-JP" altLang="en-US" b="0" dirty="0">
                <a:solidFill>
                  <a:schemeClr val="tx1"/>
                </a:solidFill>
              </a:rPr>
              <a:t>難しさとやりがいが存在</a:t>
            </a:r>
            <a:r>
              <a:rPr lang="ja-JP" altLang="en-US" b="0" dirty="0" smtClean="0">
                <a:solidFill>
                  <a:schemeClr val="tx1"/>
                </a:solidFill>
              </a:rPr>
              <a:t>する。</a:t>
            </a:r>
            <a:endParaRPr lang="ja-JP" altLang="en-US" b="0" dirty="0">
              <a:solidFill>
                <a:schemeClr val="tx1"/>
              </a:solidFill>
            </a:endParaRPr>
          </a:p>
        </p:txBody>
      </p:sp>
      <p:sp>
        <p:nvSpPr>
          <p:cNvPr id="66" name="円/楕円 65"/>
          <p:cNvSpPr/>
          <p:nvPr/>
        </p:nvSpPr>
        <p:spPr>
          <a:xfrm>
            <a:off x="419594" y="2174410"/>
            <a:ext cx="2746089" cy="1211611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b="1" dirty="0" smtClean="0">
                <a:solidFill>
                  <a:srgbClr val="FFFFFF"/>
                </a:solidFill>
                <a:cs typeface="Meiryo UI" pitchFamily="50" charset="-128"/>
              </a:rPr>
              <a:t>双方に多くの</a:t>
            </a:r>
            <a:endParaRPr lang="en-US" altLang="ja-JP" b="1" dirty="0" smtClean="0">
              <a:solidFill>
                <a:srgbClr val="FFFFFF"/>
              </a:solidFill>
              <a:cs typeface="Meiryo UI" pitchFamily="50" charset="-128"/>
            </a:endParaRPr>
          </a:p>
          <a:p>
            <a:pPr algn="ctr"/>
            <a:r>
              <a:rPr lang="ja-JP" altLang="en-US" b="1" dirty="0" smtClean="0">
                <a:solidFill>
                  <a:srgbClr val="FFFFFF"/>
                </a:solidFill>
                <a:cs typeface="Meiryo UI" pitchFamily="50" charset="-128"/>
              </a:rPr>
              <a:t>機会提供をし</a:t>
            </a:r>
            <a:endParaRPr lang="en-US" altLang="ja-JP" b="1" dirty="0" smtClean="0">
              <a:solidFill>
                <a:srgbClr val="FFFFFF"/>
              </a:solidFill>
              <a:cs typeface="Meiryo UI" pitchFamily="50" charset="-128"/>
            </a:endParaRPr>
          </a:p>
          <a:p>
            <a:pPr algn="ctr"/>
            <a:r>
              <a:rPr lang="ja-JP" altLang="en-US" b="1" dirty="0" smtClean="0">
                <a:solidFill>
                  <a:srgbClr val="FFFFFF"/>
                </a:solidFill>
                <a:cs typeface="Meiryo UI" pitchFamily="50" charset="-128"/>
              </a:rPr>
              <a:t>意思決定を促す</a:t>
            </a:r>
            <a:endParaRPr lang="en-US" altLang="ja-JP" b="1" dirty="0" smtClean="0">
              <a:solidFill>
                <a:srgbClr val="FFFFFF"/>
              </a:solidFill>
              <a:cs typeface="Meiryo UI" pitchFamily="50" charset="-128"/>
            </a:endParaRPr>
          </a:p>
        </p:txBody>
      </p:sp>
      <p:sp>
        <p:nvSpPr>
          <p:cNvPr id="67" name="円/楕円 66"/>
          <p:cNvSpPr/>
          <p:nvPr/>
        </p:nvSpPr>
        <p:spPr>
          <a:xfrm>
            <a:off x="3261015" y="2186935"/>
            <a:ext cx="2746089" cy="1211611"/>
          </a:xfrm>
          <a:prstGeom prst="ellipse">
            <a:avLst/>
          </a:prstGeom>
          <a:solidFill>
            <a:srgbClr val="FFFF99">
              <a:alpha val="25490"/>
            </a:srgb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b="1" dirty="0" smtClean="0">
                <a:solidFill>
                  <a:srgbClr val="FFFFFF">
                    <a:lumMod val="50000"/>
                  </a:srgbClr>
                </a:solidFill>
                <a:cs typeface="Meiryo UI" pitchFamily="50" charset="-128"/>
              </a:rPr>
              <a:t>CP</a:t>
            </a:r>
            <a:r>
              <a:rPr lang="ja-JP" altLang="en-US" b="1" dirty="0" smtClean="0">
                <a:solidFill>
                  <a:srgbClr val="FFFFFF">
                    <a:lumMod val="50000"/>
                  </a:srgbClr>
                </a:solidFill>
                <a:cs typeface="Meiryo UI" pitchFamily="50" charset="-128"/>
              </a:rPr>
              <a:t>の考え方を優先させて紹介を進める</a:t>
            </a:r>
            <a:endParaRPr lang="en-US" altLang="ja-JP" b="1" dirty="0" smtClean="0">
              <a:solidFill>
                <a:srgbClr val="FFFFFF">
                  <a:lumMod val="50000"/>
                </a:srgbClr>
              </a:solidFill>
              <a:cs typeface="Meiryo UI" pitchFamily="50" charset="-128"/>
            </a:endParaRPr>
          </a:p>
        </p:txBody>
      </p:sp>
      <p:sp>
        <p:nvSpPr>
          <p:cNvPr id="68" name="円/楕円 67"/>
          <p:cNvSpPr/>
          <p:nvPr/>
        </p:nvSpPr>
        <p:spPr>
          <a:xfrm>
            <a:off x="6053830" y="2186935"/>
            <a:ext cx="2746089" cy="1211611"/>
          </a:xfrm>
          <a:prstGeom prst="ellipse">
            <a:avLst/>
          </a:prstGeom>
          <a:solidFill>
            <a:srgbClr val="FFFF99">
              <a:alpha val="25490"/>
            </a:srgb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b="1" dirty="0" smtClean="0">
                <a:solidFill>
                  <a:srgbClr val="FFFFFF">
                    <a:lumMod val="50000"/>
                  </a:srgbClr>
                </a:solidFill>
                <a:cs typeface="Meiryo UI" pitchFamily="50" charset="-128"/>
              </a:rPr>
              <a:t>先入観を持ち、多くの事業所を見させないまま進める</a:t>
            </a:r>
            <a:endParaRPr lang="ja-JP" altLang="en-US" b="1" dirty="0">
              <a:solidFill>
                <a:srgbClr val="FFFFFF">
                  <a:lumMod val="50000"/>
                </a:srgbClr>
              </a:solidFill>
              <a:cs typeface="Meiryo UI" pitchFamily="50" charset="-128"/>
            </a:endParaRPr>
          </a:p>
        </p:txBody>
      </p:sp>
      <p:grpSp>
        <p:nvGrpSpPr>
          <p:cNvPr id="69" name="グループ化 68"/>
          <p:cNvGrpSpPr/>
          <p:nvPr/>
        </p:nvGrpSpPr>
        <p:grpSpPr>
          <a:xfrm>
            <a:off x="277786" y="4881068"/>
            <a:ext cx="8522133" cy="1512168"/>
            <a:chOff x="459867" y="1844824"/>
            <a:chExt cx="8522133" cy="1512168"/>
          </a:xfrm>
        </p:grpSpPr>
        <p:sp>
          <p:nvSpPr>
            <p:cNvPr id="70" name="ホームベース 69"/>
            <p:cNvSpPr/>
            <p:nvPr/>
          </p:nvSpPr>
          <p:spPr>
            <a:xfrm>
              <a:off x="650333" y="2204864"/>
              <a:ext cx="732966" cy="1152128"/>
            </a:xfrm>
            <a:prstGeom prst="homePlate">
              <a:avLst>
                <a:gd name="adj" fmla="val 1959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コンタクト</a:t>
              </a:r>
              <a:endParaRPr lang="en-US" altLang="ja-JP" sz="1400" b="1" dirty="0">
                <a:solidFill>
                  <a:srgbClr val="E78A2D">
                    <a:lumMod val="50000"/>
                  </a:srgbClr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架電</a:t>
              </a:r>
            </a:p>
          </p:txBody>
        </p:sp>
        <p:sp>
          <p:nvSpPr>
            <p:cNvPr id="71" name="山形 70"/>
            <p:cNvSpPr/>
            <p:nvPr/>
          </p:nvSpPr>
          <p:spPr>
            <a:xfrm>
              <a:off x="1341124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面談</a:t>
              </a:r>
            </a:p>
          </p:txBody>
        </p:sp>
        <p:sp>
          <p:nvSpPr>
            <p:cNvPr id="72" name="山形 71"/>
            <p:cNvSpPr/>
            <p:nvPr/>
          </p:nvSpPr>
          <p:spPr>
            <a:xfrm>
              <a:off x="2031915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求人探索</a:t>
              </a:r>
            </a:p>
          </p:txBody>
        </p:sp>
        <p:sp>
          <p:nvSpPr>
            <p:cNvPr id="73" name="山形 72"/>
            <p:cNvSpPr/>
            <p:nvPr/>
          </p:nvSpPr>
          <p:spPr>
            <a:xfrm>
              <a:off x="2722707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chemeClr val="bg1"/>
                  </a:solidFill>
                  <a:cs typeface="Meiryo UI" pitchFamily="50" charset="-128"/>
                </a:rPr>
                <a:t>求職者提案</a:t>
              </a:r>
            </a:p>
          </p:txBody>
        </p:sp>
        <p:sp>
          <p:nvSpPr>
            <p:cNvPr id="74" name="山形 73"/>
            <p:cNvSpPr/>
            <p:nvPr/>
          </p:nvSpPr>
          <p:spPr>
            <a:xfrm>
              <a:off x="3413499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chemeClr val="bg1"/>
                  </a:solidFill>
                  <a:cs typeface="Meiryo UI" pitchFamily="50" charset="-128"/>
                </a:rPr>
                <a:t>事業所打診</a:t>
              </a:r>
            </a:p>
          </p:txBody>
        </p:sp>
        <p:sp>
          <p:nvSpPr>
            <p:cNvPr id="75" name="山形 74"/>
            <p:cNvSpPr/>
            <p:nvPr/>
          </p:nvSpPr>
          <p:spPr>
            <a:xfrm>
              <a:off x="4104290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面接日程</a:t>
              </a:r>
              <a:endParaRPr lang="en-US" altLang="ja-JP" sz="1400" b="1" dirty="0">
                <a:solidFill>
                  <a:srgbClr val="E78A2D">
                    <a:lumMod val="50000"/>
                  </a:srgbClr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調整</a:t>
              </a:r>
            </a:p>
          </p:txBody>
        </p:sp>
        <p:sp>
          <p:nvSpPr>
            <p:cNvPr id="76" name="山形 75"/>
            <p:cNvSpPr/>
            <p:nvPr/>
          </p:nvSpPr>
          <p:spPr>
            <a:xfrm>
              <a:off x="4795081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面接前</a:t>
              </a:r>
              <a:endParaRPr lang="en-US" altLang="ja-JP" sz="1400" b="1" dirty="0">
                <a:solidFill>
                  <a:srgbClr val="E78A2D">
                    <a:lumMod val="50000"/>
                  </a:srgbClr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フォロー</a:t>
              </a:r>
            </a:p>
          </p:txBody>
        </p:sp>
        <p:sp>
          <p:nvSpPr>
            <p:cNvPr id="77" name="山形 76"/>
            <p:cNvSpPr/>
            <p:nvPr/>
          </p:nvSpPr>
          <p:spPr>
            <a:xfrm>
              <a:off x="5485873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 smtClean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面接同行</a:t>
              </a:r>
              <a:endParaRPr lang="en-US" altLang="ja-JP" sz="1400" b="1" dirty="0" smtClean="0">
                <a:solidFill>
                  <a:srgbClr val="E78A2D">
                    <a:lumMod val="50000"/>
                  </a:srgbClr>
                </a:solidFill>
                <a:cs typeface="Meiryo UI" pitchFamily="50" charset="-128"/>
              </a:endParaRPr>
            </a:p>
            <a:p>
              <a:pPr algn="ctr"/>
              <a:r>
                <a:rPr lang="en-US" altLang="ja-JP" sz="1400" b="1" dirty="0" smtClean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※</a:t>
              </a:r>
              <a:r>
                <a:rPr lang="ja-JP" altLang="en-US" sz="1400" b="1" dirty="0" smtClean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許可</a:t>
              </a:r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必要</a:t>
              </a:r>
            </a:p>
          </p:txBody>
        </p:sp>
        <p:sp>
          <p:nvSpPr>
            <p:cNvPr id="78" name="山形 77"/>
            <p:cNvSpPr/>
            <p:nvPr/>
          </p:nvSpPr>
          <p:spPr>
            <a:xfrm>
              <a:off x="6176664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面接後</a:t>
              </a:r>
              <a:endParaRPr lang="en-US" altLang="ja-JP" sz="1400" b="1" dirty="0">
                <a:solidFill>
                  <a:srgbClr val="E78A2D">
                    <a:lumMod val="50000"/>
                  </a:srgbClr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フォロー</a:t>
              </a:r>
            </a:p>
          </p:txBody>
        </p:sp>
        <p:sp>
          <p:nvSpPr>
            <p:cNvPr id="79" name="山形 78"/>
            <p:cNvSpPr/>
            <p:nvPr/>
          </p:nvSpPr>
          <p:spPr>
            <a:xfrm>
              <a:off x="6867455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書類回収</a:t>
              </a:r>
            </a:p>
          </p:txBody>
        </p:sp>
        <p:sp>
          <p:nvSpPr>
            <p:cNvPr id="80" name="山形 79"/>
            <p:cNvSpPr/>
            <p:nvPr/>
          </p:nvSpPr>
          <p:spPr>
            <a:xfrm>
              <a:off x="7558246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成約後</a:t>
              </a:r>
              <a:endParaRPr lang="en-US" altLang="ja-JP" sz="1400" b="1" dirty="0">
                <a:solidFill>
                  <a:srgbClr val="E78A2D">
                    <a:lumMod val="50000"/>
                  </a:srgbClr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フォロー</a:t>
              </a:r>
            </a:p>
          </p:txBody>
        </p:sp>
        <p:sp>
          <p:nvSpPr>
            <p:cNvPr id="81" name="山形 80"/>
            <p:cNvSpPr/>
            <p:nvPr/>
          </p:nvSpPr>
          <p:spPr>
            <a:xfrm>
              <a:off x="8249034" y="2204864"/>
              <a:ext cx="732966" cy="1152128"/>
            </a:xfrm>
            <a:prstGeom prst="chevron">
              <a:avLst>
                <a:gd name="adj" fmla="val 1780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eaVert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入職後</a:t>
              </a:r>
              <a:endParaRPr lang="en-US" altLang="ja-JP" sz="1400" b="1" dirty="0">
                <a:solidFill>
                  <a:srgbClr val="E78A2D">
                    <a:lumMod val="50000"/>
                  </a:srgbClr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E78A2D">
                      <a:lumMod val="50000"/>
                    </a:srgbClr>
                  </a:solidFill>
                  <a:cs typeface="Meiryo UI" pitchFamily="50" charset="-128"/>
                </a:rPr>
                <a:t>フォロー</a:t>
              </a:r>
            </a:p>
          </p:txBody>
        </p:sp>
        <p:sp>
          <p:nvSpPr>
            <p:cNvPr id="82" name="テキスト ボックス 81"/>
            <p:cNvSpPr txBox="1"/>
            <p:nvPr/>
          </p:nvSpPr>
          <p:spPr>
            <a:xfrm>
              <a:off x="459867" y="1844824"/>
              <a:ext cx="723275" cy="523220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仮登録</a:t>
              </a:r>
              <a:endParaRPr lang="en-US" altLang="ja-JP" sz="1400" b="1" dirty="0">
                <a:solidFill>
                  <a:srgbClr val="333333"/>
                </a:solidFill>
                <a:cs typeface="Meiryo UI" pitchFamily="50" charset="-128"/>
              </a:endParaRPr>
            </a:p>
            <a:p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▼</a:t>
              </a:r>
            </a:p>
          </p:txBody>
        </p:sp>
        <p:sp>
          <p:nvSpPr>
            <p:cNvPr id="83" name="テキスト ボックス 82"/>
            <p:cNvSpPr txBox="1"/>
            <p:nvPr/>
          </p:nvSpPr>
          <p:spPr>
            <a:xfrm>
              <a:off x="4318526" y="1844824"/>
              <a:ext cx="902811" cy="523220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面接設定</a:t>
              </a:r>
              <a:endParaRPr lang="en-US" altLang="ja-JP" sz="1400" b="1" dirty="0">
                <a:solidFill>
                  <a:srgbClr val="333333"/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▼</a:t>
              </a:r>
            </a:p>
          </p:txBody>
        </p:sp>
        <p:sp>
          <p:nvSpPr>
            <p:cNvPr id="84" name="テキスト ボックス 83"/>
            <p:cNvSpPr txBox="1"/>
            <p:nvPr/>
          </p:nvSpPr>
          <p:spPr>
            <a:xfrm>
              <a:off x="6563997" y="1844824"/>
              <a:ext cx="543739" cy="523220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内定</a:t>
              </a:r>
              <a:endParaRPr lang="en-US" altLang="ja-JP" sz="1400" b="1" dirty="0">
                <a:solidFill>
                  <a:srgbClr val="333333"/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▼</a:t>
              </a:r>
            </a:p>
          </p:txBody>
        </p:sp>
        <p:sp>
          <p:nvSpPr>
            <p:cNvPr id="85" name="テキスト ボックス 84"/>
            <p:cNvSpPr txBox="1"/>
            <p:nvPr/>
          </p:nvSpPr>
          <p:spPr>
            <a:xfrm>
              <a:off x="7264425" y="1844824"/>
              <a:ext cx="543739" cy="523220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成約</a:t>
              </a:r>
              <a:endParaRPr lang="en-US" altLang="ja-JP" sz="1400" b="1" dirty="0">
                <a:solidFill>
                  <a:srgbClr val="333333"/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▼</a:t>
              </a:r>
            </a:p>
          </p:txBody>
        </p:sp>
        <p:sp>
          <p:nvSpPr>
            <p:cNvPr id="86" name="テキスト ボックス 85"/>
            <p:cNvSpPr txBox="1"/>
            <p:nvPr/>
          </p:nvSpPr>
          <p:spPr>
            <a:xfrm>
              <a:off x="7953389" y="1844824"/>
              <a:ext cx="543739" cy="523220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入職</a:t>
              </a:r>
              <a:endParaRPr lang="en-US" altLang="ja-JP" sz="1400" b="1" dirty="0">
                <a:solidFill>
                  <a:srgbClr val="333333"/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▼</a:t>
              </a:r>
            </a:p>
          </p:txBody>
        </p:sp>
        <p:sp>
          <p:nvSpPr>
            <p:cNvPr id="87" name="テキスト ボックス 86"/>
            <p:cNvSpPr txBox="1"/>
            <p:nvPr/>
          </p:nvSpPr>
          <p:spPr>
            <a:xfrm>
              <a:off x="5400949" y="1844824"/>
              <a:ext cx="902811" cy="523220"/>
            </a:xfrm>
            <a:prstGeom prst="rect">
              <a:avLst/>
            </a:prstGeom>
            <a:noFill/>
          </p:spPr>
          <p:txBody>
            <a:bodyPr wrap="none" rtlCol="0" anchor="t" anchorCtr="0">
              <a:spAutoFit/>
            </a:bodyPr>
            <a:lstStyle/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面接実施</a:t>
              </a:r>
              <a:endParaRPr lang="en-US" altLang="ja-JP" sz="1400" b="1" dirty="0">
                <a:solidFill>
                  <a:srgbClr val="333333"/>
                </a:solidFill>
                <a:cs typeface="Meiryo UI" pitchFamily="50" charset="-128"/>
              </a:endParaRPr>
            </a:p>
            <a:p>
              <a:pPr algn="ctr"/>
              <a:r>
                <a:rPr lang="ja-JP" altLang="en-US" sz="1400" b="1" dirty="0">
                  <a:solidFill>
                    <a:srgbClr val="333333"/>
                  </a:solidFill>
                  <a:cs typeface="Meiryo UI" pitchFamily="50" charset="-128"/>
                </a:rPr>
                <a:t>▼</a:t>
              </a:r>
            </a:p>
          </p:txBody>
        </p:sp>
      </p:grpSp>
      <p:grpSp>
        <p:nvGrpSpPr>
          <p:cNvPr id="88" name="グループ化 87"/>
          <p:cNvGrpSpPr/>
          <p:nvPr/>
        </p:nvGrpSpPr>
        <p:grpSpPr>
          <a:xfrm>
            <a:off x="298296" y="4552508"/>
            <a:ext cx="4314704" cy="339570"/>
            <a:chOff x="12651185" y="1729002"/>
            <a:chExt cx="4018990" cy="267562"/>
          </a:xfrm>
        </p:grpSpPr>
        <p:sp>
          <p:nvSpPr>
            <p:cNvPr id="89" name="Line 98"/>
            <p:cNvSpPr>
              <a:spLocks noChangeShapeType="1"/>
            </p:cNvSpPr>
            <p:nvPr/>
          </p:nvSpPr>
          <p:spPr bwMode="auto">
            <a:xfrm flipV="1">
              <a:off x="12651185" y="1932726"/>
              <a:ext cx="1097953" cy="7099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endParaRPr lang="ja-JP" altLang="en-US" sz="1200" dirty="0">
                <a:solidFill>
                  <a:srgbClr val="000000"/>
                </a:solidFill>
                <a:cs typeface="Meiryo UI" panose="020B0604030504040204" pitchFamily="50" charset="-128"/>
              </a:endParaRPr>
            </a:p>
          </p:txBody>
        </p:sp>
        <p:sp>
          <p:nvSpPr>
            <p:cNvPr id="90" name="Rectangle 99"/>
            <p:cNvSpPr>
              <a:spLocks noChangeArrowheads="1"/>
            </p:cNvSpPr>
            <p:nvPr/>
          </p:nvSpPr>
          <p:spPr bwMode="auto">
            <a:xfrm>
              <a:off x="12693169" y="1729002"/>
              <a:ext cx="3977006" cy="2675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342900" indent="-342900" eaLnBrk="0" hangingPunct="0">
                <a:spcBef>
                  <a:spcPct val="20000"/>
                </a:spcBef>
              </a:pPr>
              <a:r>
                <a:rPr lang="ja-JP" altLang="en-US" sz="1600" dirty="0" smtClean="0">
                  <a:solidFill>
                    <a:srgbClr val="000000"/>
                  </a:solidFill>
                  <a:cs typeface="Meiryo UI" pitchFamily="50" charset="-128"/>
                </a:rPr>
                <a:t>▼業務フロー</a:t>
              </a:r>
              <a:endParaRPr lang="ja-JP" altLang="en-US" sz="1600" dirty="0">
                <a:solidFill>
                  <a:srgbClr val="000000"/>
                </a:solidFill>
                <a:cs typeface="Meiryo UI" pitchFamily="50" charset="-128"/>
              </a:endParaRPr>
            </a:p>
          </p:txBody>
        </p:sp>
      </p:grpSp>
      <p:sp>
        <p:nvSpPr>
          <p:cNvPr id="5" name="乗算記号 4"/>
          <p:cNvSpPr/>
          <p:nvPr/>
        </p:nvSpPr>
        <p:spPr bwMode="auto">
          <a:xfrm>
            <a:off x="4141965" y="1639539"/>
            <a:ext cx="902811" cy="900060"/>
          </a:xfrm>
          <a:prstGeom prst="mathMultiply">
            <a:avLst>
              <a:gd name="adj1" fmla="val 12570"/>
            </a:avLst>
          </a:prstGeom>
          <a:solidFill>
            <a:srgbClr val="FF0000"/>
          </a:solidFill>
          <a:ln w="127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31" name="乗算記号 30"/>
          <p:cNvSpPr/>
          <p:nvPr/>
        </p:nvSpPr>
        <p:spPr bwMode="auto">
          <a:xfrm>
            <a:off x="6930280" y="1634825"/>
            <a:ext cx="902811" cy="900060"/>
          </a:xfrm>
          <a:prstGeom prst="mathMultiply">
            <a:avLst>
              <a:gd name="adj1" fmla="val 12570"/>
            </a:avLst>
          </a:prstGeom>
          <a:solidFill>
            <a:srgbClr val="FF0000"/>
          </a:solidFill>
          <a:ln w="127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6" name="ドーナツ 5"/>
          <p:cNvSpPr/>
          <p:nvPr/>
        </p:nvSpPr>
        <p:spPr bwMode="auto">
          <a:xfrm>
            <a:off x="1477035" y="1770020"/>
            <a:ext cx="631205" cy="619840"/>
          </a:xfrm>
          <a:prstGeom prst="donut">
            <a:avLst>
              <a:gd name="adj" fmla="val 18475"/>
            </a:avLst>
          </a:prstGeom>
          <a:solidFill>
            <a:srgbClr val="FF0000"/>
          </a:solidFill>
          <a:ln w="127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33" name="四角形吹き出し 32"/>
          <p:cNvSpPr/>
          <p:nvPr/>
        </p:nvSpPr>
        <p:spPr bwMode="auto">
          <a:xfrm>
            <a:off x="1764922" y="3759791"/>
            <a:ext cx="6068169" cy="1051269"/>
          </a:xfrm>
          <a:prstGeom prst="wedgeRectCallout">
            <a:avLst>
              <a:gd name="adj1" fmla="val -27172"/>
              <a:gd name="adj2" fmla="val 85216"/>
            </a:avLst>
          </a:prstGeom>
          <a:solidFill>
            <a:schemeClr val="accent1">
              <a:lumMod val="40000"/>
              <a:lumOff val="60000"/>
            </a:schemeClr>
          </a:solidFill>
          <a:ln w="6350" algn="ctr">
            <a:solidFill>
              <a:srgbClr val="FFC000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defTabSz="330200">
              <a:spcAft>
                <a:spcPts val="600"/>
              </a:spcAft>
              <a:tabLst>
                <a:tab pos="1346200" algn="l"/>
              </a:tabLst>
              <a:defRPr/>
            </a:pPr>
            <a:r>
              <a:rPr lang="ja-JP" altLang="en-US" sz="1400" dirty="0" smtClean="0">
                <a:solidFill>
                  <a:srgbClr val="333333"/>
                </a:solidFill>
                <a:cs typeface="Meiryo UI" panose="020B0604030504040204" pitchFamily="50" charset="-128"/>
              </a:rPr>
              <a:t>・事業者には、求職者の魅力をお伝えし、できるだけたくさんの候補に実際にお会い頂く</a:t>
            </a:r>
            <a:r>
              <a:rPr lang="ja-JP" altLang="en-US" sz="1400" b="1" dirty="0" smtClean="0">
                <a:solidFill>
                  <a:srgbClr val="FF0000"/>
                </a:solidFill>
                <a:cs typeface="Meiryo UI" panose="020B0604030504040204" pitchFamily="50" charset="-128"/>
              </a:rPr>
              <a:t>「書類</a:t>
            </a:r>
            <a:r>
              <a:rPr lang="en-US" altLang="ja-JP" sz="1400" b="1" dirty="0" smtClean="0">
                <a:solidFill>
                  <a:srgbClr val="FF0000"/>
                </a:solidFill>
                <a:cs typeface="Meiryo UI" panose="020B0604030504040204" pitchFamily="50" charset="-128"/>
              </a:rPr>
              <a:t>NG</a:t>
            </a:r>
            <a:r>
              <a:rPr lang="ja-JP" altLang="en-US" sz="1400" b="1" dirty="0" smtClean="0">
                <a:solidFill>
                  <a:srgbClr val="FF0000"/>
                </a:solidFill>
                <a:cs typeface="Meiryo UI" panose="020B0604030504040204" pitchFamily="50" charset="-128"/>
              </a:rPr>
              <a:t>はもったいない！」</a:t>
            </a:r>
            <a:endParaRPr lang="en-US" altLang="ja-JP" sz="1400" b="1" dirty="0">
              <a:solidFill>
                <a:srgbClr val="FF0000"/>
              </a:solidFill>
              <a:cs typeface="Meiryo UI" panose="020B0604030504040204" pitchFamily="50" charset="-128"/>
            </a:endParaRPr>
          </a:p>
          <a:p>
            <a:pPr defTabSz="330200">
              <a:spcAft>
                <a:spcPts val="600"/>
              </a:spcAft>
              <a:tabLst>
                <a:tab pos="1346200" algn="l"/>
              </a:tabLst>
              <a:defRPr/>
            </a:pPr>
            <a:r>
              <a:rPr lang="ja-JP" altLang="en-US" sz="1400" dirty="0" smtClean="0">
                <a:cs typeface="Meiryo UI" panose="020B0604030504040204" pitchFamily="50" charset="-128"/>
              </a:rPr>
              <a:t>・求職者には、あらゆるタイプの事業者をご紹介し、できるだけたくさんの事業所に実際に訪問頂く</a:t>
            </a:r>
            <a:r>
              <a:rPr lang="ja-JP" altLang="en-US" sz="1400" b="1" dirty="0" smtClean="0">
                <a:solidFill>
                  <a:srgbClr val="FF0000"/>
                </a:solidFill>
                <a:cs typeface="Meiryo UI" panose="020B0604030504040204" pitchFamily="50" charset="-128"/>
              </a:rPr>
              <a:t>「条件で見送るのはもったいない！」</a:t>
            </a:r>
            <a:endParaRPr lang="en-US" altLang="ja-JP" sz="1400" b="1" dirty="0" smtClean="0">
              <a:solidFill>
                <a:srgbClr val="FF0000"/>
              </a:solidFill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999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7580" y="53109"/>
            <a:ext cx="7772400" cy="540000"/>
          </a:xfrm>
        </p:spPr>
        <p:txBody>
          <a:bodyPr/>
          <a:lstStyle/>
          <a:p>
            <a:r>
              <a:rPr kumimoji="1" lang="ja-JP" altLang="en-US" dirty="0" smtClean="0"/>
              <a:t>陥りがちなパターン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1AE98B-5BD0-4A5F-9EAF-A1BE28FFAF53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17</a:t>
            </a:fld>
            <a:endParaRPr lang="en-US" altLang="ja-JP">
              <a:solidFill>
                <a:prstClr val="black"/>
              </a:solidFill>
            </a:endParaRPr>
          </a:p>
        </p:txBody>
      </p:sp>
      <p:pic>
        <p:nvPicPr>
          <p:cNvPr id="5" name="Picture 2" descr="C:\Users\shinya-nagai\AppData\Local\Microsoft\Windows\Temporary Internet Files\Content.IE5\QCIP0XPI\MC90033254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641" y="4253113"/>
            <a:ext cx="3209300" cy="193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四角形吹き出し 5"/>
          <p:cNvSpPr/>
          <p:nvPr/>
        </p:nvSpPr>
        <p:spPr bwMode="auto">
          <a:xfrm>
            <a:off x="2995000" y="3227480"/>
            <a:ext cx="1528785" cy="769483"/>
          </a:xfrm>
          <a:prstGeom prst="wedgeRectCallout">
            <a:avLst>
              <a:gd name="adj1" fmla="val -32466"/>
              <a:gd name="adj2" fmla="val 10110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846" b="1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求める環境は</a:t>
            </a:r>
            <a:endParaRPr lang="en-US" altLang="ja-JP" sz="1846" b="1" dirty="0" smtClean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846" b="1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ありますか？</a:t>
            </a:r>
            <a:endParaRPr lang="ja-JP" altLang="en-US" sz="1846" b="1" dirty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8" name="円形吹き出し 7"/>
          <p:cNvSpPr/>
          <p:nvPr/>
        </p:nvSpPr>
        <p:spPr bwMode="auto">
          <a:xfrm>
            <a:off x="5313017" y="2824560"/>
            <a:ext cx="3038091" cy="1511196"/>
          </a:xfrm>
          <a:prstGeom prst="wedgeEllipseCallout">
            <a:avLst>
              <a:gd name="adj1" fmla="val -35273"/>
              <a:gd name="adj2" fmla="val 75158"/>
            </a:avLst>
          </a:prstGeom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292" dirty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私</a:t>
            </a:r>
            <a:r>
              <a:rPr lang="ja-JP" altLang="en-US" sz="1292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の希望は</a:t>
            </a:r>
            <a:r>
              <a:rPr lang="ja-JP" altLang="en-US" sz="1292" dirty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・・</a:t>
            </a:r>
            <a:r>
              <a:rPr lang="ja-JP" altLang="en-US" sz="1292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・</a:t>
            </a:r>
            <a:endParaRPr lang="en-US" altLang="ja-JP" sz="1292" dirty="0" smtClean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292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・年収が今より高くて・通いやすくて・職場の雰囲気がフラットで・年齢層が近い感じで・ステップアップが明確で・年収も下がる事はなくて・シフトも無理なく・休みやすい予防ケアがしたい・利用者は礼儀のある方・施設の中もきれいで・・・・・</a:t>
            </a:r>
            <a:endParaRPr lang="ja-JP" altLang="en-US" sz="1292" dirty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0" name="四角形吹き出し 9"/>
          <p:cNvSpPr/>
          <p:nvPr/>
        </p:nvSpPr>
        <p:spPr bwMode="auto">
          <a:xfrm>
            <a:off x="826365" y="4957915"/>
            <a:ext cx="1528785" cy="769483"/>
          </a:xfrm>
          <a:prstGeom prst="wedgeRectCallout">
            <a:avLst>
              <a:gd name="adj1" fmla="val 76143"/>
              <a:gd name="adj2" fmla="val -3479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846" b="1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給与の目安は？</a:t>
            </a:r>
            <a:endParaRPr lang="en-US" altLang="ja-JP" sz="1846" b="1" dirty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7" name="四角形吹き出し 6"/>
          <p:cNvSpPr/>
          <p:nvPr/>
        </p:nvSpPr>
        <p:spPr bwMode="auto">
          <a:xfrm>
            <a:off x="1272856" y="3877118"/>
            <a:ext cx="1528785" cy="769483"/>
          </a:xfrm>
          <a:prstGeom prst="wedgeRectCallout">
            <a:avLst>
              <a:gd name="adj1" fmla="val 73301"/>
              <a:gd name="adj2" fmla="val 36778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846" b="1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どんな条件が</a:t>
            </a:r>
            <a:endParaRPr lang="en-US" altLang="ja-JP" sz="1846" b="1" dirty="0" smtClean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846" b="1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いいですか？</a:t>
            </a:r>
            <a:endParaRPr lang="ja-JP" altLang="en-US" sz="1846" b="1" dirty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85051" y="1944414"/>
            <a:ext cx="8952217" cy="39780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585" b="1" kern="0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非現実的な希望条件ではなく</a:t>
            </a:r>
            <a:r>
              <a:rPr kumimoji="0" lang="ja-JP" altLang="en-US" sz="2585" b="1" u="sng" kern="0" dirty="0" smtClean="0">
                <a:solidFill>
                  <a:srgbClr val="FF0000"/>
                </a:solidFill>
                <a:ea typeface="Meiryo UI" pitchFamily="50" charset="-128"/>
                <a:cs typeface="Meiryo UI" pitchFamily="50" charset="-128"/>
              </a:rPr>
              <a:t>「実際を確認してもらうこと」が大切</a:t>
            </a:r>
            <a:endParaRPr kumimoji="0" lang="en-US" altLang="ja-JP" sz="2585" b="1" u="sng" kern="0" dirty="0">
              <a:solidFill>
                <a:srgbClr val="FF0000"/>
              </a:solidFill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4" name="コンテンツ プレースホルダー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求職者の要望を深堀りしすぎて、「理想の事業所」という「転職への夢」が強くなってしまい、結果、</a:t>
            </a:r>
            <a:r>
              <a:rPr kumimoji="1" lang="ja-JP" altLang="en-US" u="sng" dirty="0" smtClean="0"/>
              <a:t>ずっと決まらずに転職を諦めたり</a:t>
            </a:r>
            <a:r>
              <a:rPr kumimoji="1" lang="ja-JP" altLang="en-US" dirty="0" smtClean="0"/>
              <a:t>、大きく妥協することにつながってしまう。</a:t>
            </a:r>
            <a:endParaRPr kumimoji="1" lang="ja-JP" altLang="en-US" dirty="0"/>
          </a:p>
        </p:txBody>
      </p:sp>
      <p:sp>
        <p:nvSpPr>
          <p:cNvPr id="11" name="四角形吹き出し 10"/>
          <p:cNvSpPr/>
          <p:nvPr/>
        </p:nvSpPr>
        <p:spPr bwMode="auto">
          <a:xfrm>
            <a:off x="1071599" y="2724925"/>
            <a:ext cx="1528785" cy="769483"/>
          </a:xfrm>
          <a:prstGeom prst="wedgeRectCallout">
            <a:avLst>
              <a:gd name="adj1" fmla="val 62237"/>
              <a:gd name="adj2" fmla="val 86249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</p:spPr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846" b="1" dirty="0" smtClean="0">
                <a:solidFill>
                  <a:prstClr val="black"/>
                </a:solidFill>
                <a:ea typeface="Meiryo UI" pitchFamily="50" charset="-128"/>
                <a:cs typeface="Meiryo UI" pitchFamily="50" charset="-128"/>
              </a:rPr>
              <a:t>キャリアイメージは？</a:t>
            </a:r>
            <a:endParaRPr lang="ja-JP" altLang="en-US" sz="1846" b="1" dirty="0">
              <a:solidFill>
                <a:prstClr val="black"/>
              </a:solidFill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0595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52" y="1469360"/>
            <a:ext cx="8626249" cy="521911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参考：介護職の離職理由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職場との相性に不満を持って</a:t>
            </a:r>
            <a:r>
              <a:rPr lang="ja-JP" altLang="en-US" dirty="0"/>
              <a:t>離職</a:t>
            </a:r>
            <a:r>
              <a:rPr lang="ja-JP" altLang="en-US" dirty="0" smtClean="0"/>
              <a:t>を考えている方が大半</a:t>
            </a:r>
            <a:r>
              <a:rPr lang="ja-JP" altLang="en-US" dirty="0"/>
              <a:t>で</a:t>
            </a:r>
            <a:r>
              <a:rPr lang="ja-JP" altLang="en-US" dirty="0" smtClean="0"/>
              <a:t>す。この理由を解消するには、社風や考え方をよく確認いただくことが大切で</a:t>
            </a:r>
            <a:r>
              <a:rPr lang="ja-JP" altLang="en-US" dirty="0"/>
              <a:t>す</a:t>
            </a:r>
            <a:r>
              <a:rPr lang="ja-JP" altLang="en-US" dirty="0" smtClean="0"/>
              <a:t>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7269162" y="6575992"/>
            <a:ext cx="1905000" cy="457200"/>
          </a:xfrm>
        </p:spPr>
        <p:txBody>
          <a:bodyPr/>
          <a:lstStyle/>
          <a:p>
            <a:pPr>
              <a:defRPr/>
            </a:pPr>
            <a:fld id="{B81AE98B-5BD0-4A5F-9EAF-A1BE28FFAF53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7" name="角丸四角形 6"/>
          <p:cNvSpPr/>
          <p:nvPr/>
        </p:nvSpPr>
        <p:spPr bwMode="auto">
          <a:xfrm>
            <a:off x="1028034" y="4078919"/>
            <a:ext cx="1134141" cy="2083756"/>
          </a:xfrm>
          <a:prstGeom prst="round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ja-JP" altLang="en-US" sz="2000" b="1" dirty="0" smtClean="0">
              <a:solidFill>
                <a:srgbClr val="333333"/>
              </a:solidFill>
              <a:latin typeface="Times New Roman" pitchFamily="18" charset="0"/>
            </a:endParaRPr>
          </a:p>
        </p:txBody>
      </p:sp>
      <p:sp>
        <p:nvSpPr>
          <p:cNvPr id="10" name="正方形/長方形 9"/>
          <p:cNvSpPr/>
          <p:nvPr/>
        </p:nvSpPr>
        <p:spPr bwMode="auto">
          <a:xfrm>
            <a:off x="8345713" y="6342744"/>
            <a:ext cx="488187" cy="345734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 type="oval" w="med" len="med"/>
            <a:tailEnd type="triangle" w="med" len="med"/>
          </a:ln>
          <a:effectLst/>
        </p:spPr>
        <p:txBody>
          <a:bodyPr lIns="0" tIns="0" rIns="0" bIns="0" rtlCol="0" anchor="ctr"/>
          <a:lstStyle/>
          <a:p>
            <a:pPr algn="ctr"/>
            <a:endParaRPr kumimoji="1" lang="ja-JP" altLang="en-US" dirty="0" smtClean="0">
              <a:latin typeface="MS UI Gothic" pitchFamily="50" charset="-128"/>
              <a:ea typeface="MS UI Gothic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879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A205C-8052-429B-A44D-293391B44418}" type="slidenum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ja-JP" dirty="0">
              <a:solidFill>
                <a:srgbClr val="000000"/>
              </a:solidFill>
            </a:endParaRPr>
          </a:p>
        </p:txBody>
      </p:sp>
      <p:sp>
        <p:nvSpPr>
          <p:cNvPr id="20" name="スライド番号プレースホルダー 3"/>
          <p:cNvSpPr txBox="1">
            <a:spLocks/>
          </p:cNvSpPr>
          <p:nvPr/>
        </p:nvSpPr>
        <p:spPr bwMode="auto">
          <a:xfrm>
            <a:off x="7142163" y="6518569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400" b="0" kern="1200" baseline="0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5pPr>
            <a:lvl6pPr marL="2286000" algn="l" defTabSz="914400" rtl="0" eaLnBrk="1" latinLnBrk="0" hangingPunct="1"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6pPr>
            <a:lvl7pPr marL="2743200" algn="l" defTabSz="914400" rtl="0" eaLnBrk="1" latinLnBrk="0" hangingPunct="1"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7pPr>
            <a:lvl8pPr marL="3200400" algn="l" defTabSz="914400" rtl="0" eaLnBrk="1" latinLnBrk="0" hangingPunct="1"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8pPr>
            <a:lvl9pPr marL="3657600" algn="l" defTabSz="914400" rtl="0" eaLnBrk="1" latinLnBrk="0" hangingPunct="1">
              <a:defRPr kumimoji="1" sz="1400" kern="1200">
                <a:solidFill>
                  <a:schemeClr val="tx1"/>
                </a:solidFill>
                <a:latin typeface="Trebuchet MS" pitchFamily="34" charset="0"/>
                <a:ea typeface="Arial Unicode MS" pitchFamily="50" charset="-128"/>
                <a:cs typeface="Arial Unicode MS" pitchFamily="50" charset="-128"/>
              </a:defRPr>
            </a:lvl9pPr>
          </a:lstStyle>
          <a:p>
            <a:pPr>
              <a:defRPr/>
            </a:pPr>
            <a:fld id="{E0EAEC3A-FF1D-4220-8A72-5CB1E452B572}" type="slidenum">
              <a:rPr lang="ja-JP" alt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altLang="ja-JP" dirty="0">
              <a:solidFill>
                <a:srgbClr val="000000"/>
              </a:solidFill>
            </a:endParaRPr>
          </a:p>
        </p:txBody>
      </p:sp>
      <p:sp>
        <p:nvSpPr>
          <p:cNvPr id="7" name="正方形/長方形 6"/>
          <p:cNvSpPr/>
          <p:nvPr/>
        </p:nvSpPr>
        <p:spPr bwMode="auto">
          <a:xfrm>
            <a:off x="179511" y="1430889"/>
            <a:ext cx="4401623" cy="507678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6600" dirty="0">
                <a:solidFill>
                  <a:srgbClr val="FFFFFF">
                    <a:lumMod val="95000"/>
                  </a:srgbClr>
                </a:solidFill>
              </a:rPr>
              <a:t>○</a:t>
            </a:r>
            <a:endParaRPr lang="en-US" altLang="ja-JP" sz="6600" dirty="0">
              <a:solidFill>
                <a:srgbClr val="FFFFFF">
                  <a:lumMod val="95000"/>
                </a:srgbClr>
              </a:solidFill>
            </a:endParaRPr>
          </a:p>
        </p:txBody>
      </p:sp>
      <p:grpSp>
        <p:nvGrpSpPr>
          <p:cNvPr id="8" name="グループ化 7"/>
          <p:cNvGrpSpPr/>
          <p:nvPr/>
        </p:nvGrpSpPr>
        <p:grpSpPr>
          <a:xfrm>
            <a:off x="167636" y="1025196"/>
            <a:ext cx="8778495" cy="5529974"/>
            <a:chOff x="323528" y="1052736"/>
            <a:chExt cx="8544151" cy="6093296"/>
          </a:xfrm>
        </p:grpSpPr>
        <p:sp>
          <p:nvSpPr>
            <p:cNvPr id="9" name="正方形/長方形 8"/>
            <p:cNvSpPr/>
            <p:nvPr/>
          </p:nvSpPr>
          <p:spPr bwMode="auto">
            <a:xfrm>
              <a:off x="4572000" y="1484784"/>
              <a:ext cx="4284121" cy="5661248"/>
            </a:xfrm>
            <a:prstGeom prst="rect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目の前に壁が現れたときに「無理だ！」「面倒くさい！」と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後ろ向き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になり集中できない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自身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の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感情を抑制できず</a:t>
              </a:r>
              <a:r>
                <a:rPr lang="en-US" altLang="ja-JP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,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他人に対して日々のコミュニケーションが変わってしまう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言われたことをそのまま受け入れて、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言われたことのみ粛々とやり続けて改善できない</a:t>
              </a:r>
              <a:endParaRPr lang="en-US" altLang="ja-JP" sz="1400" b="1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アレコレ考えすぎ、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行動に移すことができず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人に依存する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勤怠が不安定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で周囲に影響を与える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求職者</a:t>
              </a:r>
              <a:r>
                <a:rPr lang="en-US" altLang="ja-JP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,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事業所</a:t>
              </a:r>
              <a:r>
                <a:rPr lang="en-US" altLang="ja-JP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,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チーム</a:t>
              </a:r>
              <a:r>
                <a:rPr lang="en-US" altLang="ja-JP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,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上長など</a:t>
              </a:r>
              <a:r>
                <a:rPr lang="ja-JP" altLang="en-US" sz="1400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の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環境に対して言い訳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を行う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自分のネガティブな意見に同調を求める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など、他人のモチベーションや業務の妨害を行う</a:t>
              </a:r>
              <a:endParaRPr lang="en-US" altLang="ja-JP" sz="14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b="1" dirty="0" smtClean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不正受注や業務報告の虚偽などは</a:t>
              </a:r>
              <a:endParaRPr lang="en-US" altLang="ja-JP" sz="1400" b="1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400" b="1" dirty="0" smtClean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一度で「懲戒免職」になります！</a:t>
              </a:r>
              <a:endParaRPr lang="en-US" altLang="ja-JP" sz="1400" b="1" dirty="0" smtClean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0" name="正方形/長方形 9"/>
            <p:cNvSpPr/>
            <p:nvPr/>
          </p:nvSpPr>
          <p:spPr bwMode="auto">
            <a:xfrm>
              <a:off x="335086" y="1052736"/>
              <a:ext cx="4289479" cy="432048"/>
            </a:xfrm>
            <a:prstGeom prst="rect">
              <a:avLst/>
            </a:prstGeom>
            <a:solidFill>
              <a:srgbClr val="0070C0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2000" b="1" dirty="0">
                  <a:solidFill>
                    <a:srgbClr val="FFFFFF"/>
                  </a:solidFill>
                  <a:latin typeface="Trebuchet MS" pitchFamily="34" charset="0"/>
                  <a:ea typeface="MS UI Gothic" pitchFamily="50" charset="-128"/>
                  <a:cs typeface="Arial Unicode MS" pitchFamily="50" charset="-128"/>
                </a:rPr>
                <a:t>賞賛する人</a:t>
              </a:r>
            </a:p>
          </p:txBody>
        </p:sp>
        <p:sp>
          <p:nvSpPr>
            <p:cNvPr id="11" name="正方形/長方形 10"/>
            <p:cNvSpPr/>
            <p:nvPr/>
          </p:nvSpPr>
          <p:spPr bwMode="auto">
            <a:xfrm>
              <a:off x="4583558" y="1052736"/>
              <a:ext cx="4284121" cy="43204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2000" b="1" dirty="0" smtClean="0">
                  <a:solidFill>
                    <a:srgbClr val="FFFFFF"/>
                  </a:solidFill>
                  <a:latin typeface="Trebuchet MS" pitchFamily="34" charset="0"/>
                  <a:ea typeface="MS UI Gothic" pitchFamily="50" charset="-128"/>
                  <a:cs typeface="Arial Unicode MS" pitchFamily="50" charset="-128"/>
                </a:rPr>
                <a:t>賞賛には値しない人</a:t>
              </a:r>
              <a:endParaRPr lang="ja-JP" altLang="en-US" sz="2000" b="1" dirty="0">
                <a:solidFill>
                  <a:srgbClr val="FFFFFF"/>
                </a:solidFill>
                <a:latin typeface="Trebuchet MS" pitchFamily="34" charset="0"/>
                <a:ea typeface="MS UI Gothic" pitchFamily="50" charset="-128"/>
                <a:cs typeface="Arial Unicode MS" pitchFamily="50" charset="-128"/>
              </a:endParaRPr>
            </a:p>
          </p:txBody>
        </p:sp>
        <p:sp>
          <p:nvSpPr>
            <p:cNvPr id="12" name="正方形/長方形 11"/>
            <p:cNvSpPr/>
            <p:nvPr/>
          </p:nvSpPr>
          <p:spPr bwMode="auto">
            <a:xfrm>
              <a:off x="323528" y="1484784"/>
              <a:ext cx="4248472" cy="5661248"/>
            </a:xfrm>
            <a:prstGeom prst="rect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偏見や思い込みを捨てて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柔軟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に受け入れることができる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困難な状況でも失敗を恐れず一歩踏み出して新たな取組みに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チャレンジ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する</a:t>
              </a:r>
              <a:r>
                <a:rPr lang="ja-JP" altLang="en-US" sz="1400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、</a:t>
              </a:r>
              <a:endParaRPr lang="en-US" altLang="ja-JP" sz="14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新しい事や変化に対して前向きに捉え新たな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知識向上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を行えている。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自己管理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の徹底を行っている。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目標を前向きに捉え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目標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に向かって邁進していく。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組織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の一員として</a:t>
              </a:r>
              <a:r>
                <a:rPr lang="ja-JP" altLang="en-US" sz="1400" b="1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ルール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を守った上で努力できる。</a:t>
              </a:r>
              <a:endParaRPr lang="en-US" altLang="ja-JP" sz="1400" dirty="0" smtClean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  <a:p>
              <a:pPr marL="342900" indent="-342900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チームや組織に</a:t>
              </a:r>
              <a:r>
                <a:rPr lang="ja-JP" altLang="en-US" sz="1400" b="1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貢献</a:t>
              </a:r>
              <a:r>
                <a:rPr lang="ja-JP" altLang="en-US" sz="1400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することに喜びを感じ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、パフォーマンス</a:t>
              </a:r>
              <a:r>
                <a:rPr lang="ja-JP" altLang="en-US" sz="1400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を</a:t>
              </a:r>
              <a:r>
                <a:rPr lang="ja-JP" altLang="en-US" sz="1400" dirty="0" smtClean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高められる。</a:t>
              </a:r>
            </a:p>
          </p:txBody>
        </p:sp>
      </p:grpSp>
      <p:sp>
        <p:nvSpPr>
          <p:cNvPr id="13" name="正方形/長方形 12"/>
          <p:cNvSpPr/>
          <p:nvPr/>
        </p:nvSpPr>
        <p:spPr>
          <a:xfrm>
            <a:off x="4532633" y="797276"/>
            <a:ext cx="4413498" cy="227919"/>
          </a:xfrm>
          <a:prstGeom prst="rect">
            <a:avLst/>
          </a:prstGeom>
          <a:gradFill flip="none" rotWithShape="1">
            <a:gsLst>
              <a:gs pos="0">
                <a:srgbClr val="0000FF">
                  <a:tint val="66000"/>
                  <a:satMod val="160000"/>
                </a:srgbClr>
              </a:gs>
              <a:gs pos="50000">
                <a:srgbClr val="0000FF">
                  <a:tint val="44500"/>
                  <a:satMod val="160000"/>
                </a:srgbClr>
              </a:gs>
              <a:gs pos="100000">
                <a:srgbClr val="0000FF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b="1" dirty="0">
                <a:solidFill>
                  <a:srgbClr val="FFFFFF"/>
                </a:solidFill>
              </a:rPr>
              <a:t>Bad</a:t>
            </a:r>
            <a:endParaRPr lang="ja-JP" altLang="en-US" sz="1600" b="1" dirty="0">
              <a:solidFill>
                <a:srgbClr val="FFFFFF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167635" y="797420"/>
            <a:ext cx="4376873" cy="227775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1600" b="1" dirty="0">
                <a:solidFill>
                  <a:srgbClr val="FFFFFF"/>
                </a:solidFill>
              </a:rPr>
              <a:t>Good</a:t>
            </a:r>
            <a:endParaRPr lang="ja-JP" altLang="en-US" sz="1600" b="1" dirty="0">
              <a:solidFill>
                <a:srgbClr val="FFFFFF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4598514" y="1430888"/>
            <a:ext cx="4364997" cy="507678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ja-JP" sz="8000" dirty="0">
              <a:solidFill>
                <a:srgbClr val="FFFFFF">
                  <a:lumMod val="95000"/>
                </a:srgbClr>
              </a:solidFill>
            </a:endParaRPr>
          </a:p>
        </p:txBody>
      </p:sp>
      <p:pic>
        <p:nvPicPr>
          <p:cNvPr id="18" name="Picture 2" descr="C:\Users\shohei-kaneko\AppData\Local\Microsoft\Windows\Temporary Internet Files\Content.IE5\WSSCD1MP\MC90042382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055" y="5190228"/>
            <a:ext cx="1434697" cy="129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C:\Users\shohei-kaneko\AppData\Local\Microsoft\Windows\Temporary Internet Files\Content.IE5\J8RL10ES\MC900425820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046" y="5145561"/>
            <a:ext cx="1349584" cy="137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タイトル 1"/>
          <p:cNvSpPr txBox="1">
            <a:spLocks/>
          </p:cNvSpPr>
          <p:nvPr/>
        </p:nvSpPr>
        <p:spPr bwMode="auto">
          <a:xfrm>
            <a:off x="87580" y="53109"/>
            <a:ext cx="77724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585" b="1">
                <a:solidFill>
                  <a:schemeClr val="tx1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15" b="1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15" b="1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15" b="1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215" b="1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5pPr>
            <a:lvl6pPr marL="422041" algn="l" rtl="0" fontAlgn="base">
              <a:spcBef>
                <a:spcPct val="0"/>
              </a:spcBef>
              <a:spcAft>
                <a:spcPct val="0"/>
              </a:spcAft>
              <a:defRPr kumimoji="1" sz="2585">
                <a:solidFill>
                  <a:schemeClr val="tx2"/>
                </a:solidFill>
                <a:latin typeface="Trebuchet MS" pitchFamily="34" charset="0"/>
                <a:ea typeface="MS UI Gothic" pitchFamily="50" charset="-128"/>
              </a:defRPr>
            </a:lvl6pPr>
            <a:lvl7pPr marL="844083" algn="l" rtl="0" fontAlgn="base">
              <a:spcBef>
                <a:spcPct val="0"/>
              </a:spcBef>
              <a:spcAft>
                <a:spcPct val="0"/>
              </a:spcAft>
              <a:defRPr kumimoji="1" sz="2585">
                <a:solidFill>
                  <a:schemeClr val="tx2"/>
                </a:solidFill>
                <a:latin typeface="Trebuchet MS" pitchFamily="34" charset="0"/>
                <a:ea typeface="MS UI Gothic" pitchFamily="50" charset="-128"/>
              </a:defRPr>
            </a:lvl7pPr>
            <a:lvl8pPr marL="1266124" algn="l" rtl="0" fontAlgn="base">
              <a:spcBef>
                <a:spcPct val="0"/>
              </a:spcBef>
              <a:spcAft>
                <a:spcPct val="0"/>
              </a:spcAft>
              <a:defRPr kumimoji="1" sz="2585">
                <a:solidFill>
                  <a:schemeClr val="tx2"/>
                </a:solidFill>
                <a:latin typeface="Trebuchet MS" pitchFamily="34" charset="0"/>
                <a:ea typeface="MS UI Gothic" pitchFamily="50" charset="-128"/>
              </a:defRPr>
            </a:lvl8pPr>
            <a:lvl9pPr marL="1688165" algn="l" rtl="0" fontAlgn="base">
              <a:spcBef>
                <a:spcPct val="0"/>
              </a:spcBef>
              <a:spcAft>
                <a:spcPct val="0"/>
              </a:spcAft>
              <a:defRPr kumimoji="1" sz="2585">
                <a:solidFill>
                  <a:schemeClr val="tx2"/>
                </a:solidFill>
                <a:latin typeface="Trebuchet MS" pitchFamily="34" charset="0"/>
                <a:ea typeface="MS UI Gothic" pitchFamily="50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585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マッチングを行う上で重要なマインド</a:t>
            </a:r>
            <a:endParaRPr kumimoji="1" lang="ja-JP" altLang="en-US" sz="2585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412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参考：</a:t>
            </a:r>
            <a:r>
              <a:rPr kumimoji="1" lang="en-US" altLang="ja-JP" dirty="0" smtClean="0"/>
              <a:t>SMSC</a:t>
            </a:r>
            <a:r>
              <a:rPr kumimoji="1" lang="ja-JP" altLang="en-US" dirty="0" smtClean="0"/>
              <a:t>のクレド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kumimoji="1" lang="en-US" altLang="ja-JP" dirty="0" smtClean="0"/>
              <a:t>【</a:t>
            </a:r>
            <a:r>
              <a:rPr kumimoji="1" lang="ja-JP" altLang="en-US" dirty="0" smtClean="0"/>
              <a:t>倫理憲章</a:t>
            </a:r>
            <a:r>
              <a:rPr kumimoji="1" lang="en-US" altLang="ja-JP" dirty="0" smtClean="0"/>
              <a:t>】</a:t>
            </a:r>
          </a:p>
          <a:p>
            <a:pPr algn="ctr"/>
            <a:r>
              <a:rPr kumimoji="1" lang="ja-JP" altLang="en-US" sz="2800" dirty="0" smtClean="0"/>
              <a:t>　</a:t>
            </a:r>
            <a:r>
              <a:rPr lang="ja-JP" altLang="en-US" sz="2800" b="1" dirty="0" smtClean="0"/>
              <a:t>正しいことを正しく行う</a:t>
            </a:r>
            <a:endParaRPr kumimoji="1" lang="en-US" altLang="ja-JP" sz="2800" b="1" dirty="0" smtClean="0"/>
          </a:p>
          <a:p>
            <a:pPr algn="ctr"/>
            <a:endParaRPr lang="en-US" altLang="ja-JP" dirty="0" smtClean="0"/>
          </a:p>
          <a:p>
            <a:pPr algn="ctr"/>
            <a:r>
              <a:rPr lang="en-US" altLang="ja-JP" dirty="0" smtClean="0"/>
              <a:t>【</a:t>
            </a:r>
            <a:r>
              <a:rPr lang="ja-JP" altLang="en-US" dirty="0" smtClean="0"/>
              <a:t>行動規範</a:t>
            </a:r>
            <a:r>
              <a:rPr lang="en-US" altLang="ja-JP" dirty="0" smtClean="0"/>
              <a:t>】</a:t>
            </a:r>
            <a:endParaRPr lang="en-US" altLang="ja-JP" dirty="0"/>
          </a:p>
          <a:p>
            <a:pPr algn="ctr"/>
            <a:r>
              <a:rPr kumimoji="1" lang="ja-JP" altLang="en-US" b="1" dirty="0" smtClean="0"/>
              <a:t>１．組織への共感・理解</a:t>
            </a:r>
            <a:endParaRPr kumimoji="1" lang="en-US" altLang="ja-JP" b="1" dirty="0" smtClean="0"/>
          </a:p>
          <a:p>
            <a:pPr algn="ctr"/>
            <a:endParaRPr kumimoji="1" lang="en-US" altLang="ja-JP" b="1" dirty="0" smtClean="0"/>
          </a:p>
          <a:p>
            <a:pPr algn="ctr"/>
            <a:r>
              <a:rPr lang="ja-JP" altLang="en-US" b="1" dirty="0" smtClean="0"/>
              <a:t>２．適性対価を伴った顧客価値の追求</a:t>
            </a:r>
            <a:endParaRPr lang="en-US" altLang="ja-JP" b="1" dirty="0" smtClean="0"/>
          </a:p>
          <a:p>
            <a:pPr algn="ctr"/>
            <a:endParaRPr lang="en-US" altLang="ja-JP" b="1" dirty="0" smtClean="0"/>
          </a:p>
          <a:p>
            <a:pPr algn="ctr"/>
            <a:r>
              <a:rPr kumimoji="1" lang="ja-JP" altLang="en-US" b="1" dirty="0" smtClean="0"/>
              <a:t>３．自らに向き合うことによる健全成長</a:t>
            </a:r>
            <a:endParaRPr kumimoji="1" lang="en-US" altLang="ja-JP" b="1" dirty="0" smtClean="0"/>
          </a:p>
          <a:p>
            <a:pPr algn="ctr"/>
            <a:endParaRPr kumimoji="1" lang="en-US" altLang="ja-JP" b="1" dirty="0" smtClean="0"/>
          </a:p>
          <a:p>
            <a:pPr algn="ctr"/>
            <a:r>
              <a:rPr lang="ja-JP" altLang="en-US" b="1" dirty="0" smtClean="0"/>
              <a:t>４．組織・仲間に向き合うことによる前進</a:t>
            </a:r>
            <a:endParaRPr lang="en-US" altLang="ja-JP" b="1" dirty="0" smtClean="0"/>
          </a:p>
          <a:p>
            <a:pPr algn="ctr"/>
            <a:endParaRPr lang="en-US" altLang="ja-JP" b="1" dirty="0" smtClean="0"/>
          </a:p>
          <a:p>
            <a:pPr algn="ctr"/>
            <a:r>
              <a:rPr kumimoji="1" lang="ja-JP" altLang="en-US" b="1" dirty="0" smtClean="0"/>
              <a:t>５．プロフェッショナルとしての自覚と責任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1AE98B-5BD0-4A5F-9EAF-A1BE28FFAF53}" type="slidenum">
              <a:rPr lang="ja-JP" altLang="en-US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142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>
          <a:xfrm>
            <a:off x="8430359" y="6304235"/>
            <a:ext cx="700454" cy="365125"/>
          </a:xfrm>
        </p:spPr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pPr>
                <a:defRPr/>
              </a:pPr>
              <a:t>21</a:t>
            </a:fld>
            <a:endParaRPr lang="ja-JP" altLang="en-US" dirty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71519" y="1267619"/>
            <a:ext cx="8501123" cy="4171339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pPr fontAlgn="base">
              <a:lnSpc>
                <a:spcPts val="3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2800" b="1" dirty="0" smtClean="0"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終わり</a:t>
            </a:r>
            <a:endParaRPr lang="en-US" altLang="ja-JP" sz="2800" b="1" dirty="0" smtClean="0">
              <a:solidFill>
                <a:srgbClr val="333333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890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標準デザイン標準">
  <a:themeElements>
    <a:clrScheme name="1_標準デザイン標準 8">
      <a:dk1>
        <a:srgbClr val="333333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FF9933"/>
      </a:accent2>
      <a:accent3>
        <a:srgbClr val="FFFFFF"/>
      </a:accent3>
      <a:accent4>
        <a:srgbClr val="2A2A2A"/>
      </a:accent4>
      <a:accent5>
        <a:srgbClr val="FFE2B8"/>
      </a:accent5>
      <a:accent6>
        <a:srgbClr val="E78A2D"/>
      </a:accent6>
      <a:hlink>
        <a:srgbClr val="FF6600"/>
      </a:hlink>
      <a:folHlink>
        <a:srgbClr val="FF3300"/>
      </a:folHlink>
    </a:clrScheme>
    <a:fontScheme name="1_標準デザイン標準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 err="1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 marL="185738" indent="-185738">
          <a:buFont typeface="Arial" panose="020B0604020202020204" pitchFamily="34" charset="0"/>
          <a:buChar char="•"/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>
    <a:extraClrScheme>
      <a:clrScheme name="1_標準デザイン標準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標準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8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FF9933"/>
        </a:accent2>
        <a:accent3>
          <a:srgbClr val="FFFFFF"/>
        </a:accent3>
        <a:accent4>
          <a:srgbClr val="2A2A2A"/>
        </a:accent4>
        <a:accent5>
          <a:srgbClr val="FFE2B8"/>
        </a:accent5>
        <a:accent6>
          <a:srgbClr val="E78A2D"/>
        </a:accent6>
        <a:hlink>
          <a:srgbClr val="FF66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lank.potx" id="{B2BE7FE5-621F-4E71-96E0-51AA2C26828D}" vid="{03A46EE1-152B-4F5F-971D-DA866F90BAB9}"/>
    </a:ext>
  </a:extLst>
</a:theme>
</file>

<file path=ppt/theme/theme2.xml><?xml version="1.0" encoding="utf-8"?>
<a:theme xmlns:a="http://schemas.openxmlformats.org/drawingml/2006/main" name="2_標準デザイン標準">
  <a:themeElements>
    <a:clrScheme name="1_標準デザイン標準 8">
      <a:dk1>
        <a:srgbClr val="333333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FF9933"/>
      </a:accent2>
      <a:accent3>
        <a:srgbClr val="FFFFFF"/>
      </a:accent3>
      <a:accent4>
        <a:srgbClr val="2A2A2A"/>
      </a:accent4>
      <a:accent5>
        <a:srgbClr val="FFE2B8"/>
      </a:accent5>
      <a:accent6>
        <a:srgbClr val="E78A2D"/>
      </a:accent6>
      <a:hlink>
        <a:srgbClr val="FF6600"/>
      </a:hlink>
      <a:folHlink>
        <a:srgbClr val="FF3300"/>
      </a:folHlink>
    </a:clrScheme>
    <a:fontScheme name="1_標準デザイン標準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 err="1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 marL="185738" indent="-185738">
          <a:buFont typeface="Arial" panose="020B0604020202020204" pitchFamily="34" charset="0"/>
          <a:buChar char="•"/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>
    <a:extraClrScheme>
      <a:clrScheme name="1_標準デザイン標準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標準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8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FF9933"/>
        </a:accent2>
        <a:accent3>
          <a:srgbClr val="FFFFFF"/>
        </a:accent3>
        <a:accent4>
          <a:srgbClr val="2A2A2A"/>
        </a:accent4>
        <a:accent5>
          <a:srgbClr val="FFE2B8"/>
        </a:accent5>
        <a:accent6>
          <a:srgbClr val="E78A2D"/>
        </a:accent6>
        <a:hlink>
          <a:srgbClr val="FF66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lank.potx" id="{B2BE7FE5-621F-4E71-96E0-51AA2C26828D}" vid="{03A46EE1-152B-4F5F-971D-DA866F90BAB9}"/>
    </a:ext>
  </a:extLst>
</a:theme>
</file>

<file path=ppt/theme/theme3.xml><?xml version="1.0" encoding="utf-8"?>
<a:theme xmlns:a="http://schemas.openxmlformats.org/drawingml/2006/main" name="3_標準デザイン標準">
  <a:themeElements>
    <a:clrScheme name="1_標準デザイン標準 8">
      <a:dk1>
        <a:srgbClr val="333333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FF9933"/>
      </a:accent2>
      <a:accent3>
        <a:srgbClr val="FFFFFF"/>
      </a:accent3>
      <a:accent4>
        <a:srgbClr val="2A2A2A"/>
      </a:accent4>
      <a:accent5>
        <a:srgbClr val="FFE2B8"/>
      </a:accent5>
      <a:accent6>
        <a:srgbClr val="E78A2D"/>
      </a:accent6>
      <a:hlink>
        <a:srgbClr val="FF6600"/>
      </a:hlink>
      <a:folHlink>
        <a:srgbClr val="FF3300"/>
      </a:folHlink>
    </a:clrScheme>
    <a:fontScheme name="1_標準デザイン標準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 err="1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 marL="185738" indent="-185738">
          <a:buFont typeface="Arial" panose="020B0604020202020204" pitchFamily="34" charset="0"/>
          <a:buChar char="•"/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>
    <a:extraClrScheme>
      <a:clrScheme name="1_標準デザイン標準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標準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8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FF9933"/>
        </a:accent2>
        <a:accent3>
          <a:srgbClr val="FFFFFF"/>
        </a:accent3>
        <a:accent4>
          <a:srgbClr val="2A2A2A"/>
        </a:accent4>
        <a:accent5>
          <a:srgbClr val="FFE2B8"/>
        </a:accent5>
        <a:accent6>
          <a:srgbClr val="E78A2D"/>
        </a:accent6>
        <a:hlink>
          <a:srgbClr val="FF66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lank.potx" id="{B2BE7FE5-621F-4E71-96E0-51AA2C26828D}" vid="{03A46EE1-152B-4F5F-971D-DA866F90BAB9}"/>
    </a:ext>
  </a:extLst>
</a:theme>
</file>

<file path=ppt/theme/theme4.xml><?xml version="1.0" encoding="utf-8"?>
<a:theme xmlns:a="http://schemas.openxmlformats.org/drawingml/2006/main" name="5_標準デザイン">
  <a:themeElements>
    <a:clrScheme name="1_標準デザイン 8">
      <a:dk1>
        <a:srgbClr val="333333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FF9933"/>
      </a:accent2>
      <a:accent3>
        <a:srgbClr val="FFFFFF"/>
      </a:accent3>
      <a:accent4>
        <a:srgbClr val="2A2A2A"/>
      </a:accent4>
      <a:accent5>
        <a:srgbClr val="FFE2B8"/>
      </a:accent5>
      <a:accent6>
        <a:srgbClr val="E78A2D"/>
      </a:accent6>
      <a:hlink>
        <a:srgbClr val="FF6600"/>
      </a:hlink>
      <a:folHlink>
        <a:srgbClr val="FF3300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UI Gothic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UI Gothic" pitchFamily="50" charset="-128"/>
          </a:defRPr>
        </a:defPPr>
      </a:lstStyle>
    </a:ln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FF9933"/>
        </a:accent2>
        <a:accent3>
          <a:srgbClr val="FFFFFF"/>
        </a:accent3>
        <a:accent4>
          <a:srgbClr val="2A2A2A"/>
        </a:accent4>
        <a:accent5>
          <a:srgbClr val="FFE2B8"/>
        </a:accent5>
        <a:accent6>
          <a:srgbClr val="E78A2D"/>
        </a:accent6>
        <a:hlink>
          <a:srgbClr val="FF66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標準デザイン">
  <a:themeElements>
    <a:clrScheme name="1_標準デザイン 8">
      <a:dk1>
        <a:srgbClr val="333333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FF9933"/>
      </a:accent2>
      <a:accent3>
        <a:srgbClr val="FFFFFF"/>
      </a:accent3>
      <a:accent4>
        <a:srgbClr val="2A2A2A"/>
      </a:accent4>
      <a:accent5>
        <a:srgbClr val="FFE2B8"/>
      </a:accent5>
      <a:accent6>
        <a:srgbClr val="E78A2D"/>
      </a:accent6>
      <a:hlink>
        <a:srgbClr val="FF6600"/>
      </a:hlink>
      <a:folHlink>
        <a:srgbClr val="FF3300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UI Gothic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UI Gothic" pitchFamily="50" charset="-128"/>
          </a:defRPr>
        </a:defPPr>
      </a:lstStyle>
    </a:ln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FF9933"/>
        </a:accent2>
        <a:accent3>
          <a:srgbClr val="FFFFFF"/>
        </a:accent3>
        <a:accent4>
          <a:srgbClr val="2A2A2A"/>
        </a:accent4>
        <a:accent5>
          <a:srgbClr val="FFE2B8"/>
        </a:accent5>
        <a:accent6>
          <a:srgbClr val="E78A2D"/>
        </a:accent6>
        <a:hlink>
          <a:srgbClr val="FF66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標準デザイン">
  <a:themeElements>
    <a:clrScheme name="1_標準デザイン 8">
      <a:dk1>
        <a:srgbClr val="333333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FF9933"/>
      </a:accent2>
      <a:accent3>
        <a:srgbClr val="FFFFFF"/>
      </a:accent3>
      <a:accent4>
        <a:srgbClr val="2A2A2A"/>
      </a:accent4>
      <a:accent5>
        <a:srgbClr val="FFE2B8"/>
      </a:accent5>
      <a:accent6>
        <a:srgbClr val="E78A2D"/>
      </a:accent6>
      <a:hlink>
        <a:srgbClr val="FF6600"/>
      </a:hlink>
      <a:folHlink>
        <a:srgbClr val="FF3300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UI Gothic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MS UI Gothic" pitchFamily="50" charset="-128"/>
          </a:defRPr>
        </a:defPPr>
      </a:lstStyle>
    </a:ln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FF9933"/>
        </a:accent2>
        <a:accent3>
          <a:srgbClr val="FFFFFF"/>
        </a:accent3>
        <a:accent4>
          <a:srgbClr val="2A2A2A"/>
        </a:accent4>
        <a:accent5>
          <a:srgbClr val="FFE2B8"/>
        </a:accent5>
        <a:accent6>
          <a:srgbClr val="E78A2D"/>
        </a:accent6>
        <a:hlink>
          <a:srgbClr val="FF66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080409_新テンプレー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MS UI Gothic"/>
        <a:ea typeface="MS UI Gothic"/>
        <a:cs typeface=""/>
      </a:majorFont>
      <a:minorFont>
        <a:latin typeface="Meiryo UI"/>
        <a:ea typeface="MS UI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9525">
          <a:solidFill>
            <a:schemeClr val="bg1">
              <a:lumMod val="85000"/>
            </a:schemeClr>
          </a:solidFill>
          <a:round/>
          <a:headEnd type="oval" w="med" len="med"/>
          <a:tailEnd type="triangle" w="med" len="med"/>
        </a:ln>
        <a:effectLst/>
      </a:spPr>
      <a:bodyPr lIns="0" tIns="0" rIns="0" bIns="0" rtlCol="0" anchor="ctr"/>
      <a:lstStyle>
        <a:defPPr algn="ctr">
          <a:defRPr kumimoji="1" dirty="0" smtClean="0">
            <a:latin typeface="MS UI Gothic" pitchFamily="50" charset="-128"/>
            <a:ea typeface="MS UI Gothic" pitchFamily="50" charset="-128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>
        <a:noFill/>
      </a:spPr>
      <a:bodyPr wrap="none" lIns="0" tIns="0" rIns="0" bIns="0" rtlCol="0">
        <a:spAutoFit/>
      </a:bodyPr>
      <a:lstStyle>
        <a:defPPr algn="ctr">
          <a:defRPr kumimoji="0" sz="1800" b="1" kern="0" dirty="0">
            <a:solidFill>
              <a:srgbClr val="333333"/>
            </a:solidFill>
            <a:latin typeface="+mj-ea"/>
            <a:ea typeface="+mj-ea"/>
          </a:defRPr>
        </a:defPPr>
      </a:lstStyle>
    </a:txDef>
  </a:objectDefaults>
  <a:extraClrSchemeLst>
    <a:extraClrScheme>
      <a:clrScheme name="080409_新テンプレー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80409_新テンプレー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080409_新テンプレート">
  <a:themeElements>
    <a:clrScheme name="080409_新テンプレー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F6D">
            <a:alpha val="58824"/>
          </a:srgbClr>
        </a:solidFill>
      </a:spPr>
      <a:bodyPr/>
      <a:lstStyle/>
      <a:style>
        <a:lnRef idx="0">
          <a:schemeClr val="accent1">
            <a:hueOff val="0"/>
            <a:satOff val="0"/>
            <a:lumOff val="0"/>
            <a:alphaOff val="0"/>
          </a:schemeClr>
        </a:lnRef>
        <a:fillRef idx="1">
          <a:scrgbClr r="0" g="0" b="0"/>
        </a:fillRef>
        <a:effectRef idx="0">
          <a:schemeClr val="accent1">
            <a:tint val="4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pattFill prst="dkDnDiag">
          <a:fgClr>
            <a:srgbClr val="99CCFF"/>
          </a:fgClr>
          <a:bgClr>
            <a:schemeClr val="bg1"/>
          </a:bgClr>
        </a:patt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sz="800" b="1" i="0" u="none" strike="noStrike" cap="none" normalizeH="0" baseline="-25000" smtClean="0">
            <a:ln>
              <a:noFill/>
            </a:ln>
            <a:solidFill>
              <a:srgbClr val="595959"/>
            </a:solidFill>
            <a:effectLst/>
            <a:latin typeface="Trebuchet MS" pitchFamily="34" charset="0"/>
            <a:ea typeface="MS UI Gothic" pitchFamily="50" charset="-128"/>
            <a:cs typeface="Arial Unicode MS" pitchFamily="50" charset="-128"/>
          </a:defRPr>
        </a:defPPr>
      </a:lstStyle>
    </a:lnDef>
    <a:txDef>
      <a:spPr>
        <a:noFill/>
        <a:ln>
          <a:noFill/>
        </a:ln>
      </a:spPr>
      <a:bodyPr wrap="square" lIns="0" tIns="0" rIns="0" bIns="0" rtlCol="0">
        <a:spAutoFit/>
      </a:bodyPr>
      <a:lstStyle>
        <a:defPPr marL="84138" indent="-84138">
          <a:buFont typeface="Arial" panose="020B0604020202020204" pitchFamily="34" charset="0"/>
          <a:buChar char="•"/>
          <a:defRPr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>
    <a:extraClrScheme>
      <a:clrScheme name="080409_新テンプレー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80409_新テンプレー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80409_新テンプレー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533</TotalTime>
  <Words>2187</Words>
  <Application>Microsoft Office PowerPoint</Application>
  <PresentationFormat>画面に合わせる (4:3)</PresentationFormat>
  <Paragraphs>361</Paragraphs>
  <Slides>21</Slides>
  <Notes>17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8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42" baseType="lpstr">
      <vt:lpstr>Arial Unicode MS</vt:lpstr>
      <vt:lpstr>HGPｺﾞｼｯｸE</vt:lpstr>
      <vt:lpstr>Meiryo UI</vt:lpstr>
      <vt:lpstr>ＭＳ Ｐゴシック</vt:lpstr>
      <vt:lpstr>MS UI Gothic</vt:lpstr>
      <vt:lpstr>ＭＳ ゴシック</vt:lpstr>
      <vt:lpstr>Arial</vt:lpstr>
      <vt:lpstr>Calibri</vt:lpstr>
      <vt:lpstr>Times New Roman</vt:lpstr>
      <vt:lpstr>Trebuchet MS</vt:lpstr>
      <vt:lpstr>Verdana</vt:lpstr>
      <vt:lpstr>Wingdings</vt:lpstr>
      <vt:lpstr>1_標準デザイン標準</vt:lpstr>
      <vt:lpstr>2_標準デザイン標準</vt:lpstr>
      <vt:lpstr>3_標準デザイン標準</vt:lpstr>
      <vt:lpstr>5_標準デザイン</vt:lpstr>
      <vt:lpstr>4_標準デザイン</vt:lpstr>
      <vt:lpstr>6_標準デザイン</vt:lpstr>
      <vt:lpstr>080409_新テンプレート</vt:lpstr>
      <vt:lpstr>1_080409_新テンプレート</vt:lpstr>
      <vt:lpstr>Microsoft Excel Chart</vt:lpstr>
      <vt:lpstr>介護人材紹介導入研修 ～キャリアパートナーの心得編～</vt:lpstr>
      <vt:lpstr>PowerPoint プレゼンテーション</vt:lpstr>
      <vt:lpstr>PowerPoint プレゼンテーション</vt:lpstr>
      <vt:lpstr>PowerPoint プレゼンテーション</vt:lpstr>
      <vt:lpstr>事業者のニーズ/課題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キャリアパートナーの役割</vt:lpstr>
      <vt:lpstr>キャリアパートナーの役割</vt:lpstr>
      <vt:lpstr>陥りがちなパターン</vt:lpstr>
      <vt:lpstr>参考：介護職の離職理由</vt:lpstr>
      <vt:lpstr>PowerPoint プレゼンテーション</vt:lpstr>
      <vt:lpstr>参考：SMSCのクレド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FY16 介護SU総会 従事者領域</dc:title>
  <dc:creator>相島さやか</dc:creator>
  <cp:lastModifiedBy>相島さやか</cp:lastModifiedBy>
  <cp:revision>33</cp:revision>
  <dcterms:created xsi:type="dcterms:W3CDTF">2016-11-24T04:46:03Z</dcterms:created>
  <dcterms:modified xsi:type="dcterms:W3CDTF">2016-11-30T03:21:54Z</dcterms:modified>
</cp:coreProperties>
</file>